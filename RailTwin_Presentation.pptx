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A4A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2563E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2743200"/>
            <a:ext cx="3200400" cy="3200400"/>
          </a:xfrm>
          <a:prstGeom prst="ellipse">
            <a:avLst/>
          </a:prstGeom>
          <a:solidFill>
            <a:srgbClr val="06B6D4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144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RailTwin AI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Digital Twin for Indian Railways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Railways Safer, Smarter &amp; More Efficient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github.com/himanshu003388/RailTwin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rail-twin.vercel.app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3931920"/>
            <a:ext cx="2743200" cy="365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931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AWAY 2026 · Railways Theme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0972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Railways — 68,000+ km network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Carrying 23M+ passengers daily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~13,000 passenger trains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Challenges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Monsoon disruptions cause cascading delays across the network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real-time decision support for control centre operators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view combining weather, delays, and risk analytics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prediction relies on intuition, not ML on historical data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analysis is manual — no rapid simulation capability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3931920" cy="347472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097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737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23M+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00800" y="1783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passengers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2377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68K km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00800" y="2423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length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3017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₹2L Cr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00800" y="3063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economic impact of delays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3657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00800" y="3703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affected by weather annually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3840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10-minute delay at one station can ripple into hours across the network"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RailTwin AI · FAR AWAY 2026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RailTwin AI is a predictive digital twin that gives Indian Railways operators a unified command-centre view of network health, live train positions, weather conditions, and AI-powered disruption analysis.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737360"/>
            <a:ext cx="45720" cy="1371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Train Tracking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trains across 36 stations, positions computed from real schedule data (not simulated)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91840" y="173736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737360"/>
            <a:ext cx="45720" cy="1371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Copilot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0" y="21945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Gemini-powered chat assistant answers operator queries about routes, delays, and weather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0" y="173736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737360"/>
            <a:ext cx="45720" cy="1371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Weather Intelligence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9360" y="21945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Per-station live weather from OpenWeather/Open-Meteo with 10-min caching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291840"/>
            <a:ext cx="45720" cy="13716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429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Delay Prediction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37490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(Ridge Regression, R²=0.73) delay forecast + weighted fallback model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91840" y="329184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91840" y="3291840"/>
            <a:ext cx="45720" cy="13716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4" name="Text 22"/>
          <p:cNvSpPr/>
          <p:nvPr/>
        </p:nvSpPr>
        <p:spPr>
          <a:xfrm>
            <a:off x="3474720" y="3429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Cascade Simulation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74720" y="37490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scenarios — rainfall, signal failure, track damage — with network-wide impact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26480" y="329184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3291840"/>
            <a:ext cx="45720" cy="13716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3429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Health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09360" y="37490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efficiency, on-time performance, and platform utilization gauges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RailTwin AI · FAR AWAY 2026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 — What Is Actually Built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2296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822960"/>
            <a:ext cx="45720" cy="1188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Live Map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1887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MapLibre GL with 7 train markers, route lines, station risk overlays, weather HUD. Trains animate every 5s via SSE stream.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82296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22960"/>
            <a:ext cx="45720" cy="1188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Delay Prediction Engine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11887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Two-tier: Ridge Regression ML (R²=0.73, 448 samples) + weighted scoring fallback. Factors in weather, congestion, route distance, historical patterns.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19456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194560"/>
            <a:ext cx="45720" cy="1188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Cascade Disruption Simulator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25603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ripple effects from rainfall, fog, signal failure, track damage. Computes affected trains, passengers, and station-level conflicts.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219456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194560"/>
            <a:ext cx="45720" cy="1188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Copilot (Gemini)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25603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2.0 Flash with auto-fallback to Gemini 2.5 Flash. Multi-turn chat, recommendations, network-aware context. Caches responses for 5 min.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56616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566160"/>
            <a:ext cx="45720" cy="1188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Weather Layer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39319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OpenWeather API + Open-Meteo fallback + intelligent seasonal fallback. 36 stations, 10-min in-memory cache, weather alerts with auto-dismiss.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356616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566160"/>
            <a:ext cx="45720" cy="1188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What-If Lab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37760" y="39319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scenario builder: select station + disruption type, view projected cascade delay, conflicts, and passenger impact instantly.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RailTwin AI · FAR AWAY 2026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Sources — Grounded in Reality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822960"/>
            <a:ext cx="45720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8961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Kaggle Indian Railways Dataset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1704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major junction stations with lat/lng coordinates, 7 real train routes (Rajdhani, Shatabdi, Mail/Express), zone information, track geometries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0" y="1051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Imported &amp; used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874520"/>
            <a:ext cx="45720" cy="9144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9476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Historical Delay Records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222199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576 delay records across 7 trains, covering 12 months, 7 weather conditions. Used for ML training and weighted scoring baseline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0" y="2103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576 records loaded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926080"/>
            <a:ext cx="45720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9992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NTES / IRCTC (National Train Enquiry System)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" y="327355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schedule verification and delay-propagation validation. Designed for live integration — API key can be added in Settings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58000" y="3154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API-ready (RapidAPI)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97764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977640"/>
            <a:ext cx="45720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0507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OpenWeatherMap + Open-Meteo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432511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Per-station weather via lat/lon. OpenWeather primary, Open-Meteo fallback, intelligent seasonal fallback (monsoon/summer/winter/coastal)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58000" y="4206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API key configured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RailTwin AI · FAR AWAY 2026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Stack &amp; Technology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&amp; Intelligence Layer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28016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2.0 Flash (primary) — server-side API route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(auto-fallback on quota/error)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with exponential backoff, 5-min response cache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includes live network context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 delay model (R²=0.73, 448 samples)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model: weather one-hot + month + train type + route length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scoring fallback (historical 40% + weather 25% + congestion 20% + route 15%)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10-min weather cache with OpenWeather + Open-Meteo + seasonal fallback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0" y="8229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Website &amp; Infrastructure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28016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 Astro v6 + React 19 (SSR on Vercel)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Maps: MapLibre GL v4 (CDN) with GeoJSON layers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Styling: Tailwind CSS v4 with CSS custom properties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 Zustand v5 — centralized store with SSE updates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Charts: Recharts v3 — delay accumulation area charts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Icons: Lucide React — consistent icon system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SQLite (better-sqlite3) on server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Hosting: Vercel (SSR, auto-scaling serverless)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Fonts: Geist Sans + Geist Mono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RailTwin AI · FAR AWAY 2026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920240" cy="59436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station_data.json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stations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0" y="1188720"/>
            <a:ext cx="1920240" cy="59436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0" y="11887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train_routes.json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train routes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1920240" cy="59436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1887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historical_delays.json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576 records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766560" y="1188720"/>
            <a:ext cx="1920240" cy="59436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0" y="11887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OpenWeather/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API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178308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63EB"/>
                </a:solidFill>
              </a:rPr>
              <a:t>▼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1965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API ROUTES (Astro SSR)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240280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22402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/api/trains · /api/stations · /api/trains/predict · /api/weather/corridor · /api/sse/train-updates · /api/copilot/chat · /api/trains/simulation/cascade · /api/predictions/history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57200" y="27432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63EB"/>
                </a:solidFill>
              </a:rPr>
              <a:t>▼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COMPONENTS (React + Zustand)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200400"/>
            <a:ext cx="1920240" cy="5943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2004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CorridorMap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(MapLibre GL)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560320" y="3200400"/>
            <a:ext cx="1920240" cy="5943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2560320" y="32004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CopilotChat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(Gemini client)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663440" y="3200400"/>
            <a:ext cx="1920240" cy="5943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0" y="32004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DelayChart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(Recharts)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766560" y="3200400"/>
            <a:ext cx="1920240" cy="5943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6766560" y="32004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WhatIfPanel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(Simulation UI)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solidFill>
            <a:srgbClr val="F0F4FF"/>
          </a:solidFill>
          <a:ln w="6350">
            <a:solidFill>
              <a:srgbClr val="2563EB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Services: Gemini API (Google) → /api/copilot &amp; /api/copilot/chat &amp; /api/copilot/recommendations  |  ML: Ridge Regression Model (client-side, loaded from delay-model-weights.json)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RailTwin AI · FAR AWAY 2026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Demo: Live Map — 7 Trains Across India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5486400" cy="3474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35040" y="777240"/>
            <a:ext cx="2834640" cy="347472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7" name="Text 4"/>
          <p:cNvSpPr/>
          <p:nvPr/>
        </p:nvSpPr>
        <p:spPr>
          <a:xfrm>
            <a:off x="6217920" y="868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 Features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17920" y="1234440"/>
            <a:ext cx="2468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trains with colored markers + direction arrows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lines with glow effect per train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stations with risk-level coloring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Per-station weather HUD (temp, rainfall, visibility)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train for details popup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live updates every 5 seconds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Dark/Light theme toggle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RailTwin AI · FAR AWAY 2026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Demo: Weather Intelligence &amp; AI Copilot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4114800" cy="292608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777240"/>
            <a:ext cx="4206240" cy="29260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74320" y="3840480"/>
            <a:ext cx="85953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4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457200" y="3886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Weather: Per-station live data from OpenWeather + Open-Meteo fallback + seasonal estimation.  |  AI Copilot: Gemini 2.0 Flash answers operator queries with live network context — train status, weather impact, recommendations.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RailTwin AI · FAR AWAY 2026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Demo: Simulation, What-If Lab &amp; System Health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2743200" cy="2377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3246120"/>
            <a:ext cx="2743200" cy="50292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32461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Disruption Simulator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delay, conflicts,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passengers affected</a:t>
            </a:r>
            <a:endParaRPr lang="en-US" sz="9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777240"/>
            <a:ext cx="2743200" cy="23774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200400" y="3246120"/>
            <a:ext cx="2743200" cy="50292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0" name="Text 6"/>
          <p:cNvSpPr/>
          <p:nvPr/>
        </p:nvSpPr>
        <p:spPr>
          <a:xfrm>
            <a:off x="3200400" y="32461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Lab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rainfall, signal failure,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damage scenarios</a:t>
            </a:r>
            <a:endParaRPr lang="en-US" sz="9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777240"/>
            <a:ext cx="2743200" cy="237744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126480" y="3246120"/>
            <a:ext cx="2743200" cy="50292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3" name="Text 8"/>
          <p:cNvSpPr/>
          <p:nvPr/>
        </p:nvSpPr>
        <p:spPr>
          <a:xfrm>
            <a:off x="6126480" y="32461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Health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Efficiency, on-time perf,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utilization gauges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274320" y="3931920"/>
            <a:ext cx="859536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simulation results are computed server-side and persisted to SQLite. What-If scenarios use historical delay data for realistic impact modeling.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RailTwin AI · FAR AWAY 2026</a:t>
            </a:r>
            <a:endParaRPr lang="en-US" sz="800" dirty="0"/>
          </a:p>
        </p:txBody>
      </p:sp>
      <p:sp>
        <p:nvSpPr>
          <p:cNvPr id="17" name="Text 1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Judging Criteria Mapping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77240"/>
            <a:ext cx="8595360" cy="27432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777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Criterion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0" y="777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Built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097280"/>
            <a:ext cx="859536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0972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Technical Depth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286000" y="109728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digital twin combining live map (MapLibre), ML delay prediction (Ridge Regression R²=0.73), Gemini AI copilot, real-time SSE streaming, and cascade simulation — all integrated into a single dashboard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74320" y="1737360"/>
            <a:ext cx="8595360" cy="5943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7373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Quality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286000" y="173736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throughout, Zustand state management, Astro SSR with Vercel deployment, SQLite persistence, retry/backoff/failover patterns in Gemini client, responsive design, keyboard shortcuts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74320" y="2377440"/>
            <a:ext cx="859536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3774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Impact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286000" y="237744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real Indian Railways data: 7 named trains, 36 actual stations with coordinates, 576 historical delay records. Live weather per station. Designed for control room operators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74320" y="3017520"/>
            <a:ext cx="8595360" cy="5943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0175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286000" y="301752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on Vercel (auto-scale), SSE push not polling, concurrent-limited weather fetches (max 3), LRU cache on Gemini, SQLite with WAL mode. Architecture supports adding 100+ trains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74320" y="3657600"/>
            <a:ext cx="859536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6576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UX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286000" y="365760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Dark/light theme, MapLibre GL with animated train markers, real-time weather HUD, collapsible legend, keyboard shortcuts (1-6, M), toast notifications, responsive mobile layout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74320" y="4297680"/>
            <a:ext cx="8595360" cy="5943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2976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Quality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286000" y="429768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API endpoints, 20+ React components, SSE live updates, ML model trained on 448 samples, cascade simulation with historical grounding, AI chat with fallback handling, deployed and live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is backed by code in the GitHub repo at github.com/himanshu003388/RailTwin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Innovation &amp; Technical Depth Highlights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77240"/>
            <a:ext cx="85953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45720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8229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ML-Powered Delay Prediction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0515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 model trained on 448 historical delay records with 7 weather types, 12 months, 4 train types. R²=0.73, RMSE=8.7 min. Runs browser-side for zero-latency predictions.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1600200"/>
            <a:ext cx="85953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600200"/>
            <a:ext cx="45720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6459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Two-Tier AI Architecture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18745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2.0 Flash primary → auto-fallback to Gemini 2.5 Flash on quota/error. Exponential backoff on 429s, 5-min LRU cache, system prompt injected with live network state for context-aware replies.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" y="2423160"/>
            <a:ext cx="85953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423160"/>
            <a:ext cx="45720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468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Server-Sent Events (SSE) for Live Data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26974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train position streaming every 5s via SSE endpoint. Randomized speed jitter for realistic animation. Auto-disconnect after 5 min. No polling, no WebSocket overhead.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3246120"/>
            <a:ext cx="85953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246120"/>
            <a:ext cx="45720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2918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What-If Cascade Simulation Engine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35204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network-wide ripple effects of disruptions. Uses historical delay patterns to weight scenarios (rainfall=35min, fog=25min, signal failure=50min, track damage=80min baseline). Computes affected trains, passengers, conflicts.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4069080"/>
            <a:ext cx="85953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4069080"/>
            <a:ext cx="45720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41148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Multi-Layer Weather with Intelligent Fallback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43434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Four-tier: OpenWeather API → Open-Meteo free API → seasonal estimation (monsoon/coastal/winter/summer) → default clear. 15-min cache, concurrent-limited (3 at a time), per-station granularity.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RailTwin AI · FAR AWAY 2026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 Impact &amp; Scalability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 Impact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2344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Data-grounded: All 7 trains are real Indian Railways services (12951 Mumbai Rajdhani, 12301 Howrah Rajdhani, 12007 Chennai Shatabdi, etc.) with accurate station codes, zones, and coordinates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station data: 36 actual junction stations across WR, CR, SR, ER, NFR, ECR, SWR, NR, NCR, SCR, WCR zones — covering North, South, East, West, and Northeast India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Weather-aware: Monsoon-sensitive regions (coastal Kerala, Northeast, Konkan) get weighted delay predictions. Fog-prone North Indian winters trigger higher risk scores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AI-ready for NTES/IRCTC: Settings panel accepts RapidAPI key for live train status. Current data uses schedule-derived positions that can be replaced with live IRCTC feeds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Scalability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324612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architecture (Vercel) auto-scales with demand — 10 users or 10,000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push-based updates scale better than polling; Weather fetches concurrency-limited to 3 simultaneous requests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train/station definitions — adding 100 more trains requires only JSON entries, no code changes. ML model can be retrained on larger datasets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RailTwin AI · FAR AWAY 2026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Scope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22960"/>
            <a:ext cx="39319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822960"/>
            <a:ext cx="393192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05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GPS Feed Integration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32588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schedule-derived positions with live IRCTC/NTES GPS data via the existing RapidAPI integration. Real-time position updates every 30 seconds from actual train tracking systems.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822960"/>
            <a:ext cx="39319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22960"/>
            <a:ext cx="393192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005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ML-Based Delay Prediction v2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32588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more sophisticated model (Gradient Boosting, LSTM) on the full Kaggle delay dataset (100K+ records). Factor in real-time weather, day of week, festival seasons, and maintenance schedules.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39319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743200"/>
            <a:ext cx="393192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926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Hardware Sensor Tie-Ins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24612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integration with Indian Railways' track monitoring sensors (temperature, vibration, axle counters). Real-time infrastructure health alerts alongside operational dashboards.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2743200"/>
            <a:ext cx="39319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743200"/>
            <a:ext cx="3931920" cy="457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2926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Multi-Corridor Expansion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324612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from 7 trains/36 stations to the full IR network (13K+ trains, 7K+ stations). Regional control centre views with drill-down to station and train level.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RailTwin AI · FAR AWAY 2026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914400"/>
            <a:ext cx="3200400" cy="3200400"/>
          </a:xfrm>
          <a:prstGeom prst="ellipse">
            <a:avLst/>
          </a:prstGeom>
          <a:solidFill>
            <a:srgbClr val="2563EB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06B6D4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RailTwin AI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Digital Twin for Indian Railways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27432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03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4231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Himanshu (Lead Developer)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FAR AWAY 2026 — Railways Theme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Links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3832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github.com/himanshu003388/RailTwin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rail-twin.vercel.app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Astro v6 · React 19 · MapLibre GL · Gemini AI · Tailwind v4 · Zustand · Recharts · SQLite · Vercel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42976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Kaggle Indian Railways Dataset · IRCTC/NTES · OpenWeatherMap · Open-Meteo · Google Gemini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31520" y="4663440"/>
            <a:ext cx="7772400" cy="0"/>
          </a:xfrm>
          <a:prstGeom prst="line">
            <a:avLst/>
          </a:prstGeom>
          <a:noFill/>
          <a:ln w="6350">
            <a:solidFill>
              <a:srgbClr val="1A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7091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AWAY 2026 · Making Railways Safer, Smarter &amp; More Efficient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RailTwin AI — Railways Digital Twin</dc:title>
  <dc:subject>PptxGenJS Presentation</dc:subject>
  <dc:creator>RailTwin Team</dc:creator>
  <cp:lastModifiedBy>RailTwin Team</cp:lastModifiedBy>
  <cp:revision>1</cp:revision>
  <dcterms:created xsi:type="dcterms:W3CDTF">2026-06-14T18:01:41Z</dcterms:created>
  <dcterms:modified xsi:type="dcterms:W3CDTF">2026-06-14T18:01:41Z</dcterms:modified>
</cp:coreProperties>
</file>
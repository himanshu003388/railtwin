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51" d="100"/>
          <a:sy n="51" d="100"/>
        </p:scale>
        <p:origin x="1476" y="4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018543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394960"/>
            <a:ext cx="12191695" cy="0"/>
          </a:xfrm>
          <a:prstGeom prst="line">
            <a:avLst/>
          </a:prstGeom>
          <a:noFill/>
          <a:ln w="15240">
            <a:solidFill>
              <a:srgbClr val="223052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5504688"/>
            <a:ext cx="12191695" cy="0"/>
          </a:xfrm>
          <a:prstGeom prst="line">
            <a:avLst/>
          </a:prstGeom>
          <a:noFill/>
          <a:ln w="15240">
            <a:solidFill>
              <a:srgbClr val="223052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822960" y="96012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kern="0" spc="3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FAR AWAY 2026 · RAILWAYS THEME · ROUND 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1371600"/>
            <a:ext cx="106070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600" b="1" dirty="0">
                <a:solidFill>
                  <a:srgbClr val="E6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RailTwin AI</a:t>
            </a:r>
            <a:endParaRPr lang="en-US" sz="6600" dirty="0"/>
          </a:p>
        </p:txBody>
      </p:sp>
      <p:sp>
        <p:nvSpPr>
          <p:cNvPr id="6" name="Text 4"/>
          <p:cNvSpPr/>
          <p:nvPr/>
        </p:nvSpPr>
        <p:spPr>
          <a:xfrm>
            <a:off x="822960" y="25146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Reconciliation: Drift Indicator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22960" y="3127248"/>
            <a:ext cx="9692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600" dirty="0">
                <a:solidFill>
                  <a:srgbClr val="9FB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predictive digital twin for Indian Railways that now knows when reality has drifted away from the recorded plan — and lets the operator pull it back.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22960" y="4114800"/>
            <a:ext cx="1417320" cy="274320"/>
          </a:xfrm>
          <a:prstGeom prst="roundRect">
            <a:avLst>
              <a:gd name="adj" fmla="val 50000"/>
            </a:avLst>
          </a:prstGeom>
          <a:solidFill>
            <a:srgbClr val="0B1220">
              <a:alpha val="80000"/>
            </a:srgbClr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822960" y="4101998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STABLE 0–24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331720" y="4114800"/>
            <a:ext cx="1417320" cy="274320"/>
          </a:xfrm>
          <a:prstGeom prst="roundRect">
            <a:avLst>
              <a:gd name="adj" fmla="val 50000"/>
            </a:avLst>
          </a:prstGeom>
          <a:solidFill>
            <a:srgbClr val="0B1220">
              <a:alpha val="80000"/>
            </a:srgbClr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2331720" y="4101998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MINOR 25–49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840480" y="4114800"/>
            <a:ext cx="1691640" cy="274320"/>
          </a:xfrm>
          <a:prstGeom prst="roundRect">
            <a:avLst>
              <a:gd name="adj" fmla="val 50000"/>
            </a:avLst>
          </a:prstGeom>
          <a:solidFill>
            <a:srgbClr val="0B1220">
              <a:alpha val="80000"/>
            </a:srgbClr>
          </a:solidFill>
          <a:ln w="12700">
            <a:solidFill>
              <a:srgbClr val="FB923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840480" y="4101998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B92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SIGNIFICANT 50–69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623560" y="4114800"/>
            <a:ext cx="1600200" cy="274320"/>
          </a:xfrm>
          <a:prstGeom prst="roundRect">
            <a:avLst>
              <a:gd name="adj" fmla="val 50000"/>
            </a:avLst>
          </a:prstGeom>
          <a:solidFill>
            <a:srgbClr val="0B1220">
              <a:alpha val="80000"/>
            </a:srgbClr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5623560" y="4101998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CRITICAL 70–100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360920" y="4087368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4-factor drift score, computed every 5 seconds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22960" y="580644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  </a:t>
            </a:r>
            <a:r>
              <a:rPr lang="en-US" sz="1000" b="1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rail-twin.vercel.app</a:t>
            </a: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Judge replay  </a:t>
            </a:r>
            <a:r>
              <a:rPr lang="en-US" sz="1000" b="1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rail-twin.vercel.app/?demo=replay&amp;fast=1</a:t>
            </a: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GitHub  </a:t>
            </a:r>
            <a:r>
              <a:rPr lang="en-US" sz="1000" b="1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github.com/himanshu003388/RailTwin</a:t>
            </a:r>
            <a:endParaRPr lang="en-US" sz="1000" dirty="0"/>
          </a:p>
        </p:txBody>
      </p:sp>
      <p:sp>
        <p:nvSpPr>
          <p:cNvPr id="31" name="Freeform 25">
            <a:extLst>
              <a:ext uri="{FF2B5EF4-FFF2-40B4-BE49-F238E27FC236}">
                <a16:creationId xmlns:a16="http://schemas.microsoft.com/office/drawing/2014/main" id="{3B77B38E-5D7D-54D0-8C96-42FFB2168FB4}"/>
              </a:ext>
            </a:extLst>
          </p:cNvPr>
          <p:cNvSpPr/>
          <p:nvPr/>
        </p:nvSpPr>
        <p:spPr>
          <a:xfrm>
            <a:off x="10823118" y="12357"/>
            <a:ext cx="1344168" cy="1344168"/>
          </a:xfrm>
          <a:prstGeom prst="ellipse">
            <a:avLst/>
          </a:pr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 sz="1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ROUND 2 BRIEF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6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plan you recorded is not the railway you are running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253935" y="6473952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RailTwin AI · Round 2 — Reconciliation: Drift Indicator</a:t>
            </a:r>
            <a:r>
              <a:rPr lang="en-US" sz="900" b="1" dirty="0">
                <a:solidFill>
                  <a:srgbClr val="9FB0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2 / 16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1371600"/>
            <a:ext cx="6675120" cy="2194560"/>
          </a:xfrm>
          <a:prstGeom prst="roundRect">
            <a:avLst>
              <a:gd name="adj" fmla="val 3333"/>
            </a:avLst>
          </a:prstGeom>
          <a:solidFill>
            <a:srgbClr val="182238"/>
          </a:solidFill>
          <a:ln w="9525">
            <a:solidFill>
              <a:srgbClr val="334368"/>
            </a:solidFill>
            <a:prstDash val="solid"/>
          </a:ln>
          <a:effectLst>
            <a:outerShdw blurRad="1016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77240" y="155448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1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OFFICIAL PROBLEM STATEMENT — RECONCILIATION: DRIFT INDICATOR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77240" y="1847088"/>
            <a:ext cx="617220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550" i="1" dirty="0">
                <a:solidFill>
                  <a:srgbClr val="E6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“Extend the MVP with a capability related to conflicting, duplicate, or partially matching information. Specifically, show when the current situation has drifted away from the originally recorded context.”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02920" y="3840480"/>
            <a:ext cx="6675120" cy="731520"/>
          </a:xfrm>
          <a:prstGeom prst="roundRect">
            <a:avLst>
              <a:gd name="adj" fmla="val 10000"/>
            </a:avLst>
          </a:prstGeom>
          <a:solidFill>
            <a:srgbClr val="111A2E"/>
          </a:solidFill>
          <a:ln w="9525">
            <a:solidFill>
              <a:srgbClr val="223052"/>
            </a:solidFill>
            <a:prstDash val="solid"/>
          </a:ln>
          <a:effectLst>
            <a:outerShdw blurRad="1016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731520" y="4069080"/>
            <a:ext cx="1554480" cy="274320"/>
          </a:xfrm>
          <a:prstGeom prst="roundRect">
            <a:avLst>
              <a:gd name="adj" fmla="val 50000"/>
            </a:avLst>
          </a:prstGeom>
          <a:solidFill>
            <a:srgbClr val="0B1220">
              <a:alpha val="80000"/>
            </a:srgbClr>
          </a:solidFill>
          <a:ln w="12700">
            <a:solidFill>
              <a:srgbClr val="FB923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731520" y="4056278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B92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CONFLICTING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468880" y="3913632"/>
            <a:ext cx="45720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FB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weather providers disagree about the same station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02920" y="4681728"/>
            <a:ext cx="6675120" cy="731520"/>
          </a:xfrm>
          <a:prstGeom prst="roundRect">
            <a:avLst>
              <a:gd name="adj" fmla="val 10000"/>
            </a:avLst>
          </a:prstGeom>
          <a:solidFill>
            <a:srgbClr val="111A2E"/>
          </a:solidFill>
          <a:ln w="9525">
            <a:solidFill>
              <a:srgbClr val="223052"/>
            </a:solidFill>
            <a:prstDash val="solid"/>
          </a:ln>
          <a:effectLst>
            <a:outerShdw blurRad="1016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731520" y="4910328"/>
            <a:ext cx="1554480" cy="274320"/>
          </a:xfrm>
          <a:prstGeom prst="roundRect">
            <a:avLst>
              <a:gd name="adj" fmla="val 50000"/>
            </a:avLst>
          </a:prstGeom>
          <a:solidFill>
            <a:srgbClr val="0B1220">
              <a:alpha val="80000"/>
            </a:srgbClr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731520" y="4897526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DUPLICATE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468880" y="4754880"/>
            <a:ext cx="45720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FB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NTES packet arrives twice with clashing coordinates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02920" y="5522976"/>
            <a:ext cx="6675120" cy="731520"/>
          </a:xfrm>
          <a:prstGeom prst="roundRect">
            <a:avLst>
              <a:gd name="adj" fmla="val 10000"/>
            </a:avLst>
          </a:prstGeom>
          <a:solidFill>
            <a:srgbClr val="111A2E"/>
          </a:solidFill>
          <a:ln w="9525">
            <a:solidFill>
              <a:srgbClr val="223052"/>
            </a:solidFill>
            <a:prstDash val="solid"/>
          </a:ln>
          <a:effectLst>
            <a:outerShdw blurRad="1016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731520" y="5751576"/>
            <a:ext cx="1554480" cy="274320"/>
          </a:xfrm>
          <a:prstGeom prst="roundRect">
            <a:avLst>
              <a:gd name="adj" fmla="val 50000"/>
            </a:avLst>
          </a:prstGeom>
          <a:solidFill>
            <a:srgbClr val="0B1220">
              <a:alpha val="80000"/>
            </a:srgbClr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731520" y="5738774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PARTIAL MATCH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468880" y="5596128"/>
            <a:ext cx="45720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FB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OCR reads “Kanpur Centrall” — which station is that?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452360" y="1371600"/>
            <a:ext cx="4251960" cy="5029200"/>
          </a:xfrm>
          <a:prstGeom prst="roundRect">
            <a:avLst>
              <a:gd name="adj" fmla="val 1720"/>
            </a:avLst>
          </a:prstGeom>
          <a:solidFill>
            <a:srgbClr val="111A2E"/>
          </a:solidFill>
          <a:ln w="9525">
            <a:solidFill>
              <a:srgbClr val="223052"/>
            </a:solidFill>
            <a:prstDash val="solid"/>
          </a:ln>
          <a:effectLst>
            <a:outerShdw blurRad="1016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7726680" y="157276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1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IT MATTERS IN A CONTROL CENTRE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726680" y="1920240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 min</a:t>
            </a:r>
            <a:endParaRPr lang="en-US" sz="4400" dirty="0"/>
          </a:p>
        </p:txBody>
      </p:sp>
      <p:sp>
        <p:nvSpPr>
          <p:cNvPr id="23" name="Text 21"/>
          <p:cNvSpPr/>
          <p:nvPr/>
        </p:nvSpPr>
        <p:spPr>
          <a:xfrm>
            <a:off x="7726680" y="2606040"/>
            <a:ext cx="3703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9FB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all it takes for a static digital twin to become dangerously out of date during a monsoon disruption.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7726680" y="3520440"/>
            <a:ext cx="370332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E6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 a 12-hour dispatcher shift, ground truth drifts silently away from the pinned timetable context: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6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conflicting weather feeds from different meteorological providers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6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duplicated transponder packets corrupting positions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6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garbled OCR / telegraphic station codes</a:t>
            </a:r>
            <a:endParaRPr lang="en-US" sz="12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200" dirty="0">
                <a:solidFill>
                  <a:srgbClr val="E6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no indicator of how far live reality has diverged from plan.</a:t>
            </a:r>
            <a:endParaRPr lang="en-US" sz="1200" dirty="0"/>
          </a:p>
        </p:txBody>
      </p:sp>
      <p:sp>
        <p:nvSpPr>
          <p:cNvPr id="26" name="Freeform 25">
            <a:extLst>
              <a:ext uri="{FF2B5EF4-FFF2-40B4-BE49-F238E27FC236}">
                <a16:creationId xmlns:a16="http://schemas.microsoft.com/office/drawing/2014/main" id="{F73E722D-C16D-E5BB-5E9D-A43D9510171B}"/>
              </a:ext>
            </a:extLst>
          </p:cNvPr>
          <p:cNvSpPr/>
          <p:nvPr/>
        </p:nvSpPr>
        <p:spPr>
          <a:xfrm>
            <a:off x="10823118" y="12357"/>
            <a:ext cx="1344168" cy="1344168"/>
          </a:xfrm>
          <a:prstGeom prst="ellipse">
            <a:avLst/>
          </a:pr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 sz="1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ROUND 1 LEFT OFF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6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MVP we are extending — not rebuilding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253935" y="6473952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RailTwin AI · Round 2 — Reconciliation: Drift Indicator</a:t>
            </a:r>
            <a:r>
              <a:rPr lang="en-US" sz="900" b="1" dirty="0">
                <a:solidFill>
                  <a:srgbClr val="9FB0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3 / 16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3593592" cy="1298448"/>
          </a:xfrm>
          <a:prstGeom prst="roundRect">
            <a:avLst>
              <a:gd name="adj" fmla="val 5634"/>
            </a:avLst>
          </a:prstGeom>
          <a:solidFill>
            <a:srgbClr val="111A2E"/>
          </a:solidFill>
          <a:ln w="9525">
            <a:solidFill>
              <a:srgbClr val="223052"/>
            </a:solidFill>
            <a:prstDash val="solid"/>
          </a:ln>
          <a:effectLst>
            <a:outerShdw blurRad="1016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731520" y="1636776"/>
            <a:ext cx="146304" cy="146304"/>
          </a:xfrm>
          <a:prstGeom prst="ellipse">
            <a:avLst/>
          </a:prstGeom>
          <a:solidFill>
            <a:srgbClr val="7DD3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978408" y="15087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6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Corridor Map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78408" y="187452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9FB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MapLibre GL · 7 real trains · 36 junctions · SSE ticks every 5 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79392" y="1417320"/>
            <a:ext cx="3593592" cy="1298448"/>
          </a:xfrm>
          <a:prstGeom prst="roundRect">
            <a:avLst>
              <a:gd name="adj" fmla="val 5634"/>
            </a:avLst>
          </a:prstGeom>
          <a:solidFill>
            <a:srgbClr val="111A2E"/>
          </a:solidFill>
          <a:ln w="9525">
            <a:solidFill>
              <a:srgbClr val="223052"/>
            </a:solidFill>
            <a:prstDash val="solid"/>
          </a:ln>
          <a:effectLst>
            <a:outerShdw blurRad="1016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4507992" y="1636776"/>
            <a:ext cx="146304" cy="146304"/>
          </a:xfrm>
          <a:prstGeom prst="ellipse">
            <a:avLst/>
          </a:prstGeom>
          <a:solidFill>
            <a:srgbClr val="34D39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754880" y="15087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6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Delay Prediction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754880" y="187452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9FB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Ridge Regression, R² = 0.73 on 448 historical samples, browser-side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055864" y="1417320"/>
            <a:ext cx="3593592" cy="1298448"/>
          </a:xfrm>
          <a:prstGeom prst="roundRect">
            <a:avLst>
              <a:gd name="adj" fmla="val 5634"/>
            </a:avLst>
          </a:prstGeom>
          <a:solidFill>
            <a:srgbClr val="111A2E"/>
          </a:solidFill>
          <a:ln w="9525">
            <a:solidFill>
              <a:srgbClr val="223052"/>
            </a:solidFill>
            <a:prstDash val="solid"/>
          </a:ln>
          <a:effectLst>
            <a:outerShdw blurRad="1016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8284464" y="1636776"/>
            <a:ext cx="146304" cy="146304"/>
          </a:xfrm>
          <a:prstGeom prst="ellipse">
            <a:avLst/>
          </a:prstGeom>
          <a:solidFill>
            <a:srgbClr val="FB923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8531352" y="15087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6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Cascade Simulator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531352" y="187452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9FB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Monsoon / fog / signal-failure ripple across the network graph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920" y="2898648"/>
            <a:ext cx="3593592" cy="1298448"/>
          </a:xfrm>
          <a:prstGeom prst="roundRect">
            <a:avLst>
              <a:gd name="adj" fmla="val 5634"/>
            </a:avLst>
          </a:prstGeom>
          <a:solidFill>
            <a:srgbClr val="111A2E"/>
          </a:solidFill>
          <a:ln w="9525">
            <a:solidFill>
              <a:srgbClr val="223052"/>
            </a:solidFill>
            <a:prstDash val="solid"/>
          </a:ln>
          <a:effectLst>
            <a:outerShdw blurRad="1016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731520" y="3118104"/>
            <a:ext cx="146304" cy="146304"/>
          </a:xfrm>
          <a:prstGeom prst="ellipse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978408" y="299008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6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AI Copilot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78408" y="3355848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9FB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2.0 Flash → 2.5 Flash fallback, live network context injected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279392" y="2898648"/>
            <a:ext cx="3593592" cy="1298448"/>
          </a:xfrm>
          <a:prstGeom prst="roundRect">
            <a:avLst>
              <a:gd name="adj" fmla="val 5634"/>
            </a:avLst>
          </a:prstGeom>
          <a:solidFill>
            <a:srgbClr val="111A2E"/>
          </a:solidFill>
          <a:ln w="9525">
            <a:solidFill>
              <a:srgbClr val="223052"/>
            </a:solidFill>
            <a:prstDash val="solid"/>
          </a:ln>
          <a:effectLst>
            <a:outerShdw blurRad="1016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4507992" y="3118104"/>
            <a:ext cx="146304" cy="146304"/>
          </a:xfrm>
          <a:prstGeom prst="ellipse">
            <a:avLst/>
          </a:prstGeom>
          <a:solidFill>
            <a:srgbClr val="FBBF2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4754880" y="299008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6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What-If Lab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754880" y="3355848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9FB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 sandbox: pick station + disruption, see projected impact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055864" y="2898648"/>
            <a:ext cx="3593592" cy="1298448"/>
          </a:xfrm>
          <a:prstGeom prst="roundRect">
            <a:avLst>
              <a:gd name="adj" fmla="val 5634"/>
            </a:avLst>
          </a:prstGeom>
          <a:solidFill>
            <a:srgbClr val="111A2E"/>
          </a:solidFill>
          <a:ln w="9525">
            <a:solidFill>
              <a:srgbClr val="223052"/>
            </a:solidFill>
            <a:prstDash val="solid"/>
          </a:ln>
          <a:effectLst>
            <a:outerShdw blurRad="1016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8284464" y="3118104"/>
            <a:ext cx="146304" cy="146304"/>
          </a:xfrm>
          <a:prstGeom prst="ellipse">
            <a:avLst/>
          </a:prstGeom>
          <a:solidFill>
            <a:srgbClr val="F8717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8531352" y="299008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6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Weather Intelligence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8531352" y="3355848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9FB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OpenWeatherMap → Open-Meteo → seasonal fallback, per-station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02920" y="4572000"/>
            <a:ext cx="11183112" cy="1417320"/>
          </a:xfrm>
          <a:prstGeom prst="roundRect">
            <a:avLst>
              <a:gd name="adj" fmla="val 5161"/>
            </a:avLst>
          </a:prstGeom>
          <a:solidFill>
            <a:srgbClr val="182238"/>
          </a:solidFill>
          <a:ln w="9525">
            <a:solidFill>
              <a:srgbClr val="5B2530"/>
            </a:solidFill>
            <a:prstDash val="solid"/>
          </a:ln>
          <a:effectLst>
            <a:outerShdw blurRad="1016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777240" y="477316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GAP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77240" y="5029200"/>
            <a:ext cx="10607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500" dirty="0">
                <a:solidFill>
                  <a:srgbClr val="E6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Round 1 trusted every feed, assumed every packet was unique, silently defaulted unknown stations to New Delhi (NDLS) — and had no concept of a recorded baseline to drift away from.</a:t>
            </a:r>
            <a:endParaRPr lang="en-US" sz="1500" dirty="0"/>
          </a:p>
        </p:txBody>
      </p:sp>
      <p:sp>
        <p:nvSpPr>
          <p:cNvPr id="35" name="Freeform 25">
            <a:extLst>
              <a:ext uri="{FF2B5EF4-FFF2-40B4-BE49-F238E27FC236}">
                <a16:creationId xmlns:a16="http://schemas.microsoft.com/office/drawing/2014/main" id="{6787C1AF-C9ED-821C-BC96-FDAAE949E4AF}"/>
              </a:ext>
            </a:extLst>
          </p:cNvPr>
          <p:cNvSpPr/>
          <p:nvPr/>
        </p:nvSpPr>
        <p:spPr>
          <a:xfrm>
            <a:off x="10823118" y="12357"/>
            <a:ext cx="1344168" cy="1344168"/>
          </a:xfrm>
          <a:prstGeom prst="ellipse">
            <a:avLst/>
          </a:pr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 sz="12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ROUND 2 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6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closed loop: pin → reconcile → score → resolve → audit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253935" y="6473952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RailTwin AI · Round 2 — Reconciliation: Drift Indicator</a:t>
            </a:r>
            <a:r>
              <a:rPr lang="en-US" sz="900" b="1" dirty="0">
                <a:solidFill>
                  <a:srgbClr val="9FB0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4 / 16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1554480"/>
            <a:ext cx="3429000" cy="1600200"/>
          </a:xfrm>
          <a:prstGeom prst="roundRect">
            <a:avLst>
              <a:gd name="adj" fmla="val 4571"/>
            </a:avLst>
          </a:prstGeom>
          <a:solidFill>
            <a:srgbClr val="182238"/>
          </a:solidFill>
          <a:ln w="9525">
            <a:solidFill>
              <a:srgbClr val="223052"/>
            </a:solidFill>
            <a:prstDash val="solid"/>
          </a:ln>
          <a:effectLst>
            <a:outerShdw blurRad="1016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31520" y="1737360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· PIN BASELINE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2066544"/>
            <a:ext cx="30175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9FB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Immutable shift snapshot: delays, timetable projections, weather across all 36 stations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941064" y="2084832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4480560" y="1554480"/>
            <a:ext cx="3429000" cy="1600200"/>
          </a:xfrm>
          <a:prstGeom prst="roundRect">
            <a:avLst>
              <a:gd name="adj" fmla="val 4571"/>
            </a:avLst>
          </a:prstGeom>
          <a:solidFill>
            <a:srgbClr val="182238"/>
          </a:solidFill>
          <a:ln w="9525">
            <a:solidFill>
              <a:srgbClr val="223052"/>
            </a:solidFill>
            <a:prstDash val="solid"/>
          </a:ln>
          <a:effectLst>
            <a:outerShdw blurRad="1016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709160" y="1737360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· RECONCILE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09160" y="2066544"/>
            <a:ext cx="30175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9FB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Jaro-Winkler + route prior, dual-source weather arbitration, stream dedup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918704" y="2084832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8458200" y="1554480"/>
            <a:ext cx="3429000" cy="1600200"/>
          </a:xfrm>
          <a:prstGeom prst="roundRect">
            <a:avLst>
              <a:gd name="adj" fmla="val 4571"/>
            </a:avLst>
          </a:prstGeom>
          <a:solidFill>
            <a:srgbClr val="182238"/>
          </a:solidFill>
          <a:ln w="9525">
            <a:solidFill>
              <a:srgbClr val="223052"/>
            </a:solidFill>
            <a:prstDash val="solid"/>
          </a:ln>
          <a:effectLst>
            <a:outerShdw blurRad="1016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8686800" y="1737360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B92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· DRIFT ENGINE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686800" y="2066544"/>
            <a:ext cx="30175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9FB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Explainable 4-factor 0–100 score per train + passenger-weighted corridor score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692640" y="320040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2600" dirty="0"/>
          </a:p>
        </p:txBody>
      </p:sp>
      <p:sp>
        <p:nvSpPr>
          <p:cNvPr id="17" name="Shape 15"/>
          <p:cNvSpPr/>
          <p:nvPr/>
        </p:nvSpPr>
        <p:spPr>
          <a:xfrm>
            <a:off x="8138160" y="3657600"/>
            <a:ext cx="3429000" cy="1600200"/>
          </a:xfrm>
          <a:prstGeom prst="roundRect">
            <a:avLst>
              <a:gd name="adj" fmla="val 4571"/>
            </a:avLst>
          </a:prstGeom>
          <a:solidFill>
            <a:srgbClr val="182238"/>
          </a:solidFill>
          <a:ln w="9525">
            <a:solidFill>
              <a:srgbClr val="223052"/>
            </a:solidFill>
            <a:prstDash val="solid"/>
          </a:ln>
          <a:effectLst>
            <a:outerShdw blurRad="1016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8366760" y="3840480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· RESOLVE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366760" y="4169664"/>
            <a:ext cx="30175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9FB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Operator triage: Accept Live / Keep Baseline / Merge — re-anchors the twin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160520" y="3657600"/>
            <a:ext cx="3429000" cy="1600200"/>
          </a:xfrm>
          <a:prstGeom prst="roundRect">
            <a:avLst>
              <a:gd name="adj" fmla="val 4571"/>
            </a:avLst>
          </a:prstGeom>
          <a:solidFill>
            <a:srgbClr val="182238"/>
          </a:solidFill>
          <a:ln w="9525">
            <a:solidFill>
              <a:srgbClr val="223052"/>
            </a:solidFill>
            <a:prstDash val="solid"/>
          </a:ln>
          <a:effectLst>
            <a:outerShdw blurRad="1016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389120" y="3840480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· AUDIT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389120" y="4169664"/>
            <a:ext cx="30175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9FB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 WAL log + 1-click shift handover briefing (.md / PDF)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635240" y="42062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566928" y="416052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i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Resolution re-anchors the pinned baseline — drift collapses back to Stable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02920" y="5532120"/>
            <a:ext cx="11183112" cy="777240"/>
          </a:xfrm>
          <a:prstGeom prst="roundRect">
            <a:avLst>
              <a:gd name="adj" fmla="val 9412"/>
            </a:avLst>
          </a:prstGeom>
          <a:solidFill>
            <a:srgbClr val="111A2E"/>
          </a:solidFill>
          <a:ln w="9525">
            <a:solidFill>
              <a:srgbClr val="223052"/>
            </a:solidFill>
            <a:prstDash val="solid"/>
          </a:ln>
          <a:effectLst>
            <a:outerShdw blurRad="1016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777240" y="5632704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E6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Substantial 24-hour extension, zero rebuild: </a:t>
            </a:r>
            <a:r>
              <a:rPr lang="en-US" sz="1300" dirty="0">
                <a:solidFill>
                  <a:srgbClr val="9FB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new pure TypeScript modules (drift-engine, reconciler, driftStore) + Drift Monitor panel + ghost map layer, wired into the existing Zustand/SSE spine.</a:t>
            </a:r>
            <a:endParaRPr lang="en-US" sz="1300" dirty="0"/>
          </a:p>
        </p:txBody>
      </p:sp>
      <p:sp>
        <p:nvSpPr>
          <p:cNvPr id="28" name="Freeform 25">
            <a:extLst>
              <a:ext uri="{FF2B5EF4-FFF2-40B4-BE49-F238E27FC236}">
                <a16:creationId xmlns:a16="http://schemas.microsoft.com/office/drawing/2014/main" id="{71D50F49-63B7-BFE1-D7F4-2F75DE6711E7}"/>
              </a:ext>
            </a:extLst>
          </p:cNvPr>
          <p:cNvSpPr/>
          <p:nvPr/>
        </p:nvSpPr>
        <p:spPr>
          <a:xfrm>
            <a:off x="10823118" y="12357"/>
            <a:ext cx="1344168" cy="1344168"/>
          </a:xfrm>
          <a:prstGeom prst="ellipse">
            <a:avLst/>
          </a:pr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 sz="12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 IMPLEMENTATION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6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Conflicting · duplicate · partially matching — each solved head-on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253935" y="6473952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RailTwin AI · Round 2 — Reconciliation: Drift Indicator</a:t>
            </a:r>
            <a:r>
              <a:rPr lang="en-US" sz="900" b="1" dirty="0">
                <a:solidFill>
                  <a:srgbClr val="9FB0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5 / 16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3675888" cy="4892040"/>
          </a:xfrm>
          <a:prstGeom prst="roundRect">
            <a:avLst>
              <a:gd name="adj" fmla="val 1990"/>
            </a:avLst>
          </a:prstGeom>
          <a:solidFill>
            <a:srgbClr val="111A2E"/>
          </a:solidFill>
          <a:ln w="9525">
            <a:solidFill>
              <a:srgbClr val="223052"/>
            </a:solidFill>
            <a:prstDash val="solid"/>
          </a:ln>
          <a:effectLst>
            <a:outerShdw blurRad="1016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731520" y="1645920"/>
            <a:ext cx="1965960" cy="274320"/>
          </a:xfrm>
          <a:prstGeom prst="roundRect">
            <a:avLst>
              <a:gd name="adj" fmla="val 50000"/>
            </a:avLst>
          </a:prstGeom>
          <a:solidFill>
            <a:srgbClr val="0B1220">
              <a:alpha val="80000"/>
            </a:srgbClr>
          </a:solidFill>
          <a:ln w="12700">
            <a:solidFill>
              <a:srgbClr val="FB923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731520" y="1633118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B92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CONFLICTING FEEDS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31520" y="2039112"/>
            <a:ext cx="3337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E6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Dual-source weather arbitration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2624328"/>
            <a:ext cx="33375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9FB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OpenWeatherMap and Open-Meteo are polled per station. When they disagree (storm vs clear sky at Bhusaval), the conflict is flagged in the Triage Inbox — the operator arbitrates, and the chosen reading updates the whole network model.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04088" y="5166360"/>
            <a:ext cx="3273552" cy="914400"/>
          </a:xfrm>
          <a:prstGeom prst="roundRect">
            <a:avLst>
              <a:gd name="adj" fmla="val 6000"/>
            </a:avLst>
          </a:prstGeom>
          <a:solidFill>
            <a:srgbClr val="060B15"/>
          </a:solidFill>
          <a:ln w="9525">
            <a:solidFill>
              <a:srgbClr val="22305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832104" y="5239512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950" dirty="0">
                <a:solidFill>
                  <a:srgbClr val="FB92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OWM: clear 0mm  ↯  Open-Meteo: rain 42mm</a:t>
            </a:r>
            <a:endParaRPr lang="en-US" sz="950" dirty="0"/>
          </a:p>
          <a:p>
            <a:pPr marL="0" indent="0">
              <a:lnSpc>
                <a:spcPts val="1300"/>
              </a:lnSpc>
              <a:buNone/>
            </a:pPr>
            <a:r>
              <a:rPr lang="en-US" sz="950" dirty="0">
                <a:solidFill>
                  <a:srgbClr val="FB92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TRIAGE: weather-conflict @ BSL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279392" y="1417320"/>
            <a:ext cx="3675888" cy="4892040"/>
          </a:xfrm>
          <a:prstGeom prst="roundRect">
            <a:avLst>
              <a:gd name="adj" fmla="val 1990"/>
            </a:avLst>
          </a:prstGeom>
          <a:solidFill>
            <a:srgbClr val="111A2E"/>
          </a:solidFill>
          <a:ln w="9525">
            <a:solidFill>
              <a:srgbClr val="223052"/>
            </a:solidFill>
            <a:prstDash val="solid"/>
          </a:ln>
          <a:effectLst>
            <a:outerShdw blurRad="1016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507992" y="1645920"/>
            <a:ext cx="1965960" cy="274320"/>
          </a:xfrm>
          <a:prstGeom prst="roundRect">
            <a:avLst>
              <a:gd name="adj" fmla="val 50000"/>
            </a:avLst>
          </a:prstGeom>
          <a:solidFill>
            <a:srgbClr val="0B1220">
              <a:alpha val="80000"/>
            </a:srgbClr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507992" y="1633118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DUPLICATE PACKETS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07992" y="2039112"/>
            <a:ext cx="3337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E6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stream deduplication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507992" y="2624328"/>
            <a:ext cx="33375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9FB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Identical timestamp + train telemetry packets (duplicate NTES bursts, even with clashing coordinates) are detected and filtered before they can corrupt the live twin. Divergent duplicates are surfaced instead of silently overwritten.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480560" y="5166360"/>
            <a:ext cx="3273552" cy="914400"/>
          </a:xfrm>
          <a:prstGeom prst="roundRect">
            <a:avLst>
              <a:gd name="adj" fmla="val 6000"/>
            </a:avLst>
          </a:prstGeom>
          <a:solidFill>
            <a:srgbClr val="060B15"/>
          </a:solidFill>
          <a:ln w="9525">
            <a:solidFill>
              <a:srgbClr val="22305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4608576" y="5239512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95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pkt#8842 12625 09:14:05 (10.02,76.31)</a:t>
            </a:r>
            <a:endParaRPr lang="en-US" sz="950" dirty="0"/>
          </a:p>
          <a:p>
            <a:pPr marL="0" indent="0">
              <a:lnSpc>
                <a:spcPts val="1300"/>
              </a:lnSpc>
              <a:buNone/>
            </a:pPr>
            <a:r>
              <a:rPr lang="en-US" sz="95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pkt#8842 12625 09:14:05 (10.94,75.99) ✕ dup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8055864" y="1417320"/>
            <a:ext cx="3675888" cy="4892040"/>
          </a:xfrm>
          <a:prstGeom prst="roundRect">
            <a:avLst>
              <a:gd name="adj" fmla="val 1990"/>
            </a:avLst>
          </a:prstGeom>
          <a:solidFill>
            <a:srgbClr val="111A2E"/>
          </a:solidFill>
          <a:ln w="9525">
            <a:solidFill>
              <a:srgbClr val="223052"/>
            </a:solidFill>
            <a:prstDash val="solid"/>
          </a:ln>
          <a:effectLst>
            <a:outerShdw blurRad="1016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8284464" y="1645920"/>
            <a:ext cx="1965960" cy="274320"/>
          </a:xfrm>
          <a:prstGeom prst="roundRect">
            <a:avLst>
              <a:gd name="adj" fmla="val 50000"/>
            </a:avLst>
          </a:prstGeom>
          <a:solidFill>
            <a:srgbClr val="0B1220">
              <a:alpha val="80000"/>
            </a:srgbClr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8284464" y="1633118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PARTIAL MATCHES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284464" y="2039112"/>
            <a:ext cx="3337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E6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Two-Signal Station Matcher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284464" y="2624328"/>
            <a:ext cx="33375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9FB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Jaro-Winkler string similarity (p = 0.10, ℓ ≤ 4) combined with a +0.12 spatial route-plausibility prior resolves noisy OCR inputs. ≥ 0.90 auto-matches, 0.60–0.90 goes to triage, below 0.60 is rejected — no more silent NDLS fallback.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257032" y="5166360"/>
            <a:ext cx="3273552" cy="914400"/>
          </a:xfrm>
          <a:prstGeom prst="roundRect">
            <a:avLst>
              <a:gd name="adj" fmla="val 6000"/>
            </a:avLst>
          </a:prstGeom>
          <a:solidFill>
            <a:srgbClr val="060B15"/>
          </a:solidFill>
          <a:ln w="9525">
            <a:solidFill>
              <a:srgbClr val="22305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8385048" y="5239512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95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"Kanpur Centrall" → 0.87 + route boost</a:t>
            </a:r>
            <a:endParaRPr lang="en-US" sz="950" dirty="0"/>
          </a:p>
          <a:p>
            <a:pPr marL="0" indent="0">
              <a:lnSpc>
                <a:spcPts val="1300"/>
              </a:lnSpc>
              <a:buNone/>
            </a:pPr>
            <a:r>
              <a:rPr lang="en-US" sz="95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CNB · Kanpur Central ✓</a:t>
            </a:r>
            <a:endParaRPr lang="en-US" sz="950" dirty="0"/>
          </a:p>
        </p:txBody>
      </p:sp>
      <p:sp>
        <p:nvSpPr>
          <p:cNvPr id="27" name="Freeform 25">
            <a:extLst>
              <a:ext uri="{FF2B5EF4-FFF2-40B4-BE49-F238E27FC236}">
                <a16:creationId xmlns:a16="http://schemas.microsoft.com/office/drawing/2014/main" id="{FC8B640A-1EB6-A85D-DD24-B9B7BD4A147E}"/>
              </a:ext>
            </a:extLst>
          </p:cNvPr>
          <p:cNvSpPr/>
          <p:nvPr/>
        </p:nvSpPr>
        <p:spPr>
          <a:xfrm>
            <a:off x="10823118" y="12357"/>
            <a:ext cx="1344168" cy="1344168"/>
          </a:xfrm>
          <a:prstGeom prst="ellipse">
            <a:avLst/>
          </a:pr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 sz="12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 COMPLEXITY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6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explainable drift score — pure math, zero black box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253935" y="6473952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RailTwin AI · Round 2 — Reconciliation: Drift Indicator</a:t>
            </a:r>
            <a:r>
              <a:rPr lang="en-US" sz="900" b="1" dirty="0">
                <a:solidFill>
                  <a:srgbClr val="9FB0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6 / 16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1371600"/>
            <a:ext cx="11183112" cy="868680"/>
          </a:xfrm>
          <a:prstGeom prst="roundRect">
            <a:avLst>
              <a:gd name="adj" fmla="val 8421"/>
            </a:avLst>
          </a:prstGeom>
          <a:solidFill>
            <a:srgbClr val="060B15"/>
          </a:solidFill>
          <a:ln w="9525">
            <a:solidFill>
              <a:srgbClr val="334368"/>
            </a:solidFill>
            <a:prstDash val="solid"/>
          </a:ln>
          <a:effectLst>
            <a:outerShdw blurRad="1016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77240" y="1371600"/>
            <a:ext cx="10607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Drift  =  </a:t>
            </a:r>
            <a:r>
              <a:rPr lang="en-US" sz="1900" b="1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0.40</a:t>
            </a:r>
            <a:r>
              <a:rPr lang="en-US" sz="19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·Schedule + </a:t>
            </a:r>
            <a:r>
              <a:rPr lang="en-US" sz="1900" b="1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0.25</a:t>
            </a:r>
            <a:r>
              <a:rPr lang="en-US" sz="19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·Position + </a:t>
            </a:r>
            <a:r>
              <a:rPr lang="en-US" sz="1900" b="1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0.20</a:t>
            </a:r>
            <a:r>
              <a:rPr lang="en-US" sz="19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·Prediction + </a:t>
            </a:r>
            <a:r>
              <a:rPr lang="en-US" sz="19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0.15</a:t>
            </a:r>
            <a:r>
              <a:rPr lang="en-US" sz="1900" dirty="0">
                <a:solidFill>
                  <a:srgbClr val="9FB0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·Weather      ∈ [0, 100]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502920" y="2487168"/>
            <a:ext cx="7818120" cy="676656"/>
          </a:xfrm>
          <a:prstGeom prst="roundRect">
            <a:avLst>
              <a:gd name="adj" fmla="val 10811"/>
            </a:avLst>
          </a:prstGeom>
          <a:solidFill>
            <a:srgbClr val="111A2E"/>
          </a:solidFill>
          <a:ln w="9525">
            <a:solidFill>
              <a:srgbClr val="223052"/>
            </a:solidFill>
            <a:prstDash val="solid"/>
          </a:ln>
          <a:effectLst>
            <a:outerShdw blurRad="1016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685800" y="2542032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7DD3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600200" y="256032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600200" y="28346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|Delay_live − Delay_baseline|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114800" y="2532888"/>
            <a:ext cx="2880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9FB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Adherence governs sectional slotting and junction line clearance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7059168" y="2532888"/>
            <a:ext cx="1188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ts val="11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45 min → 100 pts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02920" y="3273552"/>
            <a:ext cx="7818120" cy="676656"/>
          </a:xfrm>
          <a:prstGeom prst="roundRect">
            <a:avLst>
              <a:gd name="adj" fmla="val 10811"/>
            </a:avLst>
          </a:prstGeom>
          <a:solidFill>
            <a:srgbClr val="111A2E"/>
          </a:solidFill>
          <a:ln w="9525">
            <a:solidFill>
              <a:srgbClr val="223052"/>
            </a:solidFill>
            <a:prstDash val="solid"/>
          </a:ln>
          <a:effectLst>
            <a:outerShdw blurRad="1016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85800" y="3328416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1600200" y="3346704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600200" y="362102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Haversine(x_live, x_planned)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114800" y="3319272"/>
            <a:ext cx="2880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9FB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Physical distance between GPS transponder and timetable position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7059168" y="3319272"/>
            <a:ext cx="1188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ts val="11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120 km → 100 pts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02920" y="4059936"/>
            <a:ext cx="7818120" cy="676656"/>
          </a:xfrm>
          <a:prstGeom prst="roundRect">
            <a:avLst>
              <a:gd name="adj" fmla="val 10811"/>
            </a:avLst>
          </a:prstGeom>
          <a:solidFill>
            <a:srgbClr val="111A2E"/>
          </a:solidFill>
          <a:ln w="9525">
            <a:solidFill>
              <a:srgbClr val="223052"/>
            </a:solidFill>
            <a:prstDash val="solid"/>
          </a:ln>
          <a:effectLst>
            <a:outerShdw blurRad="1016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685800" y="4114800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1600200" y="413308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Prediction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600200" y="440740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 validity + Δconfidence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114800" y="4105656"/>
            <a:ext cx="2880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9FB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the ML model's environmental assumptions still hold?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059168" y="4105656"/>
            <a:ext cx="1188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ts val="11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60 + Δconf 40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02920" y="4846320"/>
            <a:ext cx="7818120" cy="676656"/>
          </a:xfrm>
          <a:prstGeom prst="roundRect">
            <a:avLst>
              <a:gd name="adj" fmla="val 10811"/>
            </a:avLst>
          </a:prstGeom>
          <a:solidFill>
            <a:srgbClr val="111A2E"/>
          </a:solidFill>
          <a:ln w="9525">
            <a:solidFill>
              <a:srgbClr val="223052"/>
            </a:solidFill>
            <a:prstDash val="solid"/>
          </a:ln>
          <a:effectLst>
            <a:outerShdw blurRad="1016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685800" y="4901184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2100" dirty="0"/>
          </a:p>
        </p:txBody>
      </p:sp>
      <p:sp>
        <p:nvSpPr>
          <p:cNvPr id="27" name="Text 25"/>
          <p:cNvSpPr/>
          <p:nvPr/>
        </p:nvSpPr>
        <p:spPr>
          <a:xfrm>
            <a:off x="1600200" y="491947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Weather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600200" y="51937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condition shift + Δprecipitation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114800" y="4892040"/>
            <a:ext cx="2880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9FB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Leading indicator of track adhesion and visibility degradation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7059168" y="4892040"/>
            <a:ext cx="1188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ts val="11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60 + Δmm 40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8549640" y="2487168"/>
            <a:ext cx="3136392" cy="3017520"/>
          </a:xfrm>
          <a:prstGeom prst="roundRect">
            <a:avLst>
              <a:gd name="adj" fmla="val 2424"/>
            </a:avLst>
          </a:prstGeom>
          <a:solidFill>
            <a:srgbClr val="182238"/>
          </a:solidFill>
          <a:ln w="9525">
            <a:solidFill>
              <a:srgbClr val="223052"/>
            </a:solidFill>
            <a:prstDash val="solid"/>
          </a:ln>
          <a:effectLst>
            <a:outerShdw blurRad="1016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8778240" y="268833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1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CORRIDOR DRIFT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778240" y="2999232"/>
            <a:ext cx="2697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Σ (Dᵢ · Pᵢ · Wᵢ)</a:t>
            </a:r>
            <a:endParaRPr lang="en-US" sz="14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─────────────</a:t>
            </a:r>
            <a:endParaRPr lang="en-US" sz="14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Σ (Pᵢ · Wᵢ)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8778240" y="4069080"/>
            <a:ext cx="269748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9FB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Passenger-exposure weighted: Pᵢ = live capacity, Wᵢ = train priority (Rajdhani 1.3, Express 1.0). A drifting Rajdhani full of passengers moves the corridor needle more than an empty freight slot.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02920" y="580644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Recomputed every 5 s on the SSE telemetry tick · deterministic pure TypeScript · 15 dedicated unit tests</a:t>
            </a:r>
            <a:endParaRPr lang="en-US" sz="1050" dirty="0"/>
          </a:p>
        </p:txBody>
      </p:sp>
      <p:sp>
        <p:nvSpPr>
          <p:cNvPr id="37" name="Freeform 25">
            <a:extLst>
              <a:ext uri="{FF2B5EF4-FFF2-40B4-BE49-F238E27FC236}">
                <a16:creationId xmlns:a16="http://schemas.microsoft.com/office/drawing/2014/main" id="{E656B8BB-8F5A-5751-89A3-936E1E19C32E}"/>
              </a:ext>
            </a:extLst>
          </p:cNvPr>
          <p:cNvSpPr/>
          <p:nvPr/>
        </p:nvSpPr>
        <p:spPr>
          <a:xfrm>
            <a:off x="10823118" y="12357"/>
            <a:ext cx="1344168" cy="1344168"/>
          </a:xfrm>
          <a:prstGeom prst="ellipse">
            <a:avLst/>
          </a:pr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 sz="12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FUNCTIONALITY &amp; RELIABILITY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6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severity bands, each with a defined operational response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253935" y="6473952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RailTwin AI · Round 2 — Reconciliation: Drift Indicator</a:t>
            </a:r>
            <a:r>
              <a:rPr lang="en-US" sz="900" b="1" dirty="0">
                <a:solidFill>
                  <a:srgbClr val="9FB0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7 / 16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1463040"/>
            <a:ext cx="2679192" cy="2834640"/>
          </a:xfrm>
          <a:prstGeom prst="roundRect">
            <a:avLst>
              <a:gd name="adj" fmla="val 2730"/>
            </a:avLst>
          </a:prstGeom>
          <a:solidFill>
            <a:srgbClr val="111A2E"/>
          </a:solidFill>
          <a:ln w="9525">
            <a:solidFill>
              <a:srgbClr val="34D399"/>
            </a:solidFill>
            <a:prstDash val="solid"/>
          </a:ln>
          <a:effectLst>
            <a:outerShdw blurRad="1016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85800" y="166420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– 24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85800" y="2331720"/>
            <a:ext cx="1600200" cy="274320"/>
          </a:xfrm>
          <a:prstGeom prst="roundRect">
            <a:avLst>
              <a:gd name="adj" fmla="val 50000"/>
            </a:avLst>
          </a:prstGeom>
          <a:solidFill>
            <a:srgbClr val="0B1220">
              <a:alpha val="80000"/>
            </a:srgbClr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685800" y="2318918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STABLE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85800" y="27249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Nominal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85800" y="3035808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9FB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 operations. Standard 5-second telemetry polling continues.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64992" y="1463040"/>
            <a:ext cx="2679192" cy="2834640"/>
          </a:xfrm>
          <a:prstGeom prst="roundRect">
            <a:avLst>
              <a:gd name="adj" fmla="val 2730"/>
            </a:avLst>
          </a:prstGeom>
          <a:solidFill>
            <a:srgbClr val="111A2E"/>
          </a:solidFill>
          <a:ln w="9525">
            <a:solidFill>
              <a:srgbClr val="FBBF24"/>
            </a:solidFill>
            <a:prstDash val="solid"/>
          </a:ln>
          <a:effectLst>
            <a:outerShdw blurRad="1016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547872" y="166420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– 49</a:t>
            </a:r>
            <a:endParaRPr lang="en-US" sz="3000" dirty="0"/>
          </a:p>
        </p:txBody>
      </p:sp>
      <p:sp>
        <p:nvSpPr>
          <p:cNvPr id="13" name="Shape 11"/>
          <p:cNvSpPr/>
          <p:nvPr/>
        </p:nvSpPr>
        <p:spPr>
          <a:xfrm>
            <a:off x="3547872" y="2331720"/>
            <a:ext cx="1600200" cy="274320"/>
          </a:xfrm>
          <a:prstGeom prst="roundRect">
            <a:avLst>
              <a:gd name="adj" fmla="val 50000"/>
            </a:avLst>
          </a:prstGeom>
          <a:solidFill>
            <a:srgbClr val="0B1220">
              <a:alpha val="80000"/>
            </a:srgbClr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3547872" y="2318918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MINOR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547872" y="27249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Advisory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547872" y="3035808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9FB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Pre-warning state. Automated conflict triage is initiated in the inbox.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27064" y="1463040"/>
            <a:ext cx="2679192" cy="2834640"/>
          </a:xfrm>
          <a:prstGeom prst="roundRect">
            <a:avLst>
              <a:gd name="adj" fmla="val 2730"/>
            </a:avLst>
          </a:prstGeom>
          <a:solidFill>
            <a:srgbClr val="111A2E"/>
          </a:solidFill>
          <a:ln w="9525">
            <a:solidFill>
              <a:srgbClr val="FB923C"/>
            </a:solidFill>
            <a:prstDash val="solid"/>
          </a:ln>
          <a:effectLst>
            <a:outerShdw blurRad="1016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409944" y="166420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– 69</a:t>
            </a:r>
            <a:endParaRPr lang="en-US" sz="3000" dirty="0"/>
          </a:p>
        </p:txBody>
      </p:sp>
      <p:sp>
        <p:nvSpPr>
          <p:cNvPr id="19" name="Shape 17"/>
          <p:cNvSpPr/>
          <p:nvPr/>
        </p:nvSpPr>
        <p:spPr>
          <a:xfrm>
            <a:off x="6409944" y="2331720"/>
            <a:ext cx="1600200" cy="274320"/>
          </a:xfrm>
          <a:prstGeom prst="roundRect">
            <a:avLst>
              <a:gd name="adj" fmla="val 50000"/>
            </a:avLst>
          </a:prstGeom>
          <a:solidFill>
            <a:srgbClr val="0B1220">
              <a:alpha val="80000"/>
            </a:srgbClr>
          </a:solidFill>
          <a:ln w="12700">
            <a:solidFill>
              <a:srgbClr val="FB923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6409944" y="2318918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B92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SIGNIFICANT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09944" y="27249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Degraded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09944" y="3035808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9FB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Sectional controller alerted. Ghost markers highlighted on the vector map.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089136" y="1463040"/>
            <a:ext cx="2679192" cy="2834640"/>
          </a:xfrm>
          <a:prstGeom prst="roundRect">
            <a:avLst>
              <a:gd name="adj" fmla="val 2730"/>
            </a:avLst>
          </a:prstGeom>
          <a:solidFill>
            <a:srgbClr val="111A2E"/>
          </a:solidFill>
          <a:ln w="19050">
            <a:solidFill>
              <a:srgbClr val="F87171"/>
            </a:solidFill>
            <a:prstDash val="solid"/>
          </a:ln>
          <a:effectLst>
            <a:outerShdw blurRad="1016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9272016" y="166420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 – 100</a:t>
            </a:r>
            <a:endParaRPr lang="en-US" sz="3000" dirty="0"/>
          </a:p>
        </p:txBody>
      </p:sp>
      <p:sp>
        <p:nvSpPr>
          <p:cNvPr id="25" name="Shape 23"/>
          <p:cNvSpPr/>
          <p:nvPr/>
        </p:nvSpPr>
        <p:spPr>
          <a:xfrm>
            <a:off x="9272016" y="2331720"/>
            <a:ext cx="1600200" cy="274320"/>
          </a:xfrm>
          <a:prstGeom prst="roundRect">
            <a:avLst>
              <a:gd name="adj" fmla="val 50000"/>
            </a:avLst>
          </a:prstGeom>
          <a:solidFill>
            <a:srgbClr val="0B1220">
              <a:alpha val="80000"/>
            </a:srgbClr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9272016" y="2318918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CRITICAL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9272016" y="27249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Severe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9272016" y="3035808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9FB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Two-tone Web Audio alarm. Gemini mitigation auto-seeded. Resolution mandatory.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02920" y="4572000"/>
            <a:ext cx="11183112" cy="1508760"/>
          </a:xfrm>
          <a:prstGeom prst="roundRect">
            <a:avLst>
              <a:gd name="adj" fmla="val 4848"/>
            </a:avLst>
          </a:prstGeom>
          <a:solidFill>
            <a:srgbClr val="060B15"/>
          </a:solidFill>
          <a:ln w="9525">
            <a:solidFill>
              <a:srgbClr val="334368"/>
            </a:solidFill>
            <a:prstDash val="solid"/>
          </a:ln>
          <a:effectLst>
            <a:outerShdw blurRad="1016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777240" y="4736592"/>
            <a:ext cx="10607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kern="0" spc="12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OPERATIONAL DESIGN CONSTANTS — CHOSEN FROM RAILWAY PRACTICE, NOT MAGIC NUMBERS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777240" y="5029200"/>
            <a:ext cx="10607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050" dirty="0">
                <a:solidFill>
                  <a:srgbClr val="9FB0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SCHEDULE_MAX 45 min — superfast slot ceiling      POSITION_MAX 120 km — junction signalling block spacing      SPATIAL_TOLERANCE 40 km — GPS/SSE jitter window</a:t>
            </a:r>
            <a:endParaRPr lang="en-US" sz="10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050" dirty="0">
                <a:solidFill>
                  <a:srgbClr val="9FB0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JW_AUTO_MATCH ≥ 0.90 · JW_REVIEW 0.60–0.90 · reject &lt; 0.60      BASELINE_EXPIRY 12 h — controller shift cycle      TICK 5000 ms</a:t>
            </a:r>
            <a:endParaRPr lang="en-US" sz="1050" dirty="0"/>
          </a:p>
        </p:txBody>
      </p:sp>
      <p:sp>
        <p:nvSpPr>
          <p:cNvPr id="33" name="Freeform 25">
            <a:extLst>
              <a:ext uri="{FF2B5EF4-FFF2-40B4-BE49-F238E27FC236}">
                <a16:creationId xmlns:a16="http://schemas.microsoft.com/office/drawing/2014/main" id="{E60318C3-CB71-7952-C651-6E2538F4B2A1}"/>
              </a:ext>
            </a:extLst>
          </p:cNvPr>
          <p:cNvSpPr/>
          <p:nvPr/>
        </p:nvSpPr>
        <p:spPr>
          <a:xfrm>
            <a:off x="10823118" y="12357"/>
            <a:ext cx="1344168" cy="1344168"/>
          </a:xfrm>
          <a:prstGeom prst="ellipse">
            <a:avLst/>
          </a:pr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 sz="12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 DEMO · KEY 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6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Drift Monitor — corridor score, per-train gauges, triage inbox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253935" y="6473952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RailTwin AI · Round 2 — Reconciliation: Drift Indicator</a:t>
            </a:r>
            <a:r>
              <a:rPr lang="en-US" sz="900" b="1" dirty="0">
                <a:solidFill>
                  <a:srgbClr val="9FB0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8 / 16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66344" y="1744229"/>
            <a:ext cx="8211312" cy="4283941"/>
          </a:xfrm>
          <a:prstGeom prst="roundRect">
            <a:avLst>
              <a:gd name="adj" fmla="val 1281"/>
            </a:avLst>
          </a:prstGeom>
          <a:solidFill>
            <a:srgbClr val="060B15"/>
          </a:solidFill>
          <a:ln w="12700">
            <a:solidFill>
              <a:srgbClr val="334368"/>
            </a:solidFill>
            <a:prstDash val="solid"/>
          </a:ln>
          <a:effectLst>
            <a:outerShdw blurRad="127000" dist="381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6" name="Image 0" descr="/tmp/shots/drift-monit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780805"/>
            <a:ext cx="8138160" cy="4210789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778240" y="1463040"/>
            <a:ext cx="2907792" cy="1115568"/>
          </a:xfrm>
          <a:prstGeom prst="roundRect">
            <a:avLst>
              <a:gd name="adj" fmla="val 6557"/>
            </a:avLst>
          </a:prstGeom>
          <a:solidFill>
            <a:srgbClr val="111A2E"/>
          </a:solidFill>
          <a:ln w="9525">
            <a:solidFill>
              <a:srgbClr val="223052"/>
            </a:solidFill>
            <a:prstDash val="solid"/>
          </a:ln>
          <a:effectLst>
            <a:outerShdw blurRad="1016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5"/>
          <p:cNvSpPr/>
          <p:nvPr/>
        </p:nvSpPr>
        <p:spPr>
          <a:xfrm>
            <a:off x="8979408" y="1645920"/>
            <a:ext cx="118872" cy="118872"/>
          </a:xfrm>
          <a:prstGeom prst="ellipse">
            <a:avLst/>
          </a:prstGeom>
          <a:solidFill>
            <a:srgbClr val="FB923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9189720" y="154533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6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Corridor gauge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9189720" y="1847088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9FB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Passenger-weighted 0–100 score with live severity pill and sparkline history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8778240" y="2706624"/>
            <a:ext cx="2907792" cy="1115568"/>
          </a:xfrm>
          <a:prstGeom prst="roundRect">
            <a:avLst>
              <a:gd name="adj" fmla="val 6557"/>
            </a:avLst>
          </a:prstGeom>
          <a:solidFill>
            <a:srgbClr val="111A2E"/>
          </a:solidFill>
          <a:ln w="9525">
            <a:solidFill>
              <a:srgbClr val="223052"/>
            </a:solidFill>
            <a:prstDash val="solid"/>
          </a:ln>
          <a:effectLst>
            <a:outerShdw blurRad="1016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8979408" y="2889504"/>
            <a:ext cx="118872" cy="118872"/>
          </a:xfrm>
          <a:prstGeom prst="ellipse">
            <a:avLst/>
          </a:prstGeom>
          <a:solidFill>
            <a:srgbClr val="7DD3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9189720" y="278892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6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 baseline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9189720" y="3090672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9FB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click snapshots the shift's recorded context across all 36 stations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8778240" y="3950208"/>
            <a:ext cx="2907792" cy="1115568"/>
          </a:xfrm>
          <a:prstGeom prst="roundRect">
            <a:avLst>
              <a:gd name="adj" fmla="val 6557"/>
            </a:avLst>
          </a:prstGeom>
          <a:solidFill>
            <a:srgbClr val="111A2E"/>
          </a:solidFill>
          <a:ln w="9525">
            <a:solidFill>
              <a:srgbClr val="223052"/>
            </a:solidFill>
            <a:prstDash val="solid"/>
          </a:ln>
          <a:effectLst>
            <a:outerShdw blurRad="1016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3"/>
          <p:cNvSpPr/>
          <p:nvPr/>
        </p:nvSpPr>
        <p:spPr>
          <a:xfrm>
            <a:off x="8979408" y="4133088"/>
            <a:ext cx="118872" cy="118872"/>
          </a:xfrm>
          <a:prstGeom prst="ellipse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9189720" y="4032504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6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Per-train rows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9189720" y="4334256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9FB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4-factor breakdown per train — see exactly why a score is what it is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8778240" y="5193792"/>
            <a:ext cx="2907792" cy="1115568"/>
          </a:xfrm>
          <a:prstGeom prst="roundRect">
            <a:avLst>
              <a:gd name="adj" fmla="val 6557"/>
            </a:avLst>
          </a:prstGeom>
          <a:solidFill>
            <a:srgbClr val="111A2E"/>
          </a:solidFill>
          <a:ln w="9525">
            <a:solidFill>
              <a:srgbClr val="223052"/>
            </a:solidFill>
            <a:prstDash val="solid"/>
          </a:ln>
          <a:effectLst>
            <a:outerShdw blurRad="1016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7"/>
          <p:cNvSpPr/>
          <p:nvPr/>
        </p:nvSpPr>
        <p:spPr>
          <a:xfrm>
            <a:off x="8979408" y="5376672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8"/>
          <p:cNvSpPr/>
          <p:nvPr/>
        </p:nvSpPr>
        <p:spPr>
          <a:xfrm>
            <a:off x="9189720" y="527608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6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Triage inbox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9189720" y="557784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9FB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conflict, duplicate and fuzzy match queued for operator arbitration</a:t>
            </a:r>
            <a:endParaRPr lang="en-US" sz="950" dirty="0"/>
          </a:p>
        </p:txBody>
      </p:sp>
      <p:sp>
        <p:nvSpPr>
          <p:cNvPr id="24" name="Freeform 25">
            <a:extLst>
              <a:ext uri="{FF2B5EF4-FFF2-40B4-BE49-F238E27FC236}">
                <a16:creationId xmlns:a16="http://schemas.microsoft.com/office/drawing/2014/main" id="{12632B40-4385-5ACB-EF15-9B312192A779}"/>
              </a:ext>
            </a:extLst>
          </p:cNvPr>
          <p:cNvSpPr/>
          <p:nvPr/>
        </p:nvSpPr>
        <p:spPr>
          <a:xfrm>
            <a:off x="10823118" y="12357"/>
            <a:ext cx="1344168" cy="1344168"/>
          </a:xfrm>
          <a:prstGeom prst="ellipse">
            <a:avLst/>
          </a:pr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 sz="12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SPATIAL DIGITAL TWIN · KEY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6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Ghost markers — the recorded plan haunts the live map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253935" y="6473952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RailTwin AI · Round 2 — Reconciliation: Drift Indicator</a:t>
            </a:r>
            <a:r>
              <a:rPr lang="en-US" sz="900" b="1" dirty="0">
                <a:solidFill>
                  <a:srgbClr val="9FB0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9 / 16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8138160" cy="3657600"/>
          </a:xfrm>
          <a:prstGeom prst="roundRect">
            <a:avLst>
              <a:gd name="adj" fmla="val 2000"/>
            </a:avLst>
          </a:prstGeom>
          <a:solidFill>
            <a:srgbClr val="060B15"/>
          </a:solidFill>
          <a:ln w="9525">
            <a:solidFill>
              <a:srgbClr val="334368"/>
            </a:solidFill>
            <a:prstDash val="solid"/>
          </a:ln>
          <a:effectLst>
            <a:outerShdw blurRad="1016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1005840" y="3977640"/>
            <a:ext cx="7223760" cy="0"/>
          </a:xfrm>
          <a:prstGeom prst="line">
            <a:avLst/>
          </a:prstGeom>
          <a:noFill/>
          <a:ln w="38100">
            <a:solidFill>
              <a:srgbClr val="3B82F6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941832" y="3913632"/>
            <a:ext cx="128016" cy="128016"/>
          </a:xfrm>
          <a:prstGeom prst="ellipse">
            <a:avLst/>
          </a:prstGeom>
          <a:solidFill>
            <a:srgbClr val="111A2E"/>
          </a:solidFill>
          <a:ln w="15875">
            <a:solidFill>
              <a:srgbClr val="9FB0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02920" y="408736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BPL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27832" y="3364992"/>
            <a:ext cx="128016" cy="128016"/>
          </a:xfrm>
          <a:prstGeom prst="ellipse">
            <a:avLst/>
          </a:prstGeom>
          <a:solidFill>
            <a:srgbClr val="111A2E"/>
          </a:solidFill>
          <a:ln w="15875">
            <a:solidFill>
              <a:srgbClr val="9FB0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2788920" y="353872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BSL storm cell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788152" y="2743200"/>
            <a:ext cx="128016" cy="128016"/>
          </a:xfrm>
          <a:prstGeom prst="ellipse">
            <a:avLst/>
          </a:prstGeom>
          <a:solidFill>
            <a:srgbClr val="111A2E"/>
          </a:solidFill>
          <a:ln w="15875">
            <a:solidFill>
              <a:srgbClr val="9FB0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5349240" y="2916936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AGC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8165592" y="2176272"/>
            <a:ext cx="128016" cy="128016"/>
          </a:xfrm>
          <a:prstGeom prst="ellipse">
            <a:avLst/>
          </a:prstGeom>
          <a:solidFill>
            <a:srgbClr val="111A2E"/>
          </a:solidFill>
          <a:ln w="15875">
            <a:solidFill>
              <a:srgbClr val="9FB0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7726680" y="235000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NDLS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743200" y="2880360"/>
            <a:ext cx="1234440" cy="1097280"/>
          </a:xfrm>
          <a:prstGeom prst="ellipse">
            <a:avLst/>
          </a:prstGeom>
          <a:solidFill>
            <a:srgbClr val="1D4ED8">
              <a:alpha val="18000"/>
            </a:srgbClr>
          </a:solidFill>
          <a:ln w="9525">
            <a:solidFill>
              <a:srgbClr val="60A5FA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2121408" y="3602736"/>
            <a:ext cx="310896" cy="310896"/>
          </a:xfrm>
          <a:prstGeom prst="ellipse">
            <a:avLst/>
          </a:prstGeom>
          <a:solidFill>
            <a:srgbClr val="F87171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1536192" y="3968496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12137 LIVE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846320" y="2944368"/>
            <a:ext cx="310896" cy="310896"/>
          </a:xfrm>
          <a:prstGeom prst="ellipse">
            <a:avLst/>
          </a:prstGeom>
          <a:solidFill>
            <a:srgbClr val="0B1220">
              <a:alpha val="60000"/>
            </a:srgbClr>
          </a:solidFill>
          <a:ln w="22225">
            <a:solidFill>
              <a:srgbClr val="7DD3FC"/>
            </a:solidFill>
            <a:prstDash val="sysDot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4224528" y="260604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◌ GHOST · PLAN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432304" y="3730752"/>
            <a:ext cx="2432304" cy="0"/>
          </a:xfrm>
          <a:prstGeom prst="line">
            <a:avLst/>
          </a:prstGeom>
          <a:noFill/>
          <a:ln w="25400">
            <a:solidFill>
              <a:srgbClr val="FB923C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2743200" y="361188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tether = +48 min of drift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806440" y="365760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182238"/>
          </a:solidFill>
          <a:ln w="9525">
            <a:solidFill>
              <a:srgbClr val="223052"/>
            </a:solidFill>
            <a:prstDash val="solid"/>
          </a:ln>
          <a:effectLst>
            <a:outerShdw blurRad="1016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5943600" y="374904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PLAN VS LIVE — 12137 PUNJAB MAIL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5943600" y="3968496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9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delay      0 min   →  +48 min</a:t>
            </a:r>
            <a:endParaRPr lang="en-US" sz="9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9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position   near AGC →  near BPL</a:t>
            </a:r>
            <a:endParaRPr lang="en-US" sz="9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9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weather    clear    →  torrential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02920" y="5349240"/>
            <a:ext cx="8138160" cy="914400"/>
          </a:xfrm>
          <a:prstGeom prst="roundRect">
            <a:avLst>
              <a:gd name="adj" fmla="val 8000"/>
            </a:avLst>
          </a:prstGeom>
          <a:solidFill>
            <a:srgbClr val="111A2E"/>
          </a:solidFill>
          <a:ln w="9525">
            <a:solidFill>
              <a:srgbClr val="223052"/>
            </a:solidFill>
            <a:prstDash val="solid"/>
          </a:ln>
          <a:effectLst>
            <a:outerShdw blurRad="1016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777240" y="5440680"/>
            <a:ext cx="7635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E6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Computed, not guessed: </a:t>
            </a:r>
            <a:r>
              <a:rPr lang="en-US" sz="1200" dirty="0">
                <a:solidFill>
                  <a:srgbClr val="9FB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ghost coordinates are interpolated along the real track geometry from the pinned timetable — verified by unit tests (“computes ghost marker spatial coordinates along track vectors”).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778240" y="1463040"/>
            <a:ext cx="2907792" cy="1115568"/>
          </a:xfrm>
          <a:prstGeom prst="roundRect">
            <a:avLst>
              <a:gd name="adj" fmla="val 6557"/>
            </a:avLst>
          </a:prstGeom>
          <a:solidFill>
            <a:srgbClr val="111A2E"/>
          </a:solidFill>
          <a:ln w="9525">
            <a:solidFill>
              <a:srgbClr val="223052"/>
            </a:solidFill>
            <a:prstDash val="solid"/>
          </a:ln>
          <a:effectLst>
            <a:outerShdw blurRad="1016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8979408" y="1645920"/>
            <a:ext cx="118872" cy="118872"/>
          </a:xfrm>
          <a:prstGeom prst="ellipse">
            <a:avLst/>
          </a:prstGeom>
          <a:solidFill>
            <a:srgbClr val="7DD3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9189720" y="154533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6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Ghost marker ◌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9189720" y="1847088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9FB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Dotted marker where the timetable says the train should be right now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8778240" y="2706624"/>
            <a:ext cx="2907792" cy="1115568"/>
          </a:xfrm>
          <a:prstGeom prst="roundRect">
            <a:avLst>
              <a:gd name="adj" fmla="val 6557"/>
            </a:avLst>
          </a:prstGeom>
          <a:solidFill>
            <a:srgbClr val="111A2E"/>
          </a:solidFill>
          <a:ln w="9525">
            <a:solidFill>
              <a:srgbClr val="223052"/>
            </a:solidFill>
            <a:prstDash val="solid"/>
          </a:ln>
          <a:effectLst>
            <a:outerShdw blurRad="1016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8979408" y="2889504"/>
            <a:ext cx="118872" cy="118872"/>
          </a:xfrm>
          <a:prstGeom prst="ellipse">
            <a:avLst/>
          </a:prstGeom>
          <a:solidFill>
            <a:srgbClr val="FB923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9189720" y="278892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6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Tether line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9189720" y="3090672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9FB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Dashed link from live train to plan position — length = visible drift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8778240" y="3950208"/>
            <a:ext cx="2907792" cy="1115568"/>
          </a:xfrm>
          <a:prstGeom prst="roundRect">
            <a:avLst>
              <a:gd name="adj" fmla="val 6557"/>
            </a:avLst>
          </a:prstGeom>
          <a:solidFill>
            <a:srgbClr val="111A2E"/>
          </a:solidFill>
          <a:ln w="9525">
            <a:solidFill>
              <a:srgbClr val="223052"/>
            </a:solidFill>
            <a:prstDash val="solid"/>
          </a:ln>
          <a:effectLst>
            <a:outerShdw blurRad="1016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8979408" y="4133088"/>
            <a:ext cx="118872" cy="118872"/>
          </a:xfrm>
          <a:prstGeom prst="ellipse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9189720" y="4032504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6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vs Live card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9189720" y="4334256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9FB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the ghost: side-by-side diff of delay, position and weather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8778240" y="5193792"/>
            <a:ext cx="2907792" cy="1115568"/>
          </a:xfrm>
          <a:prstGeom prst="roundRect">
            <a:avLst>
              <a:gd name="adj" fmla="val 6557"/>
            </a:avLst>
          </a:prstGeom>
          <a:solidFill>
            <a:srgbClr val="111A2E"/>
          </a:solidFill>
          <a:ln w="9525">
            <a:solidFill>
              <a:srgbClr val="223052"/>
            </a:solidFill>
            <a:prstDash val="solid"/>
          </a:ln>
          <a:effectLst>
            <a:outerShdw blurRad="1016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0" name="Shape 38"/>
          <p:cNvSpPr/>
          <p:nvPr/>
        </p:nvSpPr>
        <p:spPr>
          <a:xfrm>
            <a:off x="8979408" y="5376672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9189720" y="527608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6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Severity coloring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9189720" y="557784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9FB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Marker and tether escalate green → amber → red with the drift band</a:t>
            </a:r>
            <a:endParaRPr lang="en-US" sz="950" dirty="0"/>
          </a:p>
        </p:txBody>
      </p:sp>
      <p:sp>
        <p:nvSpPr>
          <p:cNvPr id="44" name="Freeform 25">
            <a:extLst>
              <a:ext uri="{FF2B5EF4-FFF2-40B4-BE49-F238E27FC236}">
                <a16:creationId xmlns:a16="http://schemas.microsoft.com/office/drawing/2014/main" id="{53975F6A-5B5D-D911-F43D-D044C9A23512}"/>
              </a:ext>
            </a:extLst>
          </p:cNvPr>
          <p:cNvSpPr/>
          <p:nvPr/>
        </p:nvSpPr>
        <p:spPr>
          <a:xfrm>
            <a:off x="10823118" y="12357"/>
            <a:ext cx="1344168" cy="1344168"/>
          </a:xfrm>
          <a:prstGeom prst="ellipse">
            <a:avLst/>
          </a:pr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 sz="12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 DEMO · TRIAGE INBOX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6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conflict queued for arbitration — and judges can add their own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253935" y="6473952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RailTwin AI · Round 2 — Reconciliation: Drift Indicator</a:t>
            </a:r>
            <a:r>
              <a:rPr lang="en-US" sz="900" b="1" dirty="0">
                <a:solidFill>
                  <a:srgbClr val="9FB0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10 / 16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66344" y="1683497"/>
            <a:ext cx="8211312" cy="4405406"/>
          </a:xfrm>
          <a:prstGeom prst="roundRect">
            <a:avLst>
              <a:gd name="adj" fmla="val 1245"/>
            </a:avLst>
          </a:prstGeom>
          <a:solidFill>
            <a:srgbClr val="060B15"/>
          </a:solidFill>
          <a:ln w="12700">
            <a:solidFill>
              <a:srgbClr val="334368"/>
            </a:solidFill>
            <a:prstDash val="solid"/>
          </a:ln>
          <a:effectLst>
            <a:outerShdw blurRad="127000" dist="381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6" name="Image 0" descr="/tmp/shots/triage-inbo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720073"/>
            <a:ext cx="8138160" cy="433225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778240" y="1463040"/>
            <a:ext cx="2907792" cy="4846320"/>
          </a:xfrm>
          <a:prstGeom prst="roundRect">
            <a:avLst>
              <a:gd name="adj" fmla="val 2516"/>
            </a:avLst>
          </a:prstGeom>
          <a:solidFill>
            <a:srgbClr val="182238"/>
          </a:solidFill>
          <a:ln w="9525">
            <a:solidFill>
              <a:srgbClr val="223052"/>
            </a:solidFill>
            <a:prstDash val="solid"/>
          </a:ln>
          <a:effectLst>
            <a:outerShdw blurRad="1016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9006840" y="16459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 IT LIVE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9006840" y="1938528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9FB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Judges can paste any malformed telemetry string: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9006840" y="2514600"/>
            <a:ext cx="2468880" cy="777240"/>
          </a:xfrm>
          <a:prstGeom prst="roundRect">
            <a:avLst>
              <a:gd name="adj" fmla="val 7059"/>
            </a:avLst>
          </a:prstGeom>
          <a:solidFill>
            <a:srgbClr val="060B15"/>
          </a:solidFill>
          <a:ln w="9525">
            <a:solidFill>
              <a:srgbClr val="22305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9116568" y="2578608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Kanpur Centrall,</a:t>
            </a:r>
            <a:endParaRPr lang="en-US" sz="10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1295l, +35m delay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9006840" y="342900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9FB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…and watch it flow through parsing → Jaro-Winkler matching → route prior → Triage Inbox in real time.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9006840" y="45720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b="1" i="1" dirty="0">
                <a:solidFill>
                  <a:srgbClr val="E6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staged inputs.</a:t>
            </a:r>
            <a:endParaRPr lang="en-US" sz="13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300" b="1" i="1" dirty="0">
                <a:solidFill>
                  <a:srgbClr val="E6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mocked pipeline.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9006840" y="525780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parser + matcher, the same code paths as the SSE feed.</a:t>
            </a:r>
            <a:endParaRPr lang="en-US" sz="1050" dirty="0"/>
          </a:p>
        </p:txBody>
      </p:sp>
      <p:sp>
        <p:nvSpPr>
          <p:cNvPr id="16" name="Freeform 25">
            <a:extLst>
              <a:ext uri="{FF2B5EF4-FFF2-40B4-BE49-F238E27FC236}">
                <a16:creationId xmlns:a16="http://schemas.microsoft.com/office/drawing/2014/main" id="{C8933349-ACF5-89CD-D5E2-CCA276E51C34}"/>
              </a:ext>
            </a:extLst>
          </p:cNvPr>
          <p:cNvSpPr/>
          <p:nvPr/>
        </p:nvSpPr>
        <p:spPr>
          <a:xfrm>
            <a:off x="10823118" y="12357"/>
            <a:ext cx="1344168" cy="1344168"/>
          </a:xfrm>
          <a:prstGeom prst="ellipse">
            <a:avLst/>
          </a:pr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 sz="12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CLOSED-LOOP RESOLUTION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6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 passive dashboard — decisions mutate the twin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253935" y="6473952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RailTwin AI · Round 2 — Reconciliation: Drift Indicator</a:t>
            </a:r>
            <a:r>
              <a:rPr lang="en-US" sz="900" b="1" dirty="0">
                <a:solidFill>
                  <a:srgbClr val="9FB0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11 / 16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1407009" y="1380744"/>
            <a:ext cx="6329983" cy="3364992"/>
          </a:xfrm>
          <a:prstGeom prst="roundRect">
            <a:avLst>
              <a:gd name="adj" fmla="val 1630"/>
            </a:avLst>
          </a:prstGeom>
          <a:solidFill>
            <a:srgbClr val="060B15"/>
          </a:solidFill>
          <a:ln w="12700">
            <a:solidFill>
              <a:srgbClr val="334368"/>
            </a:solidFill>
            <a:prstDash val="solid"/>
          </a:ln>
          <a:effectLst>
            <a:outerShdw blurRad="127000" dist="381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6" name="Image 0" descr="/tmp/shots/shift-control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3585" y="1417320"/>
            <a:ext cx="6256831" cy="32918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02920" y="4892040"/>
            <a:ext cx="3675888" cy="1371600"/>
          </a:xfrm>
          <a:prstGeom prst="roundRect">
            <a:avLst>
              <a:gd name="adj" fmla="val 5333"/>
            </a:avLst>
          </a:prstGeom>
          <a:solidFill>
            <a:srgbClr val="111A2E"/>
          </a:solidFill>
          <a:ln w="9525">
            <a:solidFill>
              <a:srgbClr val="223052"/>
            </a:solidFill>
            <a:prstDash val="solid"/>
          </a:ln>
          <a:effectLst>
            <a:outerShdw blurRad="1016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704088" y="50292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ACCEPT LIVE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04088" y="5321808"/>
            <a:ext cx="3401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9FB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Re-anchor the plan to reality: baseline adopts live delay + coordinates. Drift collapses to Stable, tether vanishes, chime confirms.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279392" y="4892040"/>
            <a:ext cx="3675888" cy="1371600"/>
          </a:xfrm>
          <a:prstGeom prst="roundRect">
            <a:avLst>
              <a:gd name="adj" fmla="val 5333"/>
            </a:avLst>
          </a:prstGeom>
          <a:solidFill>
            <a:srgbClr val="111A2E"/>
          </a:solidFill>
          <a:ln w="9525">
            <a:solidFill>
              <a:srgbClr val="223052"/>
            </a:solidFill>
            <a:prstDash val="solid"/>
          </a:ln>
          <a:effectLst>
            <a:outerShdw blurRad="1016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4480560" y="50292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◉ KEEP BASELINE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480560" y="5321808"/>
            <a:ext cx="3401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9FB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the recorded context: live feed flagged as suspect, drift stays visible until telemetry agrees.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055864" y="4892040"/>
            <a:ext cx="3675888" cy="1371600"/>
          </a:xfrm>
          <a:prstGeom prst="roundRect">
            <a:avLst>
              <a:gd name="adj" fmla="val 5333"/>
            </a:avLst>
          </a:prstGeom>
          <a:solidFill>
            <a:srgbClr val="111A2E"/>
          </a:solidFill>
          <a:ln w="9525">
            <a:solidFill>
              <a:srgbClr val="223052"/>
            </a:solidFill>
            <a:prstDash val="solid"/>
          </a:ln>
          <a:effectLst>
            <a:outerShdw blurRad="1016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8257032" y="50292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⇄ MERGE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257032" y="5321808"/>
            <a:ext cx="3401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9FB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Field-by-field arbitration for weather conflicts and partial matches — operator picks per-signal winners.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8778240" y="1463040"/>
            <a:ext cx="2907792" cy="3200400"/>
          </a:xfrm>
          <a:prstGeom prst="roundRect">
            <a:avLst>
              <a:gd name="adj" fmla="val 2516"/>
            </a:avLst>
          </a:prstGeom>
          <a:solidFill>
            <a:srgbClr val="182238"/>
          </a:solidFill>
          <a:ln w="9525">
            <a:solidFill>
              <a:srgbClr val="223052"/>
            </a:solidFill>
            <a:prstDash val="solid"/>
          </a:ln>
          <a:effectLst>
            <a:outerShdw blurRad="1016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9006840" y="16459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kern="0" spc="12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EVERY DECISION AUDITED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9006840" y="1965960"/>
            <a:ext cx="251460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4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E6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 WAL audit trail of every operator action</a:t>
            </a:r>
            <a:endParaRPr lang="en-US" sz="1050" dirty="0"/>
          </a:p>
          <a:p>
            <a:pPr marL="342900" indent="-342900">
              <a:lnSpc>
                <a:spcPts val="14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E6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1-click Shift Handover briefing — Markdown + print-ready PDF</a:t>
            </a:r>
            <a:endParaRPr lang="en-US" sz="1050" dirty="0"/>
          </a:p>
          <a:p>
            <a:pPr marL="342900" indent="-342900">
              <a:lnSpc>
                <a:spcPts val="14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E6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Covers baseline diffs, peak drift, zone signal integrity, resolutions taken</a:t>
            </a:r>
            <a:endParaRPr lang="en-US" sz="1050" dirty="0"/>
          </a:p>
          <a:p>
            <a:pPr marL="342900" indent="-342900">
              <a:lnSpc>
                <a:spcPts val="1400"/>
              </a:lnSpc>
              <a:buSzPct val="100000"/>
              <a:buChar char="•"/>
            </a:pPr>
            <a:r>
              <a:rPr lang="en-US" sz="1050" dirty="0">
                <a:solidFill>
                  <a:srgbClr val="E6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 snapshots persisted across server DB and browser storage</a:t>
            </a:r>
            <a:endParaRPr lang="en-US" sz="1050" dirty="0"/>
          </a:p>
        </p:txBody>
      </p:sp>
      <p:sp>
        <p:nvSpPr>
          <p:cNvPr id="20" name="Freeform 25">
            <a:extLst>
              <a:ext uri="{FF2B5EF4-FFF2-40B4-BE49-F238E27FC236}">
                <a16:creationId xmlns:a16="http://schemas.microsoft.com/office/drawing/2014/main" id="{FF513B8E-80D0-3FEB-9220-80BEE3E6AA35}"/>
              </a:ext>
            </a:extLst>
          </p:cNvPr>
          <p:cNvSpPr/>
          <p:nvPr/>
        </p:nvSpPr>
        <p:spPr>
          <a:xfrm>
            <a:off x="10823118" y="12357"/>
            <a:ext cx="1344168" cy="1344168"/>
          </a:xfrm>
          <a:prstGeom prst="ellipse">
            <a:avLst/>
          </a:pr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 sz="12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INNOVATION &amp; CREATIVITY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6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deterministic 60-second replay, built for judging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253935" y="6473952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RailTwin AI · Round 2 — Reconciliation: Drift Indicator</a:t>
            </a:r>
            <a:r>
              <a:rPr lang="en-US" sz="900" b="1" dirty="0">
                <a:solidFill>
                  <a:srgbClr val="9FB0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12 / 16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132588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dirty="0">
                <a:solidFill>
                  <a:srgbClr val="9FB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disruption, every run. No waiting for luck to produce drift — the replay injects a scripted monsoon scenario through the real pipeline.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2743200"/>
            <a:ext cx="9966960" cy="0"/>
          </a:xfrm>
          <a:prstGeom prst="line">
            <a:avLst/>
          </a:prstGeom>
          <a:noFill/>
          <a:ln w="25400">
            <a:solidFill>
              <a:srgbClr val="22305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713232" y="2679192"/>
            <a:ext cx="128016" cy="128016"/>
          </a:xfrm>
          <a:prstGeom prst="ellipse">
            <a:avLst/>
          </a:prstGeom>
          <a:solidFill>
            <a:srgbClr val="34D39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274320" y="1783080"/>
            <a:ext cx="1737360" cy="1051560"/>
          </a:xfrm>
          <a:prstGeom prst="roundRect">
            <a:avLst>
              <a:gd name="adj" fmla="val 6957"/>
            </a:avLst>
          </a:prstGeom>
          <a:solidFill>
            <a:srgbClr val="111A2E"/>
          </a:solidFill>
          <a:ln w="9525">
            <a:solidFill>
              <a:srgbClr val="223052"/>
            </a:solidFill>
            <a:prstDash val="solid"/>
          </a:ln>
          <a:effectLst>
            <a:outerShdw blurRad="1016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93192" y="1837944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 = 0 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93192" y="2057400"/>
            <a:ext cx="1536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E6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 pinned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93192" y="2331720"/>
            <a:ext cx="15361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000"/>
              </a:lnSpc>
              <a:buNone/>
            </a:pPr>
            <a:r>
              <a:rPr lang="en-US" sz="800" dirty="0">
                <a:solidFill>
                  <a:srgbClr val="9FB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Corridor 0/100 · STABLE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350008" y="2679192"/>
            <a:ext cx="128016" cy="128016"/>
          </a:xfrm>
          <a:prstGeom prst="ellipse">
            <a:avLst/>
          </a:prstGeom>
          <a:solidFill>
            <a:srgbClr val="FBBF2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1911096" y="3017520"/>
            <a:ext cx="1737360" cy="1051560"/>
          </a:xfrm>
          <a:prstGeom prst="roundRect">
            <a:avLst>
              <a:gd name="adj" fmla="val 6957"/>
            </a:avLst>
          </a:prstGeom>
          <a:solidFill>
            <a:srgbClr val="111A2E"/>
          </a:solidFill>
          <a:ln w="9525">
            <a:solidFill>
              <a:srgbClr val="223052"/>
            </a:solidFill>
            <a:prstDash val="solid"/>
          </a:ln>
          <a:effectLst>
            <a:outerShdw blurRad="1016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2029968" y="3072384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 = 8 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029968" y="3291840"/>
            <a:ext cx="1536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E6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Weather conflict @ Bhusaval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029968" y="3566160"/>
            <a:ext cx="15361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000"/>
              </a:lnSpc>
              <a:buNone/>
            </a:pPr>
            <a:r>
              <a:rPr lang="en-US" sz="800" dirty="0">
                <a:solidFill>
                  <a:srgbClr val="9FB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Open-Meteo: torrential rain · OWM: clear → triage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986784" y="2679192"/>
            <a:ext cx="128016" cy="128016"/>
          </a:xfrm>
          <a:prstGeom prst="ellipse">
            <a:avLst/>
          </a:prstGeom>
          <a:solidFill>
            <a:srgbClr val="FBBF2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3547872" y="1783080"/>
            <a:ext cx="1737360" cy="1051560"/>
          </a:xfrm>
          <a:prstGeom prst="roundRect">
            <a:avLst>
              <a:gd name="adj" fmla="val 6957"/>
            </a:avLst>
          </a:prstGeom>
          <a:solidFill>
            <a:srgbClr val="111A2E"/>
          </a:solidFill>
          <a:ln w="9525">
            <a:solidFill>
              <a:srgbClr val="223052"/>
            </a:solidFill>
            <a:prstDash val="solid"/>
          </a:ln>
          <a:effectLst>
            <a:outerShdw blurRad="1016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666744" y="1837944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 = 18 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666744" y="2057400"/>
            <a:ext cx="1536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E6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Punjab Mail +28 min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666744" y="2331720"/>
            <a:ext cx="15361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000"/>
              </a:lnSpc>
              <a:buNone/>
            </a:pPr>
            <a:r>
              <a:rPr lang="en-US" sz="800" dirty="0">
                <a:solidFill>
                  <a:srgbClr val="9FB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 hold-ups inside the storm cell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5623560" y="2679192"/>
            <a:ext cx="128016" cy="128016"/>
          </a:xfrm>
          <a:prstGeom prst="ellipse">
            <a:avLst/>
          </a:prstGeom>
          <a:solidFill>
            <a:srgbClr val="FB923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5184648" y="3017520"/>
            <a:ext cx="1737360" cy="1051560"/>
          </a:xfrm>
          <a:prstGeom prst="roundRect">
            <a:avLst>
              <a:gd name="adj" fmla="val 6957"/>
            </a:avLst>
          </a:prstGeom>
          <a:solidFill>
            <a:srgbClr val="111A2E"/>
          </a:solidFill>
          <a:ln w="9525">
            <a:solidFill>
              <a:srgbClr val="223052"/>
            </a:solidFill>
            <a:prstDash val="solid"/>
          </a:ln>
          <a:effectLst>
            <a:outerShdw blurRad="1016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5303520" y="3072384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B92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 = 30 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303520" y="3291840"/>
            <a:ext cx="1536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E6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Drift crosses 50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303520" y="3566160"/>
            <a:ext cx="15361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000"/>
              </a:lnSpc>
              <a:buNone/>
            </a:pPr>
            <a:r>
              <a:rPr lang="en-US" sz="800" dirty="0">
                <a:solidFill>
                  <a:srgbClr val="9FB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SIGNIFICANT — ghost markers highlighted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7260336" y="2679192"/>
            <a:ext cx="128016" cy="128016"/>
          </a:xfrm>
          <a:prstGeom prst="ellipse">
            <a:avLst/>
          </a:prstGeom>
          <a:solidFill>
            <a:srgbClr val="FB923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6821424" y="1783080"/>
            <a:ext cx="1737360" cy="1051560"/>
          </a:xfrm>
          <a:prstGeom prst="roundRect">
            <a:avLst>
              <a:gd name="adj" fmla="val 6957"/>
            </a:avLst>
          </a:prstGeom>
          <a:solidFill>
            <a:srgbClr val="111A2E"/>
          </a:solidFill>
          <a:ln w="9525">
            <a:solidFill>
              <a:srgbClr val="223052"/>
            </a:solidFill>
            <a:prstDash val="solid"/>
          </a:ln>
          <a:effectLst>
            <a:outerShdw blurRad="1016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6940296" y="1837944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B92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 = 44 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940296" y="2057400"/>
            <a:ext cx="1536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E6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Duplicate NTES packet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940296" y="2331720"/>
            <a:ext cx="15361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000"/>
              </a:lnSpc>
              <a:buNone/>
            </a:pPr>
            <a:r>
              <a:rPr lang="en-US" sz="800" dirty="0">
                <a:solidFill>
                  <a:srgbClr val="9FB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Kerala Express clashing coords — flagged, twin intact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8897112" y="2679192"/>
            <a:ext cx="128016" cy="128016"/>
          </a:xfrm>
          <a:prstGeom prst="ellipse">
            <a:avLst/>
          </a:prstGeom>
          <a:solidFill>
            <a:srgbClr val="F8717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8458200" y="3017520"/>
            <a:ext cx="1737360" cy="1051560"/>
          </a:xfrm>
          <a:prstGeom prst="roundRect">
            <a:avLst>
              <a:gd name="adj" fmla="val 6957"/>
            </a:avLst>
          </a:prstGeom>
          <a:solidFill>
            <a:srgbClr val="111A2E"/>
          </a:solidFill>
          <a:ln w="9525">
            <a:solidFill>
              <a:srgbClr val="223052"/>
            </a:solidFill>
            <a:prstDash val="solid"/>
          </a:ln>
          <a:effectLst>
            <a:outerShdw blurRad="1016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8577072" y="3072384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 = 50 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8577072" y="3291840"/>
            <a:ext cx="1536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E6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Punjab Mail +48 min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8577072" y="3566160"/>
            <a:ext cx="15361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000"/>
              </a:lnSpc>
              <a:buNone/>
            </a:pPr>
            <a:r>
              <a:rPr lang="en-US" sz="800" dirty="0">
                <a:solidFill>
                  <a:srgbClr val="9FB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≥ 70 — two-tone alarm sounds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10533888" y="2679192"/>
            <a:ext cx="128016" cy="128016"/>
          </a:xfrm>
          <a:prstGeom prst="ellipse">
            <a:avLst/>
          </a:prstGeom>
          <a:solidFill>
            <a:srgbClr val="34D39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Shape 36"/>
          <p:cNvSpPr/>
          <p:nvPr/>
        </p:nvSpPr>
        <p:spPr>
          <a:xfrm>
            <a:off x="10094976" y="1783080"/>
            <a:ext cx="1737360" cy="1051560"/>
          </a:xfrm>
          <a:prstGeom prst="roundRect">
            <a:avLst>
              <a:gd name="adj" fmla="val 6957"/>
            </a:avLst>
          </a:prstGeom>
          <a:solidFill>
            <a:srgbClr val="111A2E"/>
          </a:solidFill>
          <a:ln w="9525">
            <a:solidFill>
              <a:srgbClr val="223052"/>
            </a:solidFill>
            <a:prstDash val="solid"/>
          </a:ln>
          <a:effectLst>
            <a:outerShdw blurRad="1016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10213848" y="1837944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 = 60 s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213848" y="2057400"/>
            <a:ext cx="1536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E6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Operator resolves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10213848" y="2331720"/>
            <a:ext cx="15361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000"/>
              </a:lnSpc>
              <a:buNone/>
            </a:pPr>
            <a:r>
              <a:rPr lang="en-US" sz="800" dirty="0">
                <a:solidFill>
                  <a:srgbClr val="9FB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 Live → back to STABLE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502920" y="4526280"/>
            <a:ext cx="5440680" cy="1600200"/>
          </a:xfrm>
          <a:prstGeom prst="roundRect">
            <a:avLst>
              <a:gd name="adj" fmla="val 4571"/>
            </a:avLst>
          </a:prstGeom>
          <a:solidFill>
            <a:srgbClr val="182238"/>
          </a:solidFill>
          <a:ln w="9525">
            <a:solidFill>
              <a:srgbClr val="223052"/>
            </a:solidFill>
            <a:prstDash val="solid"/>
          </a:ln>
          <a:effectLst>
            <a:outerShdw blurRad="1016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777240" y="4709160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1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THE 3-MINUTE PITCH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777240" y="502920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200" b="1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?demo=replay</a:t>
            </a:r>
            <a:r>
              <a:rPr lang="en-US" sz="1200" dirty="0">
                <a:solidFill>
                  <a:srgbClr val="9FB0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full 60-second cinematic run</a:t>
            </a:r>
            <a:endParaRPr lang="en-US" sz="12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2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?demo=replay&amp;fast=1</a:t>
            </a:r>
            <a:r>
              <a:rPr lang="en-US" sz="1200" dirty="0">
                <a:solidFill>
                  <a:srgbClr val="9FB0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⚡ 18-second fast mode for tight judging slots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6263640" y="4526280"/>
            <a:ext cx="5422392" cy="1600200"/>
          </a:xfrm>
          <a:prstGeom prst="roundRect">
            <a:avLst>
              <a:gd name="adj" fmla="val 4571"/>
            </a:avLst>
          </a:prstGeom>
          <a:solidFill>
            <a:srgbClr val="182238"/>
          </a:solidFill>
          <a:ln w="9525">
            <a:solidFill>
              <a:srgbClr val="223052"/>
            </a:solidFill>
            <a:prstDash val="solid"/>
          </a:ln>
          <a:effectLst>
            <a:outerShdw blurRad="1016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6537960" y="4709160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1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IT'S NOVEL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537960" y="5010912"/>
            <a:ext cx="4892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replay is not a video — it feeds scripted telemetry through the identical reconciler and drift engine that live SSE data uses. Judges see the real system react, deterministically, in either 60 or 18 seconds.</a:t>
            </a:r>
            <a:endParaRPr lang="en-US" sz="1200" dirty="0"/>
          </a:p>
        </p:txBody>
      </p:sp>
      <p:sp>
        <p:nvSpPr>
          <p:cNvPr id="49" name="Freeform 25">
            <a:extLst>
              <a:ext uri="{FF2B5EF4-FFF2-40B4-BE49-F238E27FC236}">
                <a16:creationId xmlns:a16="http://schemas.microsoft.com/office/drawing/2014/main" id="{49C2CE66-65D2-529B-9CC4-457C6A06038D}"/>
              </a:ext>
            </a:extLst>
          </p:cNvPr>
          <p:cNvSpPr/>
          <p:nvPr/>
        </p:nvSpPr>
        <p:spPr>
          <a:xfrm>
            <a:off x="10823118" y="12357"/>
            <a:ext cx="1344168" cy="1344168"/>
          </a:xfrm>
          <a:prstGeom prst="ellipse">
            <a:avLst/>
          </a:pr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 sz="12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ROUND 1 → ROUND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6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weakness of the MVP, answered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253935" y="6473952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RailTwin AI · Round 2 — Reconciliation: Drift Indicator</a:t>
            </a:r>
            <a:r>
              <a:rPr lang="en-US" sz="900" b="1" dirty="0">
                <a:solidFill>
                  <a:srgbClr val="9FB0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13 / 16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108960" y="129844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ROUND 1 (MVP)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858000" y="1298448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ROUND 2 (RECONCILIATION &amp; DRIFT)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02920" y="1627632"/>
            <a:ext cx="11183112" cy="466344"/>
          </a:xfrm>
          <a:prstGeom prst="rect">
            <a:avLst/>
          </a:prstGeom>
          <a:solidFill>
            <a:srgbClr val="111A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685800" y="1627632"/>
            <a:ext cx="233172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6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Unknown stations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108960" y="1627632"/>
            <a:ext cx="356616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Silent fallback to NDLS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858000" y="1627632"/>
            <a:ext cx="470916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FB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Two-Signal Matcher: Jaro-Winkler + spatial route prior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85800" y="2093976"/>
            <a:ext cx="233172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6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feeds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108960" y="2093976"/>
            <a:ext cx="356616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trusted feed assumed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858000" y="2093976"/>
            <a:ext cx="470916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FB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Dual-source weather arbitration + stream deduplication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02920" y="2560320"/>
            <a:ext cx="11183112" cy="466344"/>
          </a:xfrm>
          <a:prstGeom prst="rect">
            <a:avLst/>
          </a:prstGeom>
          <a:solidFill>
            <a:srgbClr val="111A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685800" y="2560320"/>
            <a:ext cx="233172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6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108960" y="2560320"/>
            <a:ext cx="356616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Static timetable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858000" y="2560320"/>
            <a:ext cx="470916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FB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Immutable shift snapshots (SQLite WAL + browser storage)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85800" y="3026664"/>
            <a:ext cx="233172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6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Drift awareness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108960" y="3026664"/>
            <a:ext cx="356616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None — divergence invisible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858000" y="3026664"/>
            <a:ext cx="470916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FB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4-factor 0–100 engine, passenger-weighted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02920" y="3493008"/>
            <a:ext cx="11183112" cy="466344"/>
          </a:xfrm>
          <a:prstGeom prst="rect">
            <a:avLst/>
          </a:prstGeom>
          <a:solidFill>
            <a:srgbClr val="111A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85800" y="3493008"/>
            <a:ext cx="233172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6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3108960" y="3493008"/>
            <a:ext cx="356616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markers only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858000" y="3493008"/>
            <a:ext cx="470916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FB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Ghost plan markers ◌ + tether lines + Plan-vs-Live diff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85800" y="3959352"/>
            <a:ext cx="233172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6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Operator role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3108960" y="3959352"/>
            <a:ext cx="356616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Passive read-only viewing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858000" y="3959352"/>
            <a:ext cx="470916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FB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Closed-loop Accept Live / Keep Baseline / Merge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02920" y="4425696"/>
            <a:ext cx="11183112" cy="466344"/>
          </a:xfrm>
          <a:prstGeom prst="rect">
            <a:avLst/>
          </a:prstGeom>
          <a:solidFill>
            <a:srgbClr val="111A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685800" y="4425696"/>
            <a:ext cx="233172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6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Alerting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3108960" y="4425696"/>
            <a:ext cx="356616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banners only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858000" y="4425696"/>
            <a:ext cx="470916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FB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Audio two-tone critical alarm + resolution chime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85800" y="4892040"/>
            <a:ext cx="233172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6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3108960" y="4892040"/>
            <a:ext cx="356616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Ephemeral browser state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858000" y="4892040"/>
            <a:ext cx="470916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FB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 WAL trail + 1-click handover .md / PDF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02920" y="5358384"/>
            <a:ext cx="11183112" cy="466344"/>
          </a:xfrm>
          <a:prstGeom prst="rect">
            <a:avLst/>
          </a:prstGeom>
          <a:solidFill>
            <a:srgbClr val="111A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685800" y="5358384"/>
            <a:ext cx="233172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6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3108960" y="5358384"/>
            <a:ext cx="356616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standard demo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6858000" y="5358384"/>
            <a:ext cx="470916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FB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 60 s replay + ⚡ 18 s fast mode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685800" y="5824728"/>
            <a:ext cx="233172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6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Verification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3108960" y="5824728"/>
            <a:ext cx="356616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browser checks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6858000" y="5824728"/>
            <a:ext cx="470916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FB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 / 48 Vitest unit + store integration tests</a:t>
            </a:r>
            <a:endParaRPr lang="en-US" sz="1050" dirty="0"/>
          </a:p>
        </p:txBody>
      </p:sp>
      <p:sp>
        <p:nvSpPr>
          <p:cNvPr id="43" name="Freeform 25">
            <a:extLst>
              <a:ext uri="{FF2B5EF4-FFF2-40B4-BE49-F238E27FC236}">
                <a16:creationId xmlns:a16="http://schemas.microsoft.com/office/drawing/2014/main" id="{6A814F3F-B00B-E765-D666-1F8587B4B566}"/>
              </a:ext>
            </a:extLst>
          </p:cNvPr>
          <p:cNvSpPr/>
          <p:nvPr/>
        </p:nvSpPr>
        <p:spPr>
          <a:xfrm>
            <a:off x="10823118" y="12357"/>
            <a:ext cx="1344168" cy="1344168"/>
          </a:xfrm>
          <a:prstGeom prst="ellipse">
            <a:avLst/>
          </a:pr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 sz="12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TECHNICAL EXECUTION &amp; 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6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 pure core, probabilistic edges, tested throughout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253935" y="6473952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RailTwin AI · Round 2 — Reconciliation: Drift Indicator</a:t>
            </a:r>
            <a:r>
              <a:rPr lang="en-US" sz="900" b="1" dirty="0">
                <a:solidFill>
                  <a:srgbClr val="9FB0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14 / 16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6720840" cy="841248"/>
          </a:xfrm>
          <a:prstGeom prst="roundRect">
            <a:avLst>
              <a:gd name="adj" fmla="val 8696"/>
            </a:avLst>
          </a:prstGeom>
          <a:solidFill>
            <a:srgbClr val="111A2E"/>
          </a:solidFill>
          <a:ln w="9525">
            <a:solidFill>
              <a:srgbClr val="223052"/>
            </a:solidFill>
            <a:prstDash val="solid"/>
          </a:ln>
          <a:effectLst>
            <a:outerShdw blurRad="1016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31520" y="1508760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 — Astro SSR · React 19 · Tailwind v4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31520" y="1801368"/>
            <a:ext cx="6309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FB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MapLibre ghosts ◌ · Recharts panels · Copilot &amp; triage chips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566160" y="2167128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2386584"/>
            <a:ext cx="6720840" cy="841248"/>
          </a:xfrm>
          <a:prstGeom prst="roundRect">
            <a:avLst>
              <a:gd name="adj" fmla="val 8696"/>
            </a:avLst>
          </a:prstGeom>
          <a:solidFill>
            <a:srgbClr val="111A2E"/>
          </a:solidFill>
          <a:ln w="9525">
            <a:solidFill>
              <a:srgbClr val="223052"/>
            </a:solidFill>
            <a:prstDash val="solid"/>
          </a:ln>
          <a:effectLst>
            <a:outerShdw blurRad="1016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731520" y="2478024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 — Zustand v5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770632"/>
            <a:ext cx="6309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FB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demoStore + driftStore · SSE telemetry ticks every 5 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566160" y="3136392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2920" y="3355848"/>
            <a:ext cx="6720840" cy="841248"/>
          </a:xfrm>
          <a:prstGeom prst="roundRect">
            <a:avLst>
              <a:gd name="adj" fmla="val 8696"/>
            </a:avLst>
          </a:prstGeom>
          <a:solidFill>
            <a:srgbClr val="111A2E"/>
          </a:solidFill>
          <a:ln w="9525">
            <a:solidFill>
              <a:srgbClr val="223052"/>
            </a:solidFill>
            <a:prstDash val="solid"/>
          </a:ln>
          <a:effectLst>
            <a:outerShdw blurRad="1016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731520" y="3447288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PURE LOGIC — deterministic TypeScript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31520" y="3739896"/>
            <a:ext cx="6309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FB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drift-engine · reconciler (Jaro-Winkler, dedup, arbitration) · ML ridge regression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566160" y="410565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02920" y="4325112"/>
            <a:ext cx="6720840" cy="841248"/>
          </a:xfrm>
          <a:prstGeom prst="roundRect">
            <a:avLst>
              <a:gd name="adj" fmla="val 8696"/>
            </a:avLst>
          </a:prstGeom>
          <a:solidFill>
            <a:srgbClr val="111A2E"/>
          </a:solidFill>
          <a:ln w="9525">
            <a:solidFill>
              <a:srgbClr val="223052"/>
            </a:solidFill>
            <a:prstDash val="solid"/>
          </a:ln>
          <a:effectLst>
            <a:outerShdw blurRad="1016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731520" y="4416552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 &amp; PERSISTENCE — 18 Astro endpoints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31520" y="4709160"/>
            <a:ext cx="6309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FB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 WAL · /api/baseline · /api/reconciliation · SSE stream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566160" y="5074920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02920" y="5294376"/>
            <a:ext cx="6720840" cy="841248"/>
          </a:xfrm>
          <a:prstGeom prst="roundRect">
            <a:avLst>
              <a:gd name="adj" fmla="val 8696"/>
            </a:avLst>
          </a:prstGeom>
          <a:solidFill>
            <a:srgbClr val="111A2E"/>
          </a:solidFill>
          <a:ln w="9525">
            <a:solidFill>
              <a:srgbClr val="223052"/>
            </a:solidFill>
            <a:prstDash val="solid"/>
          </a:ln>
          <a:effectLst>
            <a:outerShdw blurRad="1016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731520" y="5385816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B92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EXTERNAL — graceful fallback everywhere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31520" y="5678424"/>
            <a:ext cx="6309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FB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OpenWeatherMap → Open-Meteo → seasonal · Gemini 2.0 → 2.5 Flash · NTES-ready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498080" y="1417320"/>
            <a:ext cx="4206240" cy="4709160"/>
          </a:xfrm>
          <a:prstGeom prst="roundRect">
            <a:avLst>
              <a:gd name="adj" fmla="val 1739"/>
            </a:avLst>
          </a:prstGeom>
          <a:solidFill>
            <a:srgbClr val="182238"/>
          </a:solidFill>
          <a:ln w="9525">
            <a:solidFill>
              <a:srgbClr val="223052"/>
            </a:solidFill>
            <a:prstDash val="solid"/>
          </a:ln>
          <a:effectLst>
            <a:outerShdw blurRad="1016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7726680" y="16002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PROOF, NOT PROMISES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726680" y="192024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 / 48</a:t>
            </a:r>
            <a:endParaRPr lang="en-US" sz="4600" dirty="0"/>
          </a:p>
        </p:txBody>
      </p:sp>
      <p:sp>
        <p:nvSpPr>
          <p:cNvPr id="27" name="Text 25"/>
          <p:cNvSpPr/>
          <p:nvPr/>
        </p:nvSpPr>
        <p:spPr>
          <a:xfrm>
            <a:off x="7726680" y="2651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B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Vitest unit &amp; store integration tests passing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726680" y="3063240"/>
            <a:ext cx="37490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4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E6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drift-engine tests — weights, ceilings, severity transitions, ghost coordinates, corrupted packets</a:t>
            </a:r>
            <a:endParaRPr lang="en-US" sz="1050" dirty="0"/>
          </a:p>
          <a:p>
            <a:pPr marL="342900" indent="-342900">
              <a:lnSpc>
                <a:spcPts val="14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E6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 reconciler tests — OCR typo matching, route priors, dedup, weather divergence, merge rules</a:t>
            </a:r>
            <a:endParaRPr lang="en-US" sz="1050" dirty="0"/>
          </a:p>
          <a:p>
            <a:pPr marL="342900" indent="-342900">
              <a:lnSpc>
                <a:spcPts val="14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E6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store tests — baseline pinning, SSE score updates, closed-loop re-anchoring, replay, exports</a:t>
            </a:r>
            <a:endParaRPr lang="en-US" sz="1050" dirty="0"/>
          </a:p>
          <a:p>
            <a:pPr marL="342900" indent="-342900">
              <a:lnSpc>
                <a:spcPts val="1400"/>
              </a:lnSpc>
              <a:buSzPct val="100000"/>
              <a:buChar char="•"/>
            </a:pPr>
            <a:r>
              <a:rPr lang="en-US" sz="1050" dirty="0">
                <a:solidFill>
                  <a:srgbClr val="E6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O(T×C) scoring: &lt; 15 ms CPU for all 13,000 IR trains — partitioned by trainId/zone for Kafka/Flink scale-out</a:t>
            </a:r>
            <a:endParaRPr lang="en-US" sz="1050" dirty="0"/>
          </a:p>
        </p:txBody>
      </p:sp>
      <p:sp>
        <p:nvSpPr>
          <p:cNvPr id="30" name="Freeform 25">
            <a:extLst>
              <a:ext uri="{FF2B5EF4-FFF2-40B4-BE49-F238E27FC236}">
                <a16:creationId xmlns:a16="http://schemas.microsoft.com/office/drawing/2014/main" id="{BD027A4F-397E-9E85-000C-64D649DF4078}"/>
              </a:ext>
            </a:extLst>
          </p:cNvPr>
          <p:cNvSpPr/>
          <p:nvPr/>
        </p:nvSpPr>
        <p:spPr>
          <a:xfrm>
            <a:off x="10823118" y="12357"/>
            <a:ext cx="1344168" cy="1344168"/>
          </a:xfrm>
          <a:prstGeom prst="ellipse">
            <a:avLst/>
          </a:pr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 sz="12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JUDGING PARAMETERS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6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Scorecard mapping — where to look for each criterion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253935" y="6473952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RailTwin AI · Round 2 — Reconciliation: Drift Indicator</a:t>
            </a:r>
            <a:r>
              <a:rPr lang="en-US" sz="900" b="1" dirty="0">
                <a:solidFill>
                  <a:srgbClr val="9FB0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15 / 16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5559552" cy="1225296"/>
          </a:xfrm>
          <a:prstGeom prst="roundRect">
            <a:avLst>
              <a:gd name="adj" fmla="val 5970"/>
            </a:avLst>
          </a:prstGeom>
          <a:solidFill>
            <a:srgbClr val="111A2E"/>
          </a:solidFill>
          <a:ln w="9525">
            <a:solidFill>
              <a:srgbClr val="223052"/>
            </a:solidFill>
            <a:prstDash val="solid"/>
          </a:ln>
          <a:effectLst>
            <a:outerShdw blurRad="1016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722376" y="1636776"/>
            <a:ext cx="128016" cy="128016"/>
          </a:xfrm>
          <a:prstGeom prst="ellipse">
            <a:avLst/>
          </a:prstGeom>
          <a:solidFill>
            <a:srgbClr val="34D39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960120" y="1527048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E6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implementation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960120" y="1847088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50" dirty="0">
                <a:solidFill>
                  <a:srgbClr val="9FB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Conflicting, duplicate &amp; partial data all handled end-to-end; drift vs recorded context is the product's core loop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245352" y="1417320"/>
            <a:ext cx="5559552" cy="1225296"/>
          </a:xfrm>
          <a:prstGeom prst="roundRect">
            <a:avLst>
              <a:gd name="adj" fmla="val 5970"/>
            </a:avLst>
          </a:prstGeom>
          <a:solidFill>
            <a:srgbClr val="111A2E"/>
          </a:solidFill>
          <a:ln w="9525">
            <a:solidFill>
              <a:srgbClr val="223052"/>
            </a:solidFill>
            <a:prstDash val="solid"/>
          </a:ln>
          <a:effectLst>
            <a:outerShdw blurRad="1016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6464808" y="1636776"/>
            <a:ext cx="128016" cy="128016"/>
          </a:xfrm>
          <a:prstGeom prst="ellipse">
            <a:avLst/>
          </a:prstGeom>
          <a:solidFill>
            <a:srgbClr val="7DD3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702552" y="1527048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E6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complexity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702552" y="1847088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50" dirty="0">
                <a:solidFill>
                  <a:srgbClr val="9FB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Jaro-Winkler + spatial priors, 4-factor weighted scoring, haversine geometry, browser ML, graph cascade — all deterministic TypeScript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02920" y="2788920"/>
            <a:ext cx="5559552" cy="1225296"/>
          </a:xfrm>
          <a:prstGeom prst="roundRect">
            <a:avLst>
              <a:gd name="adj" fmla="val 5970"/>
            </a:avLst>
          </a:prstGeom>
          <a:solidFill>
            <a:srgbClr val="111A2E"/>
          </a:solidFill>
          <a:ln w="9525">
            <a:solidFill>
              <a:srgbClr val="223052"/>
            </a:solidFill>
            <a:prstDash val="solid"/>
          </a:ln>
          <a:effectLst>
            <a:outerShdw blurRad="1016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722376" y="3008376"/>
            <a:ext cx="128016" cy="128016"/>
          </a:xfrm>
          <a:prstGeom prst="ellipse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960120" y="2898648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E6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execution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960120" y="3218688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50" dirty="0">
                <a:solidFill>
                  <a:srgbClr val="9FB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48/48 tests · zero silent fallbacks · graceful API degradation · SQLite WAL persistence · typed end-to-end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245352" y="2788920"/>
            <a:ext cx="5559552" cy="1225296"/>
          </a:xfrm>
          <a:prstGeom prst="roundRect">
            <a:avLst>
              <a:gd name="adj" fmla="val 5970"/>
            </a:avLst>
          </a:prstGeom>
          <a:solidFill>
            <a:srgbClr val="111A2E"/>
          </a:solidFill>
          <a:ln w="9525">
            <a:solidFill>
              <a:srgbClr val="223052"/>
            </a:solidFill>
            <a:prstDash val="solid"/>
          </a:ln>
          <a:effectLst>
            <a:outerShdw blurRad="1016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6464808" y="3008376"/>
            <a:ext cx="128016" cy="128016"/>
          </a:xfrm>
          <a:prstGeom prst="ellipse">
            <a:avLst/>
          </a:prstGeom>
          <a:solidFill>
            <a:srgbClr val="FBBF2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6702552" y="2898648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E6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Innovation &amp; creativity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6702552" y="3218688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50" dirty="0">
                <a:solidFill>
                  <a:srgbClr val="9FB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Ghost-marker spatial diffing, live ingestion playground for judges, deterministic replay, audio telemetry alarms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02920" y="4160520"/>
            <a:ext cx="5559552" cy="1225296"/>
          </a:xfrm>
          <a:prstGeom prst="roundRect">
            <a:avLst>
              <a:gd name="adj" fmla="val 5970"/>
            </a:avLst>
          </a:prstGeom>
          <a:solidFill>
            <a:srgbClr val="111A2E"/>
          </a:solidFill>
          <a:ln w="9525">
            <a:solidFill>
              <a:srgbClr val="223052"/>
            </a:solidFill>
            <a:prstDash val="solid"/>
          </a:ln>
          <a:effectLst>
            <a:outerShdw blurRad="1016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722376" y="4379976"/>
            <a:ext cx="128016" cy="128016"/>
          </a:xfrm>
          <a:prstGeom prst="ellipse">
            <a:avLst/>
          </a:prstGeom>
          <a:solidFill>
            <a:srgbClr val="FB923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960120" y="4270248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E6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Functionality &amp; reliability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960120" y="4590288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50" dirty="0">
                <a:solidFill>
                  <a:srgbClr val="9FB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Severity bands with defined OCC responses; replay proves the full loop works the same way every run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245352" y="4160520"/>
            <a:ext cx="5559552" cy="1225296"/>
          </a:xfrm>
          <a:prstGeom prst="roundRect">
            <a:avLst>
              <a:gd name="adj" fmla="val 5970"/>
            </a:avLst>
          </a:prstGeom>
          <a:solidFill>
            <a:srgbClr val="111A2E"/>
          </a:solidFill>
          <a:ln w="9525">
            <a:solidFill>
              <a:srgbClr val="223052"/>
            </a:solidFill>
            <a:prstDash val="solid"/>
          </a:ln>
          <a:effectLst>
            <a:outerShdw blurRad="1016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6464808" y="4379976"/>
            <a:ext cx="128016" cy="128016"/>
          </a:xfrm>
          <a:prstGeom prst="ellipse">
            <a:avLst/>
          </a:prstGeom>
          <a:solidFill>
            <a:srgbClr val="F8717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6702552" y="4270248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E6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Documentation &amp; presentation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6702552" y="4590288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50" dirty="0">
                <a:solidFill>
                  <a:srgbClr val="9FB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README with math formulation + DEMO.md 3-min script + DESIGN.md system tokens + this deck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02920" y="5623560"/>
            <a:ext cx="11183112" cy="731520"/>
          </a:xfrm>
          <a:prstGeom prst="roundRect">
            <a:avLst>
              <a:gd name="adj" fmla="val 10000"/>
            </a:avLst>
          </a:prstGeom>
          <a:solidFill>
            <a:srgbClr val="182238"/>
          </a:solidFill>
          <a:ln w="9525">
            <a:solidFill>
              <a:srgbClr val="2B4A33"/>
            </a:solidFill>
            <a:prstDash val="solid"/>
          </a:ln>
          <a:effectLst>
            <a:outerShdw blurRad="1016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777240" y="571500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extras — architecture, code quality, UX, scalability: </a:t>
            </a:r>
            <a:r>
              <a:rPr lang="en-US" sz="1200" dirty="0">
                <a:solidFill>
                  <a:srgbClr val="9FB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layered pure-core design · typed modules with unit coverage · keyboard-first OCC UX (keys 1–7, M) · serverless + partition-ready reconciler.</a:t>
            </a:r>
            <a:endParaRPr lang="en-US" sz="1200" dirty="0"/>
          </a:p>
        </p:txBody>
      </p:sp>
      <p:sp>
        <p:nvSpPr>
          <p:cNvPr id="32" name="Freeform 25">
            <a:extLst>
              <a:ext uri="{FF2B5EF4-FFF2-40B4-BE49-F238E27FC236}">
                <a16:creationId xmlns:a16="http://schemas.microsoft.com/office/drawing/2014/main" id="{14AA7CDA-6697-48E7-2683-0D4B0C562723}"/>
              </a:ext>
            </a:extLst>
          </p:cNvPr>
          <p:cNvSpPr/>
          <p:nvPr/>
        </p:nvSpPr>
        <p:spPr>
          <a:xfrm>
            <a:off x="10823118" y="12357"/>
            <a:ext cx="1344168" cy="1344168"/>
          </a:xfrm>
          <a:prstGeom prst="ellipse">
            <a:avLst/>
          </a:pr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 sz="12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138928"/>
            <a:ext cx="12191695" cy="0"/>
          </a:xfrm>
          <a:prstGeom prst="line">
            <a:avLst/>
          </a:prstGeom>
          <a:noFill/>
          <a:ln w="15240">
            <a:solidFill>
              <a:srgbClr val="223052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5248656"/>
            <a:ext cx="12191695" cy="0"/>
          </a:xfrm>
          <a:prstGeom prst="line">
            <a:avLst/>
          </a:prstGeom>
          <a:noFill/>
          <a:ln w="15240">
            <a:solidFill>
              <a:srgbClr val="223052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777240" y="68580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E6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RailTwin AI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1481328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9FB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digital twin that knows when it's wrong — and how to fix it.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822960" y="2148840"/>
            <a:ext cx="5212080" cy="2606040"/>
          </a:xfrm>
          <a:prstGeom prst="roundRect">
            <a:avLst>
              <a:gd name="adj" fmla="val 2807"/>
            </a:avLst>
          </a:prstGeom>
          <a:solidFill>
            <a:srgbClr val="111A2E"/>
          </a:solidFill>
          <a:ln w="9525">
            <a:solidFill>
              <a:srgbClr val="223052"/>
            </a:solidFill>
            <a:prstDash val="solid"/>
          </a:ln>
          <a:effectLst>
            <a:outerShdw blurRad="1016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1051560" y="23317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TEAM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51560" y="2651760"/>
            <a:ext cx="47548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E6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Harsh Singh — Leader</a:t>
            </a:r>
            <a:endParaRPr lang="en-US" sz="1400" dirty="0"/>
          </a:p>
          <a:p>
            <a:pPr marL="0" indent="0">
              <a:lnSpc>
                <a:spcPts val="2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E6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Himanshu — Lead Developer</a:t>
            </a:r>
            <a:endParaRPr lang="en-US" sz="1400" dirty="0"/>
          </a:p>
          <a:p>
            <a:pPr marL="0" indent="0">
              <a:lnSpc>
                <a:spcPts val="2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E6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Adbhut Patel — Developer</a:t>
            </a:r>
            <a:endParaRPr lang="en-US" sz="1400" dirty="0"/>
          </a:p>
          <a:p>
            <a:pPr marL="0" indent="0">
              <a:lnSpc>
                <a:spcPts val="2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E6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Manaswi Mehta</a:t>
            </a:r>
            <a:endParaRPr lang="en-US" sz="14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E6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Shrikant Chaurasiya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309360" y="2148840"/>
            <a:ext cx="5074920" cy="2606040"/>
          </a:xfrm>
          <a:prstGeom prst="roundRect">
            <a:avLst>
              <a:gd name="adj" fmla="val 2807"/>
            </a:avLst>
          </a:prstGeom>
          <a:solidFill>
            <a:srgbClr val="111A2E"/>
          </a:solidFill>
          <a:ln w="9525">
            <a:solidFill>
              <a:srgbClr val="223052"/>
            </a:solidFill>
            <a:prstDash val="solid"/>
          </a:ln>
          <a:effectLst>
            <a:outerShdw blurRad="1016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537960" y="23317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SEE IT LIVE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537960" y="2651760"/>
            <a:ext cx="4663440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spcAft>
                <a:spcPts val="500"/>
              </a:spcAft>
              <a:buNone/>
            </a:pPr>
            <a:r>
              <a:rPr lang="en-US" sz="1250" b="1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rail-twin.vercel.app</a:t>
            </a:r>
            <a:endParaRPr lang="en-US" sz="1250" dirty="0"/>
          </a:p>
          <a:p>
            <a:pPr marL="0" indent="0">
              <a:lnSpc>
                <a:spcPts val="1900"/>
              </a:lnSpc>
              <a:spcAft>
                <a:spcPts val="500"/>
              </a:spcAft>
              <a:buNone/>
            </a:pPr>
            <a:r>
              <a:rPr lang="en-US" sz="125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rail-twin.vercel.app/?demo=replay&amp;fast=1  ⚡ 18 s judge mode</a:t>
            </a:r>
            <a:endParaRPr lang="en-US" sz="1250" dirty="0"/>
          </a:p>
          <a:p>
            <a:pPr marL="0" indent="0">
              <a:lnSpc>
                <a:spcPts val="1900"/>
              </a:lnSpc>
              <a:spcAft>
                <a:spcPts val="1000"/>
              </a:spcAft>
              <a:buNone/>
            </a:pPr>
            <a:r>
              <a:rPr lang="en-US" sz="12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github.com/himanshu003388/RailTwin</a:t>
            </a:r>
            <a:endParaRPr lang="en-US" sz="125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Astro · React 19 · MapLibre GL · Zustand · Gemini · Recharts · SQLite · Vercel · Vitest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22960" y="557784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FAR AWAY 2026 · Railways Theme · Round 2 — Reconciliation: Drift Indicator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22960" y="594360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FB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on real IR data: 7 named trains · 36 junction stations · 11 zones · 576 historical delay records</a:t>
            </a:r>
            <a:endParaRPr lang="en-US" sz="1150" dirty="0"/>
          </a:p>
        </p:txBody>
      </p:sp>
      <p:sp>
        <p:nvSpPr>
          <p:cNvPr id="15" name="Freeform 25">
            <a:extLst>
              <a:ext uri="{FF2B5EF4-FFF2-40B4-BE49-F238E27FC236}">
                <a16:creationId xmlns:a16="http://schemas.microsoft.com/office/drawing/2014/main" id="{658ED988-ACB4-8471-95C9-C6DC44A7CB20}"/>
              </a:ext>
            </a:extLst>
          </p:cNvPr>
          <p:cNvSpPr/>
          <p:nvPr/>
        </p:nvSpPr>
        <p:spPr>
          <a:xfrm>
            <a:off x="10823118" y="12357"/>
            <a:ext cx="1344168" cy="1344168"/>
          </a:xfrm>
          <a:prstGeom prst="ellipse">
            <a:avLst/>
          </a:pr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 sz="1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2560</Words>
  <Application>Microsoft Office PowerPoint</Application>
  <PresentationFormat>Widescreen</PresentationFormat>
  <Paragraphs>330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RailTwin AI — Round 2: Reconciliation &amp; Drift Indicator</dc:title>
  <dc:subject>PptxGenJS Presentation</dc:subject>
  <dc:creator>RailTwin Team</dc:creator>
  <cp:lastModifiedBy>Himanshu .</cp:lastModifiedBy>
  <cp:revision>2</cp:revision>
  <dcterms:created xsi:type="dcterms:W3CDTF">2026-08-23T04:13:20Z</dcterms:created>
  <dcterms:modified xsi:type="dcterms:W3CDTF">2026-08-23T04:55:31Z</dcterms:modified>
</cp:coreProperties>
</file>
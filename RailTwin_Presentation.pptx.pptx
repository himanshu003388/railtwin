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15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21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x="18288000" cy="10287000"/>
  <p:notesSz cx="6858000" cy="9144000"/>
  <p:embeddedFontLst>
    <p:embeddedFont>
      <p:font typeface="Georgia Bold" charset="1" panose="02040802050405020203"/>
      <p:regular r:id="rId24"/>
    </p:embeddedFont>
    <p:embeddedFont>
      <p:font typeface="Calibri (MS)" charset="1" panose="020F0502020204030204"/>
      <p:regular r:id="rId25"/>
    </p:embeddedFont>
    <p:embeddedFont>
      <p:font typeface="Calibri (MS) Italics" charset="1" panose="020F05020202040A0204"/>
      <p:regular r:id="rId26"/>
    </p:embeddedFont>
    <p:embeddedFont>
      <p:font typeface="Calibri (MS) Bold" charset="1" panose="020F0702030404030204"/>
      <p:regular r:id="rId2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notesMasters/notesMaster1.xml" Type="http://schemas.openxmlformats.org/officeDocument/2006/relationships/notesMaster"/><Relationship Id="rId22" Target="theme/theme2.xml" Type="http://schemas.openxmlformats.org/officeDocument/2006/relationships/theme"/><Relationship Id="rId23" Target="notesSlides/notesSlide1.xml" Type="http://schemas.openxmlformats.org/officeDocument/2006/relationships/notesSlide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28" Target="notesSlides/notesSlide2.xml" Type="http://schemas.openxmlformats.org/officeDocument/2006/relationships/notesSlide"/><Relationship Id="rId29" Target="notesSlides/notesSlide3.xml" Type="http://schemas.openxmlformats.org/officeDocument/2006/relationships/notesSlide"/><Relationship Id="rId3" Target="viewProps.xml" Type="http://schemas.openxmlformats.org/officeDocument/2006/relationships/viewProps"/><Relationship Id="rId30" Target="notesSlides/notesSlide4.xml" Type="http://schemas.openxmlformats.org/officeDocument/2006/relationships/notesSlide"/><Relationship Id="rId31" Target="notesSlides/notesSlide5.xml" Type="http://schemas.openxmlformats.org/officeDocument/2006/relationships/notesSlide"/><Relationship Id="rId32" Target="notesSlides/notesSlide6.xml" Type="http://schemas.openxmlformats.org/officeDocument/2006/relationships/notesSlide"/><Relationship Id="rId33" Target="notesSlides/notesSlide7.xml" Type="http://schemas.openxmlformats.org/officeDocument/2006/relationships/notesSlide"/><Relationship Id="rId34" Target="notesSlides/notesSlide8.xml" Type="http://schemas.openxmlformats.org/officeDocument/2006/relationships/notesSlide"/><Relationship Id="rId35" Target="notesSlides/notesSlide9.xml" Type="http://schemas.openxmlformats.org/officeDocument/2006/relationships/notesSlide"/><Relationship Id="rId36" Target="notesSlides/notesSlide10.xml" Type="http://schemas.openxmlformats.org/officeDocument/2006/relationships/notesSlide"/><Relationship Id="rId37" Target="notesSlides/notesSlide11.xml" Type="http://schemas.openxmlformats.org/officeDocument/2006/relationships/notesSlide"/><Relationship Id="rId38" Target="notesSlides/notesSlide12.xml" Type="http://schemas.openxmlformats.org/officeDocument/2006/relationships/notesSlide"/><Relationship Id="rId39" Target="notesSlides/notesSlide13.xml" Type="http://schemas.openxmlformats.org/officeDocument/2006/relationships/notesSlide"/><Relationship Id="rId4" Target="theme/theme1.xml" Type="http://schemas.openxmlformats.org/officeDocument/2006/relationships/theme"/><Relationship Id="rId40" Target="notesSlides/notesSlide14.xml" Type="http://schemas.openxmlformats.org/officeDocument/2006/relationships/notesSlide"/><Relationship Id="rId41" Target="notesSlides/notesSlide15.xml" Type="http://schemas.openxmlformats.org/officeDocument/2006/relationships/notesSlid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_rels/notesSlide1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2.xml" Type="http://schemas.openxmlformats.org/officeDocument/2006/relationships/slide"/></Relationships>
</file>

<file path=ppt/notesSlides/_rels/notesSlide1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3.xml" Type="http://schemas.openxmlformats.org/officeDocument/2006/relationships/slide"/></Relationships>
</file>

<file path=ppt/notesSlides/_rels/notesSlide1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4.xml" Type="http://schemas.openxmlformats.org/officeDocument/2006/relationships/slide"/></Relationships>
</file>

<file path=ppt/notesSlides/_rels/notesSlide1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5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9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10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jpeg" Type="http://schemas.openxmlformats.org/officeDocument/2006/relationships/image"/><Relationship Id="rId4" Target="../media/image2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1.jpeg" Type="http://schemas.openxmlformats.org/officeDocument/2006/relationships/image"/><Relationship Id="rId4" Target="../media/image3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1.jpeg" Type="http://schemas.openxmlformats.org/officeDocument/2006/relationships/image"/><Relationship Id="rId4" Target="../media/image3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1.jpeg" Type="http://schemas.openxmlformats.org/officeDocument/2006/relationships/image"/><Relationship Id="rId4" Target="../media/image3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1.jpeg" Type="http://schemas.openxmlformats.org/officeDocument/2006/relationships/image"/><Relationship Id="rId4" Target="../media/image3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1.jpeg" Type="http://schemas.openxmlformats.org/officeDocument/2006/relationships/image"/><Relationship Id="rId4" Target="../media/image3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1.jpeg" Type="http://schemas.openxmlformats.org/officeDocument/2006/relationships/image"/><Relationship Id="rId4" Target="../media/image3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Relationship Id="rId3" Target="../media/image1.jpeg" Type="http://schemas.openxmlformats.org/officeDocument/2006/relationships/image"/><Relationship Id="rId4" Target="../media/image4.png" Type="http://schemas.openxmlformats.org/officeDocument/2006/relationships/image"/><Relationship Id="rId5" Target="../media/image3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Relationship Id="rId3" Target="../media/image1.jpeg" Type="http://schemas.openxmlformats.org/officeDocument/2006/relationships/image"/><Relationship Id="rId4" Target="../media/image5.png" Type="http://schemas.openxmlformats.org/officeDocument/2006/relationships/image"/><Relationship Id="rId5" Target="../media/image6.png" Type="http://schemas.openxmlformats.org/officeDocument/2006/relationships/image"/><Relationship Id="rId6" Target="../media/image3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0.xml" Type="http://schemas.openxmlformats.org/officeDocument/2006/relationships/notesSlide"/><Relationship Id="rId3" Target="../media/image1.jpeg" Type="http://schemas.openxmlformats.org/officeDocument/2006/relationships/image"/><Relationship Id="rId4" Target="../media/image7.png" Type="http://schemas.openxmlformats.org/officeDocument/2006/relationships/image"/><Relationship Id="rId5" Target="../media/image8.png" Type="http://schemas.openxmlformats.org/officeDocument/2006/relationships/image"/><Relationship Id="rId6" Target="../media/image9.png" Type="http://schemas.openxmlformats.org/officeDocument/2006/relationships/image"/><Relationship Id="rId7" Target="../media/image3.jpe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1.xml" Type="http://schemas.openxmlformats.org/officeDocument/2006/relationships/notesSlide"/><Relationship Id="rId3" Target="../media/image1.jpeg" Type="http://schemas.openxmlformats.org/officeDocument/2006/relationships/image"/><Relationship Id="rId4" Target="../media/image3.jpe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2.xml" Type="http://schemas.openxmlformats.org/officeDocument/2006/relationships/notesSlide"/><Relationship Id="rId3" Target="../media/image1.jpeg" Type="http://schemas.openxmlformats.org/officeDocument/2006/relationships/image"/><Relationship Id="rId4" Target="../media/image3.jpe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3.xml" Type="http://schemas.openxmlformats.org/officeDocument/2006/relationships/notesSlide"/><Relationship Id="rId3" Target="../media/image1.jpeg" Type="http://schemas.openxmlformats.org/officeDocument/2006/relationships/image"/><Relationship Id="rId4" Target="../media/image3.jpe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4.xml" Type="http://schemas.openxmlformats.org/officeDocument/2006/relationships/notesSlide"/><Relationship Id="rId3" Target="../media/image1.jpeg" Type="http://schemas.openxmlformats.org/officeDocument/2006/relationships/image"/><Relationship Id="rId4" Target="../media/image3.jpe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5.xml" Type="http://schemas.openxmlformats.org/officeDocument/2006/relationships/notesSlide"/><Relationship Id="rId3" Target="../media/image1.jpeg" Type="http://schemas.openxmlformats.org/officeDocument/2006/relationships/image"/><Relationship Id="rId4" Target="../media/image2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A2A4A">
                <a:alpha val="35686"/>
              </a:srgbClr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3716000" y="-2743200"/>
            <a:ext cx="7315200" cy="7315200"/>
            <a:chOff x="0" y="0"/>
            <a:chExt cx="9753600" cy="97536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9753600" cy="9753600"/>
            </a:xfrm>
            <a:custGeom>
              <a:avLst/>
              <a:gdLst/>
              <a:ahLst/>
              <a:cxnLst/>
              <a:rect r="r" b="b" t="t" l="l"/>
              <a:pathLst>
                <a:path h="9753600" w="9753600">
                  <a:moveTo>
                    <a:pt x="0" y="4876800"/>
                  </a:moveTo>
                  <a:cubicBezTo>
                    <a:pt x="0" y="2183384"/>
                    <a:pt x="2183384" y="0"/>
                    <a:pt x="4876800" y="0"/>
                  </a:cubicBezTo>
                  <a:cubicBezTo>
                    <a:pt x="7570216" y="0"/>
                    <a:pt x="9753600" y="2183384"/>
                    <a:pt x="9753600" y="4876800"/>
                  </a:cubicBezTo>
                  <a:cubicBezTo>
                    <a:pt x="9753600" y="7570216"/>
                    <a:pt x="7570216" y="9753600"/>
                    <a:pt x="4876800" y="9753600"/>
                  </a:cubicBezTo>
                  <a:cubicBezTo>
                    <a:pt x="2183384" y="9753600"/>
                    <a:pt x="0" y="7570216"/>
                    <a:pt x="0" y="4876800"/>
                  </a:cubicBezTo>
                  <a:close/>
                </a:path>
              </a:pathLst>
            </a:custGeom>
            <a:solidFill>
              <a:srgbClr val="2563EB">
                <a:alpha val="1961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-2743200" y="5486400"/>
            <a:ext cx="6400800" cy="6400800"/>
            <a:chOff x="0" y="0"/>
            <a:chExt cx="8534400" cy="85344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534400" cy="8534400"/>
            </a:xfrm>
            <a:custGeom>
              <a:avLst/>
              <a:gdLst/>
              <a:ahLst/>
              <a:cxnLst/>
              <a:rect r="r" b="b" t="t" l="l"/>
              <a:pathLst>
                <a:path h="8534400" w="8534400">
                  <a:moveTo>
                    <a:pt x="0" y="4267200"/>
                  </a:moveTo>
                  <a:cubicBezTo>
                    <a:pt x="0" y="1910461"/>
                    <a:pt x="1910461" y="0"/>
                    <a:pt x="4267200" y="0"/>
                  </a:cubicBezTo>
                  <a:cubicBezTo>
                    <a:pt x="6623939" y="0"/>
                    <a:pt x="8534400" y="1910461"/>
                    <a:pt x="8534400" y="4267200"/>
                  </a:cubicBezTo>
                  <a:cubicBezTo>
                    <a:pt x="8534400" y="6623939"/>
                    <a:pt x="6623939" y="8534400"/>
                    <a:pt x="4267200" y="8534400"/>
                  </a:cubicBezTo>
                  <a:cubicBezTo>
                    <a:pt x="1910461" y="8534400"/>
                    <a:pt x="0" y="6623939"/>
                    <a:pt x="0" y="4267200"/>
                  </a:cubicBezTo>
                  <a:close/>
                </a:path>
              </a:pathLst>
            </a:custGeom>
            <a:solidFill>
              <a:srgbClr val="06B6D4">
                <a:alpha val="1176"/>
              </a:srgbClr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463040" y="1828800"/>
            <a:ext cx="15544800" cy="1828800"/>
            <a:chOff x="0" y="0"/>
            <a:chExt cx="20726400" cy="24384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0726400" cy="2438400"/>
            </a:xfrm>
            <a:custGeom>
              <a:avLst/>
              <a:gdLst/>
              <a:ahLst/>
              <a:cxnLst/>
              <a:rect r="r" b="b" t="t" l="l"/>
              <a:pathLst>
                <a:path h="2438400" w="20726400">
                  <a:moveTo>
                    <a:pt x="0" y="0"/>
                  </a:moveTo>
                  <a:lnTo>
                    <a:pt x="20726400" y="0"/>
                  </a:lnTo>
                  <a:lnTo>
                    <a:pt x="20726400" y="2438400"/>
                  </a:lnTo>
                  <a:lnTo>
                    <a:pt x="0" y="2438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5622" r="0" b="-115622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9525"/>
              <a:ext cx="20726400" cy="24479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0560"/>
                </a:lnSpc>
              </a:pPr>
              <a:r>
                <a:rPr lang="en-US" sz="8800" b="true">
                  <a:solidFill>
                    <a:srgbClr val="FFFFFF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RailTwin AI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463040" y="3657600"/>
            <a:ext cx="15544800" cy="914400"/>
            <a:chOff x="0" y="0"/>
            <a:chExt cx="20726400" cy="12192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07264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20726400">
                  <a:moveTo>
                    <a:pt x="0" y="0"/>
                  </a:moveTo>
                  <a:lnTo>
                    <a:pt x="20726400" y="0"/>
                  </a:lnTo>
                  <a:lnTo>
                    <a:pt x="207264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1245" r="0" b="-281245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76200"/>
              <a:ext cx="20726400" cy="12954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800"/>
                </a:lnSpc>
              </a:pPr>
              <a:r>
                <a:rPr lang="en-US" sz="4000">
                  <a:solidFill>
                    <a:srgbClr val="3B82F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Predictive Digital Twin for Indian Railways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463040" y="4754880"/>
            <a:ext cx="15544800" cy="731520"/>
            <a:chOff x="0" y="0"/>
            <a:chExt cx="20726400" cy="97536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0726400" cy="975360"/>
            </a:xfrm>
            <a:custGeom>
              <a:avLst/>
              <a:gdLst/>
              <a:ahLst/>
              <a:cxnLst/>
              <a:rect r="r" b="b" t="t" l="l"/>
              <a:pathLst>
                <a:path h="975360" w="20726400">
                  <a:moveTo>
                    <a:pt x="0" y="0"/>
                  </a:moveTo>
                  <a:lnTo>
                    <a:pt x="20726400" y="0"/>
                  </a:lnTo>
                  <a:lnTo>
                    <a:pt x="2072640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64057" r="0" b="-364057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47625"/>
              <a:ext cx="20726400" cy="10229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 i="true">
                  <a:solidFill>
                    <a:srgbClr val="06B6D4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Making Railways Safer, Smarter &amp; More Efficient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463040" y="6217920"/>
            <a:ext cx="15544800" cy="1097280"/>
            <a:chOff x="0" y="0"/>
            <a:chExt cx="20726400" cy="146304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07264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0726400">
                  <a:moveTo>
                    <a:pt x="0" y="0"/>
                  </a:moveTo>
                  <a:lnTo>
                    <a:pt x="20726400" y="0"/>
                  </a:lnTo>
                  <a:lnTo>
                    <a:pt x="207264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6038" r="0" b="-226038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47625"/>
              <a:ext cx="20726400" cy="15106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CBD5E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GitHub: github.com/himanshu003388/RailTwin</a:t>
              </a:r>
            </a:p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CBD5E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Live: rail-twin.vercel.app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463040" y="7863840"/>
            <a:ext cx="5486400" cy="731520"/>
            <a:chOff x="0" y="0"/>
            <a:chExt cx="7315200" cy="97536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7315200" cy="975360"/>
            </a:xfrm>
            <a:custGeom>
              <a:avLst/>
              <a:gdLst/>
              <a:ahLst/>
              <a:cxnLst/>
              <a:rect r="r" b="b" t="t" l="l"/>
              <a:pathLst>
                <a:path h="97536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975360"/>
                  </a:lnTo>
                  <a:lnTo>
                    <a:pt x="0" y="975360"/>
                  </a:lnTo>
                  <a:close/>
                </a:path>
              </a:pathLst>
            </a:custGeom>
            <a:solidFill>
              <a:srgbClr val="2563EB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1463040" y="7863840"/>
            <a:ext cx="5486400" cy="731520"/>
            <a:chOff x="0" y="0"/>
            <a:chExt cx="7315200" cy="97536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7315200" cy="975360"/>
            </a:xfrm>
            <a:custGeom>
              <a:avLst/>
              <a:gdLst/>
              <a:ahLst/>
              <a:cxnLst/>
              <a:rect r="r" b="b" t="t" l="l"/>
              <a:pathLst>
                <a:path h="97536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6137" r="0" b="-96137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7315200" cy="10134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FAR AWAY 2026 · Railways Theme</a:t>
              </a:r>
            </a:p>
          </p:txBody>
        </p:sp>
      </p:grpSp>
      <p:sp>
        <p:nvSpPr>
          <p:cNvPr name="Freeform 25" id="25"/>
          <p:cNvSpPr/>
          <p:nvPr/>
        </p:nvSpPr>
        <p:spPr>
          <a:xfrm flipH="false" flipV="false" rot="0">
            <a:off x="15544800" y="0"/>
            <a:ext cx="2743200" cy="2743200"/>
          </a:xfrm>
          <a:custGeom>
            <a:avLst/>
            <a:gdLst/>
            <a:ahLst/>
            <a:cxnLst/>
            <a:rect r="r" b="b" t="t" l="l"/>
            <a:pathLst>
              <a:path h="2743200" w="2743200">
                <a:moveTo>
                  <a:pt x="0" y="0"/>
                </a:moveTo>
                <a:lnTo>
                  <a:pt x="2743200" y="0"/>
                </a:lnTo>
                <a:lnTo>
                  <a:pt x="2743200" y="2743200"/>
                </a:lnTo>
                <a:lnTo>
                  <a:pt x="0" y="27432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73152"/>
            <a:chOff x="0" y="0"/>
            <a:chExt cx="24384000" cy="9753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97536"/>
            </a:xfrm>
            <a:custGeom>
              <a:avLst/>
              <a:gdLst/>
              <a:ahLst/>
              <a:cxnLst/>
              <a:rect r="r" b="b" t="t" l="l"/>
              <a:pathLst>
                <a:path h="97536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97536"/>
                  </a:lnTo>
                  <a:lnTo>
                    <a:pt x="0" y="97536"/>
                  </a:lnTo>
                  <a:close/>
                </a:path>
              </a:pathLst>
            </a:custGeom>
            <a:solidFill>
              <a:srgbClr val="2563EB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914400" y="365760"/>
            <a:ext cx="16459200" cy="822960"/>
            <a:chOff x="0" y="0"/>
            <a:chExt cx="21945600" cy="109728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9525"/>
              <a:ext cx="21945600" cy="11068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280"/>
                </a:lnSpc>
              </a:pPr>
              <a:r>
                <a:rPr lang="en-US" sz="4400" b="true">
                  <a:solidFill>
                    <a:srgbClr val="0F1B2D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The Problem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908047" y="1273807"/>
            <a:ext cx="16471897" cy="12697"/>
            <a:chOff x="0" y="0"/>
            <a:chExt cx="21962529" cy="16929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962490" cy="16891"/>
            </a:xfrm>
            <a:custGeom>
              <a:avLst/>
              <a:gdLst/>
              <a:ahLst/>
              <a:cxnLst/>
              <a:rect r="r" b="b" t="t" l="l"/>
              <a:pathLst>
                <a:path h="16891" w="21962490">
                  <a:moveTo>
                    <a:pt x="0" y="0"/>
                  </a:moveTo>
                  <a:lnTo>
                    <a:pt x="21962490" y="16891"/>
                  </a:lnTo>
                </a:path>
              </a:pathLst>
            </a:custGeom>
            <a:blipFill>
              <a:blip r:embed="rId3">
                <a:alphaModFix amt="0"/>
              </a:blip>
              <a:stretch>
                <a:fillRect l="0" t="-25285314" r="0" b="-25285540"/>
              </a:stretch>
            </a:blipFill>
            <a:ln w="12700" cap="sq">
              <a:solidFill>
                <a:srgbClr val="CBD5E1"/>
              </a:solidFill>
              <a:prstDash val="solid"/>
              <a:miter/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914400" y="1828800"/>
            <a:ext cx="7680960" cy="6949440"/>
            <a:chOff x="0" y="0"/>
            <a:chExt cx="10241280" cy="926592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0241280" cy="9265920"/>
            </a:xfrm>
            <a:custGeom>
              <a:avLst/>
              <a:gdLst/>
              <a:ahLst/>
              <a:cxnLst/>
              <a:rect r="r" b="b" t="t" l="l"/>
              <a:pathLst>
                <a:path h="9265920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9265920"/>
                  </a:lnTo>
                  <a:lnTo>
                    <a:pt x="0" y="926592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463040" y="2194560"/>
            <a:ext cx="6766560" cy="2194560"/>
            <a:chOff x="0" y="0"/>
            <a:chExt cx="9022080" cy="292608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9022080" cy="2926080"/>
            </a:xfrm>
            <a:custGeom>
              <a:avLst/>
              <a:gdLst/>
              <a:ahLst/>
              <a:cxnLst/>
              <a:rect r="r" b="b" t="t" l="l"/>
              <a:pathLst>
                <a:path h="2926080" w="9022080">
                  <a:moveTo>
                    <a:pt x="0" y="0"/>
                  </a:moveTo>
                  <a:lnTo>
                    <a:pt x="9022080" y="0"/>
                  </a:lnTo>
                  <a:lnTo>
                    <a:pt x="9022080" y="2926080"/>
                  </a:lnTo>
                  <a:lnTo>
                    <a:pt x="0" y="2926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078" r="0" b="-10078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9022080" cy="2964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33415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Indian Railways — 68,000+ km network</a:t>
              </a:r>
            </a:p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33415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Carrying 23M+ passengers daily</a:t>
              </a:r>
            </a:p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33415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Operates ~13,000 passenger trains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463040" y="4206240"/>
            <a:ext cx="6766560" cy="548640"/>
            <a:chOff x="0" y="0"/>
            <a:chExt cx="9022080" cy="73152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9022080" cy="731520"/>
            </a:xfrm>
            <a:custGeom>
              <a:avLst/>
              <a:gdLst/>
              <a:ahLst/>
              <a:cxnLst/>
              <a:rect r="r" b="b" t="t" l="l"/>
              <a:pathLst>
                <a:path h="731520" w="9022080">
                  <a:moveTo>
                    <a:pt x="0" y="0"/>
                  </a:moveTo>
                  <a:lnTo>
                    <a:pt x="9022080" y="0"/>
                  </a:lnTo>
                  <a:lnTo>
                    <a:pt x="90220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0315" r="0" b="-190315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9525"/>
              <a:ext cx="9022080" cy="7410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 b="true">
                  <a:solidFill>
                    <a:srgbClr val="0F1B2D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Key Challenges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463040" y="4754880"/>
            <a:ext cx="6766560" cy="4023360"/>
            <a:chOff x="0" y="0"/>
            <a:chExt cx="9022080" cy="536448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9022080" cy="5364480"/>
            </a:xfrm>
            <a:custGeom>
              <a:avLst/>
              <a:gdLst/>
              <a:ahLst/>
              <a:cxnLst/>
              <a:rect r="r" b="b" t="t" l="l"/>
              <a:pathLst>
                <a:path h="5364480" w="9022080">
                  <a:moveTo>
                    <a:pt x="0" y="0"/>
                  </a:moveTo>
                  <a:lnTo>
                    <a:pt x="9022080" y="0"/>
                  </a:lnTo>
                  <a:lnTo>
                    <a:pt x="9022080" y="5364480"/>
                  </a:lnTo>
                  <a:lnTo>
                    <a:pt x="0" y="53644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288" t="0" r="-26288" b="0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47625"/>
              <a:ext cx="9022080" cy="54121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530860" indent="-265430" lvl="1">
                <a:lnSpc>
                  <a:spcPts val="2640"/>
                </a:lnSpc>
                <a:buFont typeface="Arial"/>
                <a:buChar char="•"/>
              </a:pPr>
              <a:r>
                <a:rPr lang="en-US" sz="2200">
                  <a:solidFill>
                    <a:srgbClr val="33415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Monsoon disruptions cause cascading delays across the network</a:t>
              </a:r>
            </a:p>
            <a:p>
              <a:pPr algn="l" marL="530860" indent="-265430" lvl="1">
                <a:lnSpc>
                  <a:spcPts val="2640"/>
                </a:lnSpc>
                <a:buFont typeface="Arial"/>
                <a:buChar char="•"/>
              </a:pPr>
              <a:r>
                <a:rPr lang="en-US" sz="2200">
                  <a:solidFill>
                    <a:srgbClr val="33415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Limited real-time decision support for control centre operators</a:t>
              </a:r>
            </a:p>
            <a:p>
              <a:pPr algn="l" marL="530860" indent="-265430" lvl="1">
                <a:lnSpc>
                  <a:spcPts val="2640"/>
                </a:lnSpc>
                <a:buFont typeface="Arial"/>
                <a:buChar char="•"/>
              </a:pPr>
              <a:r>
                <a:rPr lang="en-US" sz="2200">
                  <a:solidFill>
                    <a:srgbClr val="33415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No unified view combining weather, delays, and risk analytics</a:t>
              </a:r>
            </a:p>
            <a:p>
              <a:pPr algn="l" marL="530860" indent="-265430" lvl="1">
                <a:lnSpc>
                  <a:spcPts val="2640"/>
                </a:lnSpc>
                <a:buFont typeface="Arial"/>
                <a:buChar char="•"/>
              </a:pPr>
              <a:r>
                <a:rPr lang="en-US" sz="2200">
                  <a:solidFill>
                    <a:srgbClr val="33415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Delay prediction relies on intuition, not ML on historical data</a:t>
              </a:r>
            </a:p>
            <a:p>
              <a:pPr algn="l" marL="530860" indent="-265430" lvl="1">
                <a:lnSpc>
                  <a:spcPts val="2640"/>
                </a:lnSpc>
                <a:buFont typeface="Arial"/>
                <a:buChar char="•"/>
              </a:pPr>
              <a:r>
                <a:rPr lang="en-US" sz="2200">
                  <a:solidFill>
                    <a:srgbClr val="33415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What-if analysis is manual — no rapid simulation capability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9509760" y="1828800"/>
            <a:ext cx="7863840" cy="6949440"/>
            <a:chOff x="0" y="0"/>
            <a:chExt cx="10485120" cy="926592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0485120" cy="9265920"/>
            </a:xfrm>
            <a:custGeom>
              <a:avLst/>
              <a:gdLst/>
              <a:ahLst/>
              <a:cxnLst/>
              <a:rect r="r" b="b" t="t" l="l"/>
              <a:pathLst>
                <a:path h="9265920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9265920"/>
                  </a:lnTo>
                  <a:lnTo>
                    <a:pt x="0" y="9265920"/>
                  </a:lnTo>
                  <a:close/>
                </a:path>
              </a:pathLst>
            </a:custGeom>
            <a:solidFill>
              <a:srgbClr val="0F1B2D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10058400" y="2194560"/>
            <a:ext cx="6949440" cy="731520"/>
            <a:chOff x="0" y="0"/>
            <a:chExt cx="9265920" cy="97536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9265920" cy="975360"/>
            </a:xfrm>
            <a:custGeom>
              <a:avLst/>
              <a:gdLst/>
              <a:ahLst/>
              <a:cxnLst/>
              <a:rect r="r" b="b" t="t" l="l"/>
              <a:pathLst>
                <a:path h="975360" w="9265920">
                  <a:moveTo>
                    <a:pt x="0" y="0"/>
                  </a:moveTo>
                  <a:lnTo>
                    <a:pt x="9265920" y="0"/>
                  </a:lnTo>
                  <a:lnTo>
                    <a:pt x="926592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5107" r="0" b="-135107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0"/>
              <a:ext cx="9265920" cy="9753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840"/>
                </a:lnSpc>
              </a:pPr>
              <a:r>
                <a:rPr lang="en-US" sz="3200" b="true">
                  <a:solidFill>
                    <a:srgbClr val="FFFFFF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Why This Matters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0058400" y="3474720"/>
            <a:ext cx="2743200" cy="731520"/>
            <a:chOff x="0" y="0"/>
            <a:chExt cx="3657600" cy="97536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3657600" cy="975360"/>
            </a:xfrm>
            <a:custGeom>
              <a:avLst/>
              <a:gdLst/>
              <a:ahLst/>
              <a:cxnLst/>
              <a:rect r="r" b="b" t="t" l="l"/>
              <a:pathLst>
                <a:path h="97536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068" r="0" b="-23068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19050"/>
              <a:ext cx="3657600" cy="9944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800"/>
                </a:lnSpc>
              </a:pPr>
              <a:r>
                <a:rPr lang="en-US" sz="4000" b="true">
                  <a:solidFill>
                    <a:srgbClr val="06B6D4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23M+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2801600" y="3566160"/>
            <a:ext cx="4206240" cy="548640"/>
            <a:chOff x="0" y="0"/>
            <a:chExt cx="5608320" cy="73152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5608320" cy="731520"/>
            </a:xfrm>
            <a:custGeom>
              <a:avLst/>
              <a:gdLst/>
              <a:ahLst/>
              <a:cxnLst/>
              <a:rect r="r" b="b" t="t" l="l"/>
              <a:pathLst>
                <a:path h="731520" w="5608320">
                  <a:moveTo>
                    <a:pt x="0" y="0"/>
                  </a:moveTo>
                  <a:lnTo>
                    <a:pt x="5608320" y="0"/>
                  </a:lnTo>
                  <a:lnTo>
                    <a:pt x="56083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9385" r="0" b="-99385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47625"/>
              <a:ext cx="560832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CBD5E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Daily passengers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0058400" y="4754880"/>
            <a:ext cx="2743200" cy="731520"/>
            <a:chOff x="0" y="0"/>
            <a:chExt cx="3657600" cy="97536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3657600" cy="975360"/>
            </a:xfrm>
            <a:custGeom>
              <a:avLst/>
              <a:gdLst/>
              <a:ahLst/>
              <a:cxnLst/>
              <a:rect r="r" b="b" t="t" l="l"/>
              <a:pathLst>
                <a:path h="97536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068" r="0" b="-23068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19050"/>
              <a:ext cx="3657600" cy="9944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800"/>
                </a:lnSpc>
              </a:pPr>
              <a:r>
                <a:rPr lang="en-US" sz="4000" b="true">
                  <a:solidFill>
                    <a:srgbClr val="06B6D4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68K km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12801600" y="4846320"/>
            <a:ext cx="4206240" cy="548640"/>
            <a:chOff x="0" y="0"/>
            <a:chExt cx="5608320" cy="73152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5608320" cy="731520"/>
            </a:xfrm>
            <a:custGeom>
              <a:avLst/>
              <a:gdLst/>
              <a:ahLst/>
              <a:cxnLst/>
              <a:rect r="r" b="b" t="t" l="l"/>
              <a:pathLst>
                <a:path h="731520" w="5608320">
                  <a:moveTo>
                    <a:pt x="0" y="0"/>
                  </a:moveTo>
                  <a:lnTo>
                    <a:pt x="5608320" y="0"/>
                  </a:lnTo>
                  <a:lnTo>
                    <a:pt x="56083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9385" r="0" b="-99385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47625"/>
              <a:ext cx="560832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CBD5E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Network length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10058400" y="6035040"/>
            <a:ext cx="2743200" cy="731520"/>
            <a:chOff x="0" y="0"/>
            <a:chExt cx="3657600" cy="97536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3657600" cy="975360"/>
            </a:xfrm>
            <a:custGeom>
              <a:avLst/>
              <a:gdLst/>
              <a:ahLst/>
              <a:cxnLst/>
              <a:rect r="r" b="b" t="t" l="l"/>
              <a:pathLst>
                <a:path h="97536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068" r="0" b="-23068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19050"/>
              <a:ext cx="3657600" cy="9944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800"/>
                </a:lnSpc>
              </a:pPr>
              <a:r>
                <a:rPr lang="en-US" sz="4000" b="true">
                  <a:solidFill>
                    <a:srgbClr val="06B6D4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₹2L Cr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12801600" y="6126480"/>
            <a:ext cx="4206240" cy="548640"/>
            <a:chOff x="0" y="0"/>
            <a:chExt cx="5608320" cy="73152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5608320" cy="731520"/>
            </a:xfrm>
            <a:custGeom>
              <a:avLst/>
              <a:gdLst/>
              <a:ahLst/>
              <a:cxnLst/>
              <a:rect r="r" b="b" t="t" l="l"/>
              <a:pathLst>
                <a:path h="731520" w="5608320">
                  <a:moveTo>
                    <a:pt x="0" y="0"/>
                  </a:moveTo>
                  <a:lnTo>
                    <a:pt x="5608320" y="0"/>
                  </a:lnTo>
                  <a:lnTo>
                    <a:pt x="56083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9385" r="0" b="-99385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47625"/>
              <a:ext cx="560832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CBD5E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Annual economic impact of delays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10058400" y="7315200"/>
            <a:ext cx="2743200" cy="731520"/>
            <a:chOff x="0" y="0"/>
            <a:chExt cx="3657600" cy="97536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3657600" cy="975360"/>
            </a:xfrm>
            <a:custGeom>
              <a:avLst/>
              <a:gdLst/>
              <a:ahLst/>
              <a:cxnLst/>
              <a:rect r="r" b="b" t="t" l="l"/>
              <a:pathLst>
                <a:path h="97536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068" r="0" b="-23068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19050"/>
              <a:ext cx="3657600" cy="9944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800"/>
                </a:lnSpc>
              </a:pPr>
              <a:r>
                <a:rPr lang="en-US" sz="4000" b="true">
                  <a:solidFill>
                    <a:srgbClr val="06B6D4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35%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12801600" y="7406640"/>
            <a:ext cx="4206240" cy="548640"/>
            <a:chOff x="0" y="0"/>
            <a:chExt cx="5608320" cy="73152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5608320" cy="731520"/>
            </a:xfrm>
            <a:custGeom>
              <a:avLst/>
              <a:gdLst/>
              <a:ahLst/>
              <a:cxnLst/>
              <a:rect r="r" b="b" t="t" l="l"/>
              <a:pathLst>
                <a:path h="731520" w="5608320">
                  <a:moveTo>
                    <a:pt x="0" y="0"/>
                  </a:moveTo>
                  <a:lnTo>
                    <a:pt x="5608320" y="0"/>
                  </a:lnTo>
                  <a:lnTo>
                    <a:pt x="56083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9385" r="0" b="-99385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47625"/>
              <a:ext cx="560832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CBD5E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Trains affected by weather annually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10058400" y="7680960"/>
            <a:ext cx="6949440" cy="914400"/>
            <a:chOff x="0" y="0"/>
            <a:chExt cx="9265920" cy="121920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9265920" cy="1219200"/>
            </a:xfrm>
            <a:custGeom>
              <a:avLst/>
              <a:gdLst/>
              <a:ahLst/>
              <a:cxnLst/>
              <a:rect r="r" b="b" t="t" l="l"/>
              <a:pathLst>
                <a:path h="1219200" w="9265920">
                  <a:moveTo>
                    <a:pt x="0" y="0"/>
                  </a:moveTo>
                  <a:lnTo>
                    <a:pt x="9265920" y="0"/>
                  </a:lnTo>
                  <a:lnTo>
                    <a:pt x="926592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8086" r="0" b="-98086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38100"/>
              <a:ext cx="9265920" cy="1257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i="true">
                  <a:solidFill>
                    <a:srgbClr val="64748B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"A 10-minute delay at one station can ripple into hours across the network"</a:t>
              </a: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914400" y="9601200"/>
            <a:ext cx="16459200" cy="548640"/>
            <a:chOff x="0" y="0"/>
            <a:chExt cx="21945600" cy="73152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21945600" cy="731520"/>
            </a:xfrm>
            <a:custGeom>
              <a:avLst/>
              <a:gdLst/>
              <a:ahLst/>
              <a:cxnLst/>
              <a:rect r="r" b="b" t="t" l="l"/>
              <a:pathLst>
                <a:path h="73152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34551" r="0" b="-534551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28575"/>
              <a:ext cx="21945600" cy="7600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"/>
                </a:lnSpc>
              </a:pPr>
              <a:r>
                <a:rPr lang="en-US" sz="16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RailTwin AI · FAR AWAY 2026</a:t>
              </a:r>
            </a:p>
          </p:txBody>
        </p:sp>
      </p:grpSp>
      <p:grpSp>
        <p:nvGrpSpPr>
          <p:cNvPr name="Group 55" id="55"/>
          <p:cNvGrpSpPr/>
          <p:nvPr/>
        </p:nvGrpSpPr>
        <p:grpSpPr>
          <a:xfrm rot="0">
            <a:off x="15544800" y="9601200"/>
            <a:ext cx="2194560" cy="548640"/>
            <a:chOff x="0" y="0"/>
            <a:chExt cx="2926080" cy="731520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2926080" cy="731520"/>
            </a:xfrm>
            <a:custGeom>
              <a:avLst/>
              <a:gdLst/>
              <a:ahLst/>
              <a:cxnLst/>
              <a:rect r="r" b="b" t="t" l="l"/>
              <a:pathLst>
                <a:path h="731520" w="2926080">
                  <a:moveTo>
                    <a:pt x="0" y="0"/>
                  </a:moveTo>
                  <a:lnTo>
                    <a:pt x="2926080" y="0"/>
                  </a:lnTo>
                  <a:lnTo>
                    <a:pt x="29260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940" r="0" b="-27940"/>
              </a:stretch>
            </a:blipFill>
          </p:spPr>
        </p:sp>
        <p:sp>
          <p:nvSpPr>
            <p:cNvPr name="TextBox 57" id="57"/>
            <p:cNvSpPr txBox="true"/>
            <p:nvPr/>
          </p:nvSpPr>
          <p:spPr>
            <a:xfrm>
              <a:off x="0" y="-28575"/>
              <a:ext cx="2926080" cy="7600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920"/>
                </a:lnSpc>
              </a:pPr>
              <a:r>
                <a:rPr lang="en-US" sz="16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2 / 15</a:t>
              </a:r>
            </a:p>
          </p:txBody>
        </p:sp>
      </p:grpSp>
      <p:sp>
        <p:nvSpPr>
          <p:cNvPr name="Freeform 58" id="58"/>
          <p:cNvSpPr/>
          <p:nvPr/>
        </p:nvSpPr>
        <p:spPr>
          <a:xfrm flipH="false" flipV="false" rot="0">
            <a:off x="16642080" y="73152"/>
            <a:ext cx="1645920" cy="1645920"/>
          </a:xfrm>
          <a:custGeom>
            <a:avLst/>
            <a:gdLst/>
            <a:ahLst/>
            <a:cxnLst/>
            <a:rect r="r" b="b" t="t" l="l"/>
            <a:pathLst>
              <a:path h="1645920" w="1645920">
                <a:moveTo>
                  <a:pt x="0" y="0"/>
                </a:moveTo>
                <a:lnTo>
                  <a:pt x="1645920" y="0"/>
                </a:lnTo>
                <a:lnTo>
                  <a:pt x="1645920" y="1645920"/>
                </a:lnTo>
                <a:lnTo>
                  <a:pt x="0" y="164592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73152"/>
            <a:chOff x="0" y="0"/>
            <a:chExt cx="24384000" cy="9753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97536"/>
            </a:xfrm>
            <a:custGeom>
              <a:avLst/>
              <a:gdLst/>
              <a:ahLst/>
              <a:cxnLst/>
              <a:rect r="r" b="b" t="t" l="l"/>
              <a:pathLst>
                <a:path h="97536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97536"/>
                  </a:lnTo>
                  <a:lnTo>
                    <a:pt x="0" y="97536"/>
                  </a:lnTo>
                  <a:close/>
                </a:path>
              </a:pathLst>
            </a:custGeom>
            <a:solidFill>
              <a:srgbClr val="2563EB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914400" y="365760"/>
            <a:ext cx="16459200" cy="822960"/>
            <a:chOff x="0" y="0"/>
            <a:chExt cx="21945600" cy="109728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9525"/>
              <a:ext cx="21945600" cy="11068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280"/>
                </a:lnSpc>
              </a:pPr>
              <a:r>
                <a:rPr lang="en-US" sz="4400" b="true">
                  <a:solidFill>
                    <a:srgbClr val="0F1B2D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Solution Overview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908047" y="1273807"/>
            <a:ext cx="16471897" cy="12697"/>
            <a:chOff x="0" y="0"/>
            <a:chExt cx="21962529" cy="16929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962490" cy="16891"/>
            </a:xfrm>
            <a:custGeom>
              <a:avLst/>
              <a:gdLst/>
              <a:ahLst/>
              <a:cxnLst/>
              <a:rect r="r" b="b" t="t" l="l"/>
              <a:pathLst>
                <a:path h="16891" w="21962490">
                  <a:moveTo>
                    <a:pt x="0" y="0"/>
                  </a:moveTo>
                  <a:lnTo>
                    <a:pt x="21962490" y="16891"/>
                  </a:lnTo>
                </a:path>
              </a:pathLst>
            </a:custGeom>
            <a:blipFill>
              <a:blip r:embed="rId3">
                <a:alphaModFix amt="0"/>
              </a:blip>
              <a:stretch>
                <a:fillRect l="0" t="-25285314" r="0" b="-25285540"/>
              </a:stretch>
            </a:blipFill>
            <a:ln w="12700" cap="sq">
              <a:solidFill>
                <a:srgbClr val="CBD5E1"/>
              </a:solidFill>
              <a:prstDash val="solid"/>
              <a:miter/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914400" y="1645920"/>
            <a:ext cx="16459200" cy="1280160"/>
            <a:chOff x="0" y="0"/>
            <a:chExt cx="21945600" cy="170688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1945600" cy="1706880"/>
            </a:xfrm>
            <a:custGeom>
              <a:avLst/>
              <a:gdLst/>
              <a:ahLst/>
              <a:cxnLst/>
              <a:rect r="r" b="b" t="t" l="l"/>
              <a:pathLst>
                <a:path h="170688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0521" r="0" b="-200521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21945600" cy="17449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33415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RailTwin AI is a predictive digital twin that gives Indian Railways operators a unified command-centre view of network health, live train positions, weather conditions, and AI-powered disruption analysis.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914400" y="3474720"/>
            <a:ext cx="5303520" cy="2743200"/>
            <a:chOff x="0" y="0"/>
            <a:chExt cx="7071360" cy="36576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7071360" cy="3657600"/>
            </a:xfrm>
            <a:custGeom>
              <a:avLst/>
              <a:gdLst/>
              <a:ahLst/>
              <a:cxnLst/>
              <a:rect r="r" b="b" t="t" l="l"/>
              <a:pathLst>
                <a:path h="3657600" w="7071360">
                  <a:moveTo>
                    <a:pt x="0" y="0"/>
                  </a:moveTo>
                  <a:lnTo>
                    <a:pt x="7071360" y="0"/>
                  </a:lnTo>
                  <a:lnTo>
                    <a:pt x="7071360" y="3657600"/>
                  </a:lnTo>
                  <a:lnTo>
                    <a:pt x="0" y="36576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914400" y="3474720"/>
            <a:ext cx="91440" cy="2743200"/>
            <a:chOff x="0" y="0"/>
            <a:chExt cx="121920" cy="36576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21920" cy="3657600"/>
            </a:xfrm>
            <a:custGeom>
              <a:avLst/>
              <a:gdLst/>
              <a:ahLst/>
              <a:cxnLst/>
              <a:rect r="r" b="b" t="t" l="l"/>
              <a:pathLst>
                <a:path h="3657600" w="121920">
                  <a:moveTo>
                    <a:pt x="0" y="0"/>
                  </a:moveTo>
                  <a:lnTo>
                    <a:pt x="121920" y="0"/>
                  </a:lnTo>
                  <a:lnTo>
                    <a:pt x="121920" y="3657600"/>
                  </a:lnTo>
                  <a:lnTo>
                    <a:pt x="0" y="3657600"/>
                  </a:lnTo>
                  <a:close/>
                </a:path>
              </a:pathLst>
            </a:custGeom>
            <a:solidFill>
              <a:srgbClr val="2563EB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280160" y="3749040"/>
            <a:ext cx="4572000" cy="548640"/>
            <a:chOff x="0" y="0"/>
            <a:chExt cx="6096000" cy="73152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6096000" cy="731520"/>
            </a:xfrm>
            <a:custGeom>
              <a:avLst/>
              <a:gdLst/>
              <a:ahLst/>
              <a:cxnLst/>
              <a:rect r="r" b="b" t="t" l="l"/>
              <a:pathLst>
                <a:path h="731520" w="6096000">
                  <a:moveTo>
                    <a:pt x="0" y="0"/>
                  </a:moveTo>
                  <a:lnTo>
                    <a:pt x="6096000" y="0"/>
                  </a:lnTo>
                  <a:lnTo>
                    <a:pt x="60960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2375" r="0" b="-112375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0"/>
              <a:ext cx="6096000" cy="7315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0F1B2D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Live Train Tracking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280160" y="4389120"/>
            <a:ext cx="4572000" cy="1554480"/>
            <a:chOff x="0" y="0"/>
            <a:chExt cx="6096000" cy="207264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6096000" cy="2072640"/>
            </a:xfrm>
            <a:custGeom>
              <a:avLst/>
              <a:gdLst/>
              <a:ahLst/>
              <a:cxnLst/>
              <a:rect r="r" b="b" t="t" l="l"/>
              <a:pathLst>
                <a:path h="2072640" w="6096000">
                  <a:moveTo>
                    <a:pt x="0" y="0"/>
                  </a:moveTo>
                  <a:lnTo>
                    <a:pt x="6096000" y="0"/>
                  </a:lnTo>
                  <a:lnTo>
                    <a:pt x="6096000" y="2072640"/>
                  </a:lnTo>
                  <a:lnTo>
                    <a:pt x="0" y="2072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308" r="0" b="-7308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6096000" cy="2110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33415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7 trains across 36 stations, positions computed from real schedule data (not simulated)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6583680" y="3474720"/>
            <a:ext cx="5303520" cy="2743200"/>
            <a:chOff x="0" y="0"/>
            <a:chExt cx="7071360" cy="36576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7071360" cy="3657600"/>
            </a:xfrm>
            <a:custGeom>
              <a:avLst/>
              <a:gdLst/>
              <a:ahLst/>
              <a:cxnLst/>
              <a:rect r="r" b="b" t="t" l="l"/>
              <a:pathLst>
                <a:path h="3657600" w="7071360">
                  <a:moveTo>
                    <a:pt x="0" y="0"/>
                  </a:moveTo>
                  <a:lnTo>
                    <a:pt x="7071360" y="0"/>
                  </a:lnTo>
                  <a:lnTo>
                    <a:pt x="7071360" y="3657600"/>
                  </a:lnTo>
                  <a:lnTo>
                    <a:pt x="0" y="36576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6583680" y="3474720"/>
            <a:ext cx="91440" cy="2743200"/>
            <a:chOff x="0" y="0"/>
            <a:chExt cx="121920" cy="36576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21920" cy="3657600"/>
            </a:xfrm>
            <a:custGeom>
              <a:avLst/>
              <a:gdLst/>
              <a:ahLst/>
              <a:cxnLst/>
              <a:rect r="r" b="b" t="t" l="l"/>
              <a:pathLst>
                <a:path h="3657600" w="121920">
                  <a:moveTo>
                    <a:pt x="0" y="0"/>
                  </a:moveTo>
                  <a:lnTo>
                    <a:pt x="121920" y="0"/>
                  </a:lnTo>
                  <a:lnTo>
                    <a:pt x="121920" y="3657600"/>
                  </a:lnTo>
                  <a:lnTo>
                    <a:pt x="0" y="3657600"/>
                  </a:lnTo>
                  <a:close/>
                </a:path>
              </a:pathLst>
            </a:custGeom>
            <a:solidFill>
              <a:srgbClr val="2563EB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6949440" y="3749040"/>
            <a:ext cx="4572000" cy="548640"/>
            <a:chOff x="0" y="0"/>
            <a:chExt cx="6096000" cy="73152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6096000" cy="731520"/>
            </a:xfrm>
            <a:custGeom>
              <a:avLst/>
              <a:gdLst/>
              <a:ahLst/>
              <a:cxnLst/>
              <a:rect r="r" b="b" t="t" l="l"/>
              <a:pathLst>
                <a:path h="731520" w="6096000">
                  <a:moveTo>
                    <a:pt x="0" y="0"/>
                  </a:moveTo>
                  <a:lnTo>
                    <a:pt x="6096000" y="0"/>
                  </a:lnTo>
                  <a:lnTo>
                    <a:pt x="60960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2375" r="0" b="-112375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0"/>
              <a:ext cx="6096000" cy="7315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0F1B2D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AI Copilot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6949440" y="4389120"/>
            <a:ext cx="4572000" cy="1554480"/>
            <a:chOff x="0" y="0"/>
            <a:chExt cx="6096000" cy="207264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6096000" cy="2072640"/>
            </a:xfrm>
            <a:custGeom>
              <a:avLst/>
              <a:gdLst/>
              <a:ahLst/>
              <a:cxnLst/>
              <a:rect r="r" b="b" t="t" l="l"/>
              <a:pathLst>
                <a:path h="2072640" w="6096000">
                  <a:moveTo>
                    <a:pt x="0" y="0"/>
                  </a:moveTo>
                  <a:lnTo>
                    <a:pt x="6096000" y="0"/>
                  </a:lnTo>
                  <a:lnTo>
                    <a:pt x="6096000" y="2072640"/>
                  </a:lnTo>
                  <a:lnTo>
                    <a:pt x="0" y="2072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308" r="0" b="-7308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38100"/>
              <a:ext cx="6096000" cy="2110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33415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Gemini-powered chat assistant answers operator queries about routes, delays, and weather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12252960" y="3474720"/>
            <a:ext cx="5303520" cy="2743200"/>
            <a:chOff x="0" y="0"/>
            <a:chExt cx="7071360" cy="36576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7071360" cy="3657600"/>
            </a:xfrm>
            <a:custGeom>
              <a:avLst/>
              <a:gdLst/>
              <a:ahLst/>
              <a:cxnLst/>
              <a:rect r="r" b="b" t="t" l="l"/>
              <a:pathLst>
                <a:path h="3657600" w="7071360">
                  <a:moveTo>
                    <a:pt x="0" y="0"/>
                  </a:moveTo>
                  <a:lnTo>
                    <a:pt x="7071360" y="0"/>
                  </a:lnTo>
                  <a:lnTo>
                    <a:pt x="7071360" y="3657600"/>
                  </a:lnTo>
                  <a:lnTo>
                    <a:pt x="0" y="36576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12252960" y="3474720"/>
            <a:ext cx="91440" cy="2743200"/>
            <a:chOff x="0" y="0"/>
            <a:chExt cx="121920" cy="365760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21920" cy="3657600"/>
            </a:xfrm>
            <a:custGeom>
              <a:avLst/>
              <a:gdLst/>
              <a:ahLst/>
              <a:cxnLst/>
              <a:rect r="r" b="b" t="t" l="l"/>
              <a:pathLst>
                <a:path h="3657600" w="121920">
                  <a:moveTo>
                    <a:pt x="0" y="0"/>
                  </a:moveTo>
                  <a:lnTo>
                    <a:pt x="121920" y="0"/>
                  </a:lnTo>
                  <a:lnTo>
                    <a:pt x="121920" y="3657600"/>
                  </a:lnTo>
                  <a:lnTo>
                    <a:pt x="0" y="3657600"/>
                  </a:lnTo>
                  <a:close/>
                </a:path>
              </a:pathLst>
            </a:custGeom>
            <a:solidFill>
              <a:srgbClr val="2563EB"/>
            </a:solid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12618720" y="3749040"/>
            <a:ext cx="4572000" cy="548640"/>
            <a:chOff x="0" y="0"/>
            <a:chExt cx="6096000" cy="73152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6096000" cy="731520"/>
            </a:xfrm>
            <a:custGeom>
              <a:avLst/>
              <a:gdLst/>
              <a:ahLst/>
              <a:cxnLst/>
              <a:rect r="r" b="b" t="t" l="l"/>
              <a:pathLst>
                <a:path h="731520" w="6096000">
                  <a:moveTo>
                    <a:pt x="0" y="0"/>
                  </a:moveTo>
                  <a:lnTo>
                    <a:pt x="6096000" y="0"/>
                  </a:lnTo>
                  <a:lnTo>
                    <a:pt x="60960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2375" r="0" b="-112375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0"/>
              <a:ext cx="6096000" cy="7315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0F1B2D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Weather Intelligence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12618720" y="4389120"/>
            <a:ext cx="4572000" cy="1554480"/>
            <a:chOff x="0" y="0"/>
            <a:chExt cx="6096000" cy="207264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6096000" cy="2072640"/>
            </a:xfrm>
            <a:custGeom>
              <a:avLst/>
              <a:gdLst/>
              <a:ahLst/>
              <a:cxnLst/>
              <a:rect r="r" b="b" t="t" l="l"/>
              <a:pathLst>
                <a:path h="2072640" w="6096000">
                  <a:moveTo>
                    <a:pt x="0" y="0"/>
                  </a:moveTo>
                  <a:lnTo>
                    <a:pt x="6096000" y="0"/>
                  </a:lnTo>
                  <a:lnTo>
                    <a:pt x="6096000" y="2072640"/>
                  </a:lnTo>
                  <a:lnTo>
                    <a:pt x="0" y="2072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308" r="0" b="-7308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38100"/>
              <a:ext cx="6096000" cy="2110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33415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Per-station live weather from OpenWeather/Open-Meteo with 10-min caching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914400" y="6583680"/>
            <a:ext cx="5303520" cy="2743200"/>
            <a:chOff x="0" y="0"/>
            <a:chExt cx="7071360" cy="365760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7071360" cy="3657600"/>
            </a:xfrm>
            <a:custGeom>
              <a:avLst/>
              <a:gdLst/>
              <a:ahLst/>
              <a:cxnLst/>
              <a:rect r="r" b="b" t="t" l="l"/>
              <a:pathLst>
                <a:path h="3657600" w="7071360">
                  <a:moveTo>
                    <a:pt x="0" y="0"/>
                  </a:moveTo>
                  <a:lnTo>
                    <a:pt x="7071360" y="0"/>
                  </a:lnTo>
                  <a:lnTo>
                    <a:pt x="7071360" y="3657600"/>
                  </a:lnTo>
                  <a:lnTo>
                    <a:pt x="0" y="36576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914400" y="6583680"/>
            <a:ext cx="91440" cy="2743200"/>
            <a:chOff x="0" y="0"/>
            <a:chExt cx="121920" cy="365760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121920" cy="3657600"/>
            </a:xfrm>
            <a:custGeom>
              <a:avLst/>
              <a:gdLst/>
              <a:ahLst/>
              <a:cxnLst/>
              <a:rect r="r" b="b" t="t" l="l"/>
              <a:pathLst>
                <a:path h="3657600" w="121920">
                  <a:moveTo>
                    <a:pt x="0" y="0"/>
                  </a:moveTo>
                  <a:lnTo>
                    <a:pt x="121920" y="0"/>
                  </a:lnTo>
                  <a:lnTo>
                    <a:pt x="121920" y="3657600"/>
                  </a:lnTo>
                  <a:lnTo>
                    <a:pt x="0" y="3657600"/>
                  </a:lnTo>
                  <a:close/>
                </a:path>
              </a:pathLst>
            </a:custGeom>
            <a:solidFill>
              <a:srgbClr val="06B6D4"/>
            </a:solidFill>
          </p:spPr>
        </p:sp>
      </p:grpSp>
      <p:grpSp>
        <p:nvGrpSpPr>
          <p:cNvPr name="Group 46" id="46"/>
          <p:cNvGrpSpPr/>
          <p:nvPr/>
        </p:nvGrpSpPr>
        <p:grpSpPr>
          <a:xfrm rot="0">
            <a:off x="1280160" y="6858000"/>
            <a:ext cx="4572000" cy="548640"/>
            <a:chOff x="0" y="0"/>
            <a:chExt cx="6096000" cy="73152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6096000" cy="731520"/>
            </a:xfrm>
            <a:custGeom>
              <a:avLst/>
              <a:gdLst/>
              <a:ahLst/>
              <a:cxnLst/>
              <a:rect r="r" b="b" t="t" l="l"/>
              <a:pathLst>
                <a:path h="731520" w="6096000">
                  <a:moveTo>
                    <a:pt x="0" y="0"/>
                  </a:moveTo>
                  <a:lnTo>
                    <a:pt x="6096000" y="0"/>
                  </a:lnTo>
                  <a:lnTo>
                    <a:pt x="60960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2375" r="0" b="-112375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0"/>
              <a:ext cx="6096000" cy="7315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0F1B2D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Delay Prediction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1280160" y="7498080"/>
            <a:ext cx="4572000" cy="1554480"/>
            <a:chOff x="0" y="0"/>
            <a:chExt cx="6096000" cy="207264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6096000" cy="2072640"/>
            </a:xfrm>
            <a:custGeom>
              <a:avLst/>
              <a:gdLst/>
              <a:ahLst/>
              <a:cxnLst/>
              <a:rect r="r" b="b" t="t" l="l"/>
              <a:pathLst>
                <a:path h="2072640" w="6096000">
                  <a:moveTo>
                    <a:pt x="0" y="0"/>
                  </a:moveTo>
                  <a:lnTo>
                    <a:pt x="6096000" y="0"/>
                  </a:lnTo>
                  <a:lnTo>
                    <a:pt x="6096000" y="2072640"/>
                  </a:lnTo>
                  <a:lnTo>
                    <a:pt x="0" y="2072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308" r="0" b="-7308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38100"/>
              <a:ext cx="6096000" cy="2110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33415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ML-based (Ridge Regression, R²=0.73) delay forecast + weighted fallback model</a:t>
              </a: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6583680" y="6583680"/>
            <a:ext cx="5303520" cy="2743200"/>
            <a:chOff x="0" y="0"/>
            <a:chExt cx="7071360" cy="365760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7071360" cy="3657600"/>
            </a:xfrm>
            <a:custGeom>
              <a:avLst/>
              <a:gdLst/>
              <a:ahLst/>
              <a:cxnLst/>
              <a:rect r="r" b="b" t="t" l="l"/>
              <a:pathLst>
                <a:path h="3657600" w="7071360">
                  <a:moveTo>
                    <a:pt x="0" y="0"/>
                  </a:moveTo>
                  <a:lnTo>
                    <a:pt x="7071360" y="0"/>
                  </a:lnTo>
                  <a:lnTo>
                    <a:pt x="7071360" y="3657600"/>
                  </a:lnTo>
                  <a:lnTo>
                    <a:pt x="0" y="36576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54" id="54"/>
          <p:cNvGrpSpPr/>
          <p:nvPr/>
        </p:nvGrpSpPr>
        <p:grpSpPr>
          <a:xfrm rot="0">
            <a:off x="6583680" y="6583680"/>
            <a:ext cx="91440" cy="2743200"/>
            <a:chOff x="0" y="0"/>
            <a:chExt cx="121920" cy="365760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121920" cy="3657600"/>
            </a:xfrm>
            <a:custGeom>
              <a:avLst/>
              <a:gdLst/>
              <a:ahLst/>
              <a:cxnLst/>
              <a:rect r="r" b="b" t="t" l="l"/>
              <a:pathLst>
                <a:path h="3657600" w="121920">
                  <a:moveTo>
                    <a:pt x="0" y="0"/>
                  </a:moveTo>
                  <a:lnTo>
                    <a:pt x="121920" y="0"/>
                  </a:lnTo>
                  <a:lnTo>
                    <a:pt x="121920" y="3657600"/>
                  </a:lnTo>
                  <a:lnTo>
                    <a:pt x="0" y="3657600"/>
                  </a:lnTo>
                  <a:close/>
                </a:path>
              </a:pathLst>
            </a:custGeom>
            <a:solidFill>
              <a:srgbClr val="06B6D4"/>
            </a:solidFill>
          </p:spPr>
        </p:sp>
      </p:grpSp>
      <p:grpSp>
        <p:nvGrpSpPr>
          <p:cNvPr name="Group 56" id="56"/>
          <p:cNvGrpSpPr/>
          <p:nvPr/>
        </p:nvGrpSpPr>
        <p:grpSpPr>
          <a:xfrm rot="0">
            <a:off x="6949440" y="6858000"/>
            <a:ext cx="4572000" cy="548640"/>
            <a:chOff x="0" y="0"/>
            <a:chExt cx="6096000" cy="73152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6096000" cy="731520"/>
            </a:xfrm>
            <a:custGeom>
              <a:avLst/>
              <a:gdLst/>
              <a:ahLst/>
              <a:cxnLst/>
              <a:rect r="r" b="b" t="t" l="l"/>
              <a:pathLst>
                <a:path h="731520" w="6096000">
                  <a:moveTo>
                    <a:pt x="0" y="0"/>
                  </a:moveTo>
                  <a:lnTo>
                    <a:pt x="6096000" y="0"/>
                  </a:lnTo>
                  <a:lnTo>
                    <a:pt x="60960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2375" r="0" b="-112375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0"/>
              <a:ext cx="6096000" cy="7315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0F1B2D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Cascade Simulation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6949440" y="7498080"/>
            <a:ext cx="4572000" cy="1554480"/>
            <a:chOff x="0" y="0"/>
            <a:chExt cx="6096000" cy="207264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6096000" cy="2072640"/>
            </a:xfrm>
            <a:custGeom>
              <a:avLst/>
              <a:gdLst/>
              <a:ahLst/>
              <a:cxnLst/>
              <a:rect r="r" b="b" t="t" l="l"/>
              <a:pathLst>
                <a:path h="2072640" w="6096000">
                  <a:moveTo>
                    <a:pt x="0" y="0"/>
                  </a:moveTo>
                  <a:lnTo>
                    <a:pt x="6096000" y="0"/>
                  </a:lnTo>
                  <a:lnTo>
                    <a:pt x="6096000" y="2072640"/>
                  </a:lnTo>
                  <a:lnTo>
                    <a:pt x="0" y="2072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308" r="0" b="-7308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38100"/>
              <a:ext cx="6096000" cy="2110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33415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What-If scenarios — rainfall, signal failure, track damage — with network-wide impact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12252960" y="6583680"/>
            <a:ext cx="5303520" cy="2743200"/>
            <a:chOff x="0" y="0"/>
            <a:chExt cx="7071360" cy="3657600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7071360" cy="3657600"/>
            </a:xfrm>
            <a:custGeom>
              <a:avLst/>
              <a:gdLst/>
              <a:ahLst/>
              <a:cxnLst/>
              <a:rect r="r" b="b" t="t" l="l"/>
              <a:pathLst>
                <a:path h="3657600" w="7071360">
                  <a:moveTo>
                    <a:pt x="0" y="0"/>
                  </a:moveTo>
                  <a:lnTo>
                    <a:pt x="7071360" y="0"/>
                  </a:lnTo>
                  <a:lnTo>
                    <a:pt x="7071360" y="3657600"/>
                  </a:lnTo>
                  <a:lnTo>
                    <a:pt x="0" y="36576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64" id="64"/>
          <p:cNvGrpSpPr/>
          <p:nvPr/>
        </p:nvGrpSpPr>
        <p:grpSpPr>
          <a:xfrm rot="0">
            <a:off x="12252960" y="6583680"/>
            <a:ext cx="91440" cy="2743200"/>
            <a:chOff x="0" y="0"/>
            <a:chExt cx="121920" cy="3657600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121920" cy="3657600"/>
            </a:xfrm>
            <a:custGeom>
              <a:avLst/>
              <a:gdLst/>
              <a:ahLst/>
              <a:cxnLst/>
              <a:rect r="r" b="b" t="t" l="l"/>
              <a:pathLst>
                <a:path h="3657600" w="121920">
                  <a:moveTo>
                    <a:pt x="0" y="0"/>
                  </a:moveTo>
                  <a:lnTo>
                    <a:pt x="121920" y="0"/>
                  </a:lnTo>
                  <a:lnTo>
                    <a:pt x="121920" y="3657600"/>
                  </a:lnTo>
                  <a:lnTo>
                    <a:pt x="0" y="3657600"/>
                  </a:lnTo>
                  <a:close/>
                </a:path>
              </a:pathLst>
            </a:custGeom>
            <a:solidFill>
              <a:srgbClr val="06B6D4"/>
            </a:solidFill>
          </p:spPr>
        </p:sp>
      </p:grpSp>
      <p:grpSp>
        <p:nvGrpSpPr>
          <p:cNvPr name="Group 66" id="66"/>
          <p:cNvGrpSpPr/>
          <p:nvPr/>
        </p:nvGrpSpPr>
        <p:grpSpPr>
          <a:xfrm rot="0">
            <a:off x="12618720" y="6858000"/>
            <a:ext cx="4572000" cy="548640"/>
            <a:chOff x="0" y="0"/>
            <a:chExt cx="6096000" cy="731520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6096000" cy="731520"/>
            </a:xfrm>
            <a:custGeom>
              <a:avLst/>
              <a:gdLst/>
              <a:ahLst/>
              <a:cxnLst/>
              <a:rect r="r" b="b" t="t" l="l"/>
              <a:pathLst>
                <a:path h="731520" w="6096000">
                  <a:moveTo>
                    <a:pt x="0" y="0"/>
                  </a:moveTo>
                  <a:lnTo>
                    <a:pt x="6096000" y="0"/>
                  </a:lnTo>
                  <a:lnTo>
                    <a:pt x="60960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2375" r="0" b="-112375"/>
              </a:stretch>
            </a:blipFill>
          </p:spPr>
        </p:sp>
        <p:sp>
          <p:nvSpPr>
            <p:cNvPr name="TextBox 68" id="68"/>
            <p:cNvSpPr txBox="true"/>
            <p:nvPr/>
          </p:nvSpPr>
          <p:spPr>
            <a:xfrm>
              <a:off x="0" y="0"/>
              <a:ext cx="6096000" cy="7315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0F1B2D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System Health</a:t>
              </a:r>
            </a:p>
          </p:txBody>
        </p:sp>
      </p:grpSp>
      <p:grpSp>
        <p:nvGrpSpPr>
          <p:cNvPr name="Group 69" id="69"/>
          <p:cNvGrpSpPr/>
          <p:nvPr/>
        </p:nvGrpSpPr>
        <p:grpSpPr>
          <a:xfrm rot="0">
            <a:off x="12618720" y="7498080"/>
            <a:ext cx="4572000" cy="1554480"/>
            <a:chOff x="0" y="0"/>
            <a:chExt cx="6096000" cy="2072640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6096000" cy="2072640"/>
            </a:xfrm>
            <a:custGeom>
              <a:avLst/>
              <a:gdLst/>
              <a:ahLst/>
              <a:cxnLst/>
              <a:rect r="r" b="b" t="t" l="l"/>
              <a:pathLst>
                <a:path h="2072640" w="6096000">
                  <a:moveTo>
                    <a:pt x="0" y="0"/>
                  </a:moveTo>
                  <a:lnTo>
                    <a:pt x="6096000" y="0"/>
                  </a:lnTo>
                  <a:lnTo>
                    <a:pt x="6096000" y="2072640"/>
                  </a:lnTo>
                  <a:lnTo>
                    <a:pt x="0" y="2072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308" r="0" b="-7308"/>
              </a:stretch>
            </a:blipFill>
          </p:spPr>
        </p:sp>
        <p:sp>
          <p:nvSpPr>
            <p:cNvPr name="TextBox 71" id="71"/>
            <p:cNvSpPr txBox="true"/>
            <p:nvPr/>
          </p:nvSpPr>
          <p:spPr>
            <a:xfrm>
              <a:off x="0" y="-38100"/>
              <a:ext cx="6096000" cy="2110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33415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Real-time efficiency, on-time performance, and platform utilization gauges</a:t>
              </a:r>
            </a:p>
          </p:txBody>
        </p:sp>
      </p:grpSp>
      <p:grpSp>
        <p:nvGrpSpPr>
          <p:cNvPr name="Group 72" id="72"/>
          <p:cNvGrpSpPr/>
          <p:nvPr/>
        </p:nvGrpSpPr>
        <p:grpSpPr>
          <a:xfrm rot="0">
            <a:off x="914400" y="9601200"/>
            <a:ext cx="16459200" cy="548640"/>
            <a:chOff x="0" y="0"/>
            <a:chExt cx="21945600" cy="731520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21945600" cy="731520"/>
            </a:xfrm>
            <a:custGeom>
              <a:avLst/>
              <a:gdLst/>
              <a:ahLst/>
              <a:cxnLst/>
              <a:rect r="r" b="b" t="t" l="l"/>
              <a:pathLst>
                <a:path h="73152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34551" r="0" b="-534551"/>
              </a:stretch>
            </a:blipFill>
          </p:spPr>
        </p:sp>
        <p:sp>
          <p:nvSpPr>
            <p:cNvPr name="TextBox 74" id="74"/>
            <p:cNvSpPr txBox="true"/>
            <p:nvPr/>
          </p:nvSpPr>
          <p:spPr>
            <a:xfrm>
              <a:off x="0" y="-28575"/>
              <a:ext cx="21945600" cy="7600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"/>
                </a:lnSpc>
              </a:pPr>
              <a:r>
                <a:rPr lang="en-US" sz="16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RailTwin AI · FAR AWAY 2026</a:t>
              </a:r>
            </a:p>
          </p:txBody>
        </p:sp>
      </p:grpSp>
      <p:grpSp>
        <p:nvGrpSpPr>
          <p:cNvPr name="Group 75" id="75"/>
          <p:cNvGrpSpPr/>
          <p:nvPr/>
        </p:nvGrpSpPr>
        <p:grpSpPr>
          <a:xfrm rot="0">
            <a:off x="15544800" y="9601200"/>
            <a:ext cx="2194560" cy="548640"/>
            <a:chOff x="0" y="0"/>
            <a:chExt cx="2926080" cy="731520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2926080" cy="731520"/>
            </a:xfrm>
            <a:custGeom>
              <a:avLst/>
              <a:gdLst/>
              <a:ahLst/>
              <a:cxnLst/>
              <a:rect r="r" b="b" t="t" l="l"/>
              <a:pathLst>
                <a:path h="731520" w="2926080">
                  <a:moveTo>
                    <a:pt x="0" y="0"/>
                  </a:moveTo>
                  <a:lnTo>
                    <a:pt x="2926080" y="0"/>
                  </a:lnTo>
                  <a:lnTo>
                    <a:pt x="29260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940" r="0" b="-27940"/>
              </a:stretch>
            </a:blipFill>
          </p:spPr>
        </p:sp>
        <p:sp>
          <p:nvSpPr>
            <p:cNvPr name="TextBox 77" id="77"/>
            <p:cNvSpPr txBox="true"/>
            <p:nvPr/>
          </p:nvSpPr>
          <p:spPr>
            <a:xfrm>
              <a:off x="0" y="-28575"/>
              <a:ext cx="2926080" cy="7600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920"/>
                </a:lnSpc>
              </a:pPr>
              <a:r>
                <a:rPr lang="en-US" sz="16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3 / 15</a:t>
              </a:r>
            </a:p>
          </p:txBody>
        </p:sp>
      </p:grpSp>
      <p:sp>
        <p:nvSpPr>
          <p:cNvPr name="Freeform 78" id="78"/>
          <p:cNvSpPr/>
          <p:nvPr/>
        </p:nvSpPr>
        <p:spPr>
          <a:xfrm flipH="false" flipV="false" rot="0">
            <a:off x="16642080" y="73152"/>
            <a:ext cx="1645920" cy="1645920"/>
          </a:xfrm>
          <a:custGeom>
            <a:avLst/>
            <a:gdLst/>
            <a:ahLst/>
            <a:cxnLst/>
            <a:rect r="r" b="b" t="t" l="l"/>
            <a:pathLst>
              <a:path h="1645920" w="1645920">
                <a:moveTo>
                  <a:pt x="0" y="0"/>
                </a:moveTo>
                <a:lnTo>
                  <a:pt x="1645920" y="0"/>
                </a:lnTo>
                <a:lnTo>
                  <a:pt x="1645920" y="1645920"/>
                </a:lnTo>
                <a:lnTo>
                  <a:pt x="0" y="164592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73152"/>
            <a:chOff x="0" y="0"/>
            <a:chExt cx="24384000" cy="9753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97536"/>
            </a:xfrm>
            <a:custGeom>
              <a:avLst/>
              <a:gdLst/>
              <a:ahLst/>
              <a:cxnLst/>
              <a:rect r="r" b="b" t="t" l="l"/>
              <a:pathLst>
                <a:path h="97536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97536"/>
                  </a:lnTo>
                  <a:lnTo>
                    <a:pt x="0" y="97536"/>
                  </a:lnTo>
                  <a:close/>
                </a:path>
              </a:pathLst>
            </a:custGeom>
            <a:solidFill>
              <a:srgbClr val="2563EB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914400" y="365760"/>
            <a:ext cx="16459200" cy="822960"/>
            <a:chOff x="0" y="0"/>
            <a:chExt cx="21945600" cy="109728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9525"/>
              <a:ext cx="21945600" cy="11068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280"/>
                </a:lnSpc>
              </a:pPr>
              <a:r>
                <a:rPr lang="en-US" sz="4400" b="true">
                  <a:solidFill>
                    <a:srgbClr val="0F1B2D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Key Features — What Is Actually Built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908047" y="1273807"/>
            <a:ext cx="16471897" cy="12697"/>
            <a:chOff x="0" y="0"/>
            <a:chExt cx="21962529" cy="16929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962490" cy="16891"/>
            </a:xfrm>
            <a:custGeom>
              <a:avLst/>
              <a:gdLst/>
              <a:ahLst/>
              <a:cxnLst/>
              <a:rect r="r" b="b" t="t" l="l"/>
              <a:pathLst>
                <a:path h="16891" w="21962490">
                  <a:moveTo>
                    <a:pt x="0" y="0"/>
                  </a:moveTo>
                  <a:lnTo>
                    <a:pt x="21962490" y="16891"/>
                  </a:lnTo>
                </a:path>
              </a:pathLst>
            </a:custGeom>
            <a:blipFill>
              <a:blip r:embed="rId3">
                <a:alphaModFix amt="0"/>
              </a:blip>
              <a:stretch>
                <a:fillRect l="0" t="-25285314" r="0" b="-25285540"/>
              </a:stretch>
            </a:blipFill>
            <a:ln w="12700" cap="sq">
              <a:solidFill>
                <a:srgbClr val="CBD5E1"/>
              </a:solidFill>
              <a:prstDash val="solid"/>
              <a:miter/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914400" y="1645920"/>
            <a:ext cx="8046720" cy="2377440"/>
            <a:chOff x="0" y="0"/>
            <a:chExt cx="10728960" cy="316992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0728960" cy="3169920"/>
            </a:xfrm>
            <a:custGeom>
              <a:avLst/>
              <a:gdLst/>
              <a:ahLst/>
              <a:cxnLst/>
              <a:rect r="r" b="b" t="t" l="l"/>
              <a:pathLst>
                <a:path h="3169920" w="10728960">
                  <a:moveTo>
                    <a:pt x="0" y="0"/>
                  </a:moveTo>
                  <a:lnTo>
                    <a:pt x="10728960" y="0"/>
                  </a:lnTo>
                  <a:lnTo>
                    <a:pt x="10728960" y="3169920"/>
                  </a:lnTo>
                  <a:lnTo>
                    <a:pt x="0" y="316992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914400" y="1645920"/>
            <a:ext cx="91440" cy="2377440"/>
            <a:chOff x="0" y="0"/>
            <a:chExt cx="121920" cy="316992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21920" cy="3169920"/>
            </a:xfrm>
            <a:custGeom>
              <a:avLst/>
              <a:gdLst/>
              <a:ahLst/>
              <a:cxnLst/>
              <a:rect r="r" b="b" t="t" l="l"/>
              <a:pathLst>
                <a:path h="3169920" w="121920">
                  <a:moveTo>
                    <a:pt x="0" y="0"/>
                  </a:moveTo>
                  <a:lnTo>
                    <a:pt x="121920" y="0"/>
                  </a:lnTo>
                  <a:lnTo>
                    <a:pt x="121920" y="3169920"/>
                  </a:lnTo>
                  <a:lnTo>
                    <a:pt x="0" y="3169920"/>
                  </a:lnTo>
                  <a:close/>
                </a:path>
              </a:pathLst>
            </a:custGeom>
            <a:solidFill>
              <a:srgbClr val="2563EB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1280160" y="1828800"/>
            <a:ext cx="7315200" cy="548640"/>
            <a:chOff x="0" y="0"/>
            <a:chExt cx="9753600" cy="73152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9753600" cy="731520"/>
            </a:xfrm>
            <a:custGeom>
              <a:avLst/>
              <a:gdLst/>
              <a:ahLst/>
              <a:cxnLst/>
              <a:rect r="r" b="b" t="t" l="l"/>
              <a:pathLst>
                <a:path h="731520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9800" r="0" b="-209800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0"/>
              <a:ext cx="9753600" cy="7315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0F1B2D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Interactive Live Map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280160" y="2377440"/>
            <a:ext cx="7315200" cy="1463040"/>
            <a:chOff x="0" y="0"/>
            <a:chExt cx="9753600" cy="195072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9753600" cy="1950720"/>
            </a:xfrm>
            <a:custGeom>
              <a:avLst/>
              <a:gdLst/>
              <a:ahLst/>
              <a:cxnLst/>
              <a:rect r="r" b="b" t="t" l="l"/>
              <a:pathLst>
                <a:path h="1950720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1950720"/>
                  </a:lnTo>
                  <a:lnTo>
                    <a:pt x="0" y="1950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7425" r="0" b="-47425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9753600" cy="19888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33415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MapLibre GL with 7 train markers, route lines, station risk overlays, weather HUD. Trains animate every 5s via SSE stream.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9509760" y="1645920"/>
            <a:ext cx="8046720" cy="2377440"/>
            <a:chOff x="0" y="0"/>
            <a:chExt cx="10728960" cy="316992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0728960" cy="3169920"/>
            </a:xfrm>
            <a:custGeom>
              <a:avLst/>
              <a:gdLst/>
              <a:ahLst/>
              <a:cxnLst/>
              <a:rect r="r" b="b" t="t" l="l"/>
              <a:pathLst>
                <a:path h="3169920" w="10728960">
                  <a:moveTo>
                    <a:pt x="0" y="0"/>
                  </a:moveTo>
                  <a:lnTo>
                    <a:pt x="10728960" y="0"/>
                  </a:lnTo>
                  <a:lnTo>
                    <a:pt x="10728960" y="3169920"/>
                  </a:lnTo>
                  <a:lnTo>
                    <a:pt x="0" y="316992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9509760" y="1645920"/>
            <a:ext cx="91440" cy="2377440"/>
            <a:chOff x="0" y="0"/>
            <a:chExt cx="121920" cy="316992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21920" cy="3169920"/>
            </a:xfrm>
            <a:custGeom>
              <a:avLst/>
              <a:gdLst/>
              <a:ahLst/>
              <a:cxnLst/>
              <a:rect r="r" b="b" t="t" l="l"/>
              <a:pathLst>
                <a:path h="3169920" w="121920">
                  <a:moveTo>
                    <a:pt x="0" y="0"/>
                  </a:moveTo>
                  <a:lnTo>
                    <a:pt x="121920" y="0"/>
                  </a:lnTo>
                  <a:lnTo>
                    <a:pt x="121920" y="3169920"/>
                  </a:lnTo>
                  <a:lnTo>
                    <a:pt x="0" y="3169920"/>
                  </a:lnTo>
                  <a:close/>
                </a:path>
              </a:pathLst>
            </a:custGeom>
            <a:solidFill>
              <a:srgbClr val="2563EB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9875520" y="1828800"/>
            <a:ext cx="7315200" cy="548640"/>
            <a:chOff x="0" y="0"/>
            <a:chExt cx="9753600" cy="73152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9753600" cy="731520"/>
            </a:xfrm>
            <a:custGeom>
              <a:avLst/>
              <a:gdLst/>
              <a:ahLst/>
              <a:cxnLst/>
              <a:rect r="r" b="b" t="t" l="l"/>
              <a:pathLst>
                <a:path h="731520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9800" r="0" b="-209800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0"/>
              <a:ext cx="9753600" cy="7315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0F1B2D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Delay Prediction Engine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9875520" y="2377440"/>
            <a:ext cx="7315200" cy="1463040"/>
            <a:chOff x="0" y="0"/>
            <a:chExt cx="9753600" cy="195072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9753600" cy="1950720"/>
            </a:xfrm>
            <a:custGeom>
              <a:avLst/>
              <a:gdLst/>
              <a:ahLst/>
              <a:cxnLst/>
              <a:rect r="r" b="b" t="t" l="l"/>
              <a:pathLst>
                <a:path h="1950720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1950720"/>
                  </a:lnTo>
                  <a:lnTo>
                    <a:pt x="0" y="1950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7425" r="0" b="-47425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38100"/>
              <a:ext cx="9753600" cy="19888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33415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Two-tier: Ridge Regression ML (R²=0.73, 448 samples) + weighted scoring fallback. Factors in weather, congestion, route distance, historical patterns.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914400" y="4389120"/>
            <a:ext cx="8046720" cy="2377440"/>
            <a:chOff x="0" y="0"/>
            <a:chExt cx="10728960" cy="316992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0728960" cy="3169920"/>
            </a:xfrm>
            <a:custGeom>
              <a:avLst/>
              <a:gdLst/>
              <a:ahLst/>
              <a:cxnLst/>
              <a:rect r="r" b="b" t="t" l="l"/>
              <a:pathLst>
                <a:path h="3169920" w="10728960">
                  <a:moveTo>
                    <a:pt x="0" y="0"/>
                  </a:moveTo>
                  <a:lnTo>
                    <a:pt x="10728960" y="0"/>
                  </a:lnTo>
                  <a:lnTo>
                    <a:pt x="10728960" y="3169920"/>
                  </a:lnTo>
                  <a:lnTo>
                    <a:pt x="0" y="316992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914400" y="4389120"/>
            <a:ext cx="91440" cy="2377440"/>
            <a:chOff x="0" y="0"/>
            <a:chExt cx="121920" cy="316992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21920" cy="3169920"/>
            </a:xfrm>
            <a:custGeom>
              <a:avLst/>
              <a:gdLst/>
              <a:ahLst/>
              <a:cxnLst/>
              <a:rect r="r" b="b" t="t" l="l"/>
              <a:pathLst>
                <a:path h="3169920" w="121920">
                  <a:moveTo>
                    <a:pt x="0" y="0"/>
                  </a:moveTo>
                  <a:lnTo>
                    <a:pt x="121920" y="0"/>
                  </a:lnTo>
                  <a:lnTo>
                    <a:pt x="121920" y="3169920"/>
                  </a:lnTo>
                  <a:lnTo>
                    <a:pt x="0" y="3169920"/>
                  </a:lnTo>
                  <a:close/>
                </a:path>
              </a:pathLst>
            </a:custGeom>
            <a:solidFill>
              <a:srgbClr val="2563EB"/>
            </a:solid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1280160" y="4572000"/>
            <a:ext cx="7315200" cy="548640"/>
            <a:chOff x="0" y="0"/>
            <a:chExt cx="9753600" cy="73152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9753600" cy="731520"/>
            </a:xfrm>
            <a:custGeom>
              <a:avLst/>
              <a:gdLst/>
              <a:ahLst/>
              <a:cxnLst/>
              <a:rect r="r" b="b" t="t" l="l"/>
              <a:pathLst>
                <a:path h="731520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9800" r="0" b="-209800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0"/>
              <a:ext cx="9753600" cy="7315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0F1B2D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Cascade Disruption Simulator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1280160" y="5120640"/>
            <a:ext cx="7315200" cy="1463040"/>
            <a:chOff x="0" y="0"/>
            <a:chExt cx="9753600" cy="195072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9753600" cy="1950720"/>
            </a:xfrm>
            <a:custGeom>
              <a:avLst/>
              <a:gdLst/>
              <a:ahLst/>
              <a:cxnLst/>
              <a:rect r="r" b="b" t="t" l="l"/>
              <a:pathLst>
                <a:path h="1950720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1950720"/>
                  </a:lnTo>
                  <a:lnTo>
                    <a:pt x="0" y="1950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7425" r="0" b="-47425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38100"/>
              <a:ext cx="9753600" cy="19888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33415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Models ripple effects from rainfall, fog, signal failure, track damage. Computes affected trains, passengers, and station-level conflicts.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9509760" y="4389120"/>
            <a:ext cx="8046720" cy="2377440"/>
            <a:chOff x="0" y="0"/>
            <a:chExt cx="10728960" cy="316992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10728960" cy="3169920"/>
            </a:xfrm>
            <a:custGeom>
              <a:avLst/>
              <a:gdLst/>
              <a:ahLst/>
              <a:cxnLst/>
              <a:rect r="r" b="b" t="t" l="l"/>
              <a:pathLst>
                <a:path h="3169920" w="10728960">
                  <a:moveTo>
                    <a:pt x="0" y="0"/>
                  </a:moveTo>
                  <a:lnTo>
                    <a:pt x="10728960" y="0"/>
                  </a:lnTo>
                  <a:lnTo>
                    <a:pt x="10728960" y="3169920"/>
                  </a:lnTo>
                  <a:lnTo>
                    <a:pt x="0" y="316992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9509760" y="4389120"/>
            <a:ext cx="91440" cy="2377440"/>
            <a:chOff x="0" y="0"/>
            <a:chExt cx="121920" cy="316992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121920" cy="3169920"/>
            </a:xfrm>
            <a:custGeom>
              <a:avLst/>
              <a:gdLst/>
              <a:ahLst/>
              <a:cxnLst/>
              <a:rect r="r" b="b" t="t" l="l"/>
              <a:pathLst>
                <a:path h="3169920" w="121920">
                  <a:moveTo>
                    <a:pt x="0" y="0"/>
                  </a:moveTo>
                  <a:lnTo>
                    <a:pt x="121920" y="0"/>
                  </a:lnTo>
                  <a:lnTo>
                    <a:pt x="121920" y="3169920"/>
                  </a:lnTo>
                  <a:lnTo>
                    <a:pt x="0" y="3169920"/>
                  </a:lnTo>
                  <a:close/>
                </a:path>
              </a:pathLst>
            </a:custGeom>
            <a:solidFill>
              <a:srgbClr val="2563EB"/>
            </a:solidFill>
          </p:spPr>
        </p:sp>
      </p:grpSp>
      <p:grpSp>
        <p:nvGrpSpPr>
          <p:cNvPr name="Group 43" id="43"/>
          <p:cNvGrpSpPr/>
          <p:nvPr/>
        </p:nvGrpSpPr>
        <p:grpSpPr>
          <a:xfrm rot="0">
            <a:off x="9875520" y="4572000"/>
            <a:ext cx="7315200" cy="548640"/>
            <a:chOff x="0" y="0"/>
            <a:chExt cx="9753600" cy="73152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9753600" cy="731520"/>
            </a:xfrm>
            <a:custGeom>
              <a:avLst/>
              <a:gdLst/>
              <a:ahLst/>
              <a:cxnLst/>
              <a:rect r="r" b="b" t="t" l="l"/>
              <a:pathLst>
                <a:path h="731520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9800" r="0" b="-209800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0"/>
              <a:ext cx="9753600" cy="7315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0F1B2D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AI Copilot (Gemini)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9875520" y="5120640"/>
            <a:ext cx="7315200" cy="1463040"/>
            <a:chOff x="0" y="0"/>
            <a:chExt cx="9753600" cy="195072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9753600" cy="1950720"/>
            </a:xfrm>
            <a:custGeom>
              <a:avLst/>
              <a:gdLst/>
              <a:ahLst/>
              <a:cxnLst/>
              <a:rect r="r" b="b" t="t" l="l"/>
              <a:pathLst>
                <a:path h="1950720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1950720"/>
                  </a:lnTo>
                  <a:lnTo>
                    <a:pt x="0" y="1950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7425" r="0" b="-47425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38100"/>
              <a:ext cx="9753600" cy="19888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33415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Gemini 2.0 Flash with auto-fallback to Gemini 2.5 Flash. Multi-turn chat, recommendations, network-aware context. Caches responses for 5 min.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914400" y="7132320"/>
            <a:ext cx="8046720" cy="2377440"/>
            <a:chOff x="0" y="0"/>
            <a:chExt cx="10728960" cy="316992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10728960" cy="3169920"/>
            </a:xfrm>
            <a:custGeom>
              <a:avLst/>
              <a:gdLst/>
              <a:ahLst/>
              <a:cxnLst/>
              <a:rect r="r" b="b" t="t" l="l"/>
              <a:pathLst>
                <a:path h="3169920" w="10728960">
                  <a:moveTo>
                    <a:pt x="0" y="0"/>
                  </a:moveTo>
                  <a:lnTo>
                    <a:pt x="10728960" y="0"/>
                  </a:lnTo>
                  <a:lnTo>
                    <a:pt x="10728960" y="3169920"/>
                  </a:lnTo>
                  <a:lnTo>
                    <a:pt x="0" y="316992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51" id="51"/>
          <p:cNvGrpSpPr/>
          <p:nvPr/>
        </p:nvGrpSpPr>
        <p:grpSpPr>
          <a:xfrm rot="0">
            <a:off x="914400" y="7132320"/>
            <a:ext cx="91440" cy="2377440"/>
            <a:chOff x="0" y="0"/>
            <a:chExt cx="121920" cy="316992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121920" cy="3169920"/>
            </a:xfrm>
            <a:custGeom>
              <a:avLst/>
              <a:gdLst/>
              <a:ahLst/>
              <a:cxnLst/>
              <a:rect r="r" b="b" t="t" l="l"/>
              <a:pathLst>
                <a:path h="3169920" w="121920">
                  <a:moveTo>
                    <a:pt x="0" y="0"/>
                  </a:moveTo>
                  <a:lnTo>
                    <a:pt x="121920" y="0"/>
                  </a:lnTo>
                  <a:lnTo>
                    <a:pt x="121920" y="3169920"/>
                  </a:lnTo>
                  <a:lnTo>
                    <a:pt x="0" y="3169920"/>
                  </a:lnTo>
                  <a:close/>
                </a:path>
              </a:pathLst>
            </a:custGeom>
            <a:solidFill>
              <a:srgbClr val="2563EB"/>
            </a:solidFill>
          </p:spPr>
        </p:sp>
      </p:grpSp>
      <p:grpSp>
        <p:nvGrpSpPr>
          <p:cNvPr name="Group 53" id="53"/>
          <p:cNvGrpSpPr/>
          <p:nvPr/>
        </p:nvGrpSpPr>
        <p:grpSpPr>
          <a:xfrm rot="0">
            <a:off x="1280160" y="7315200"/>
            <a:ext cx="7315200" cy="548640"/>
            <a:chOff x="0" y="0"/>
            <a:chExt cx="9753600" cy="73152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9753600" cy="731520"/>
            </a:xfrm>
            <a:custGeom>
              <a:avLst/>
              <a:gdLst/>
              <a:ahLst/>
              <a:cxnLst/>
              <a:rect r="r" b="b" t="t" l="l"/>
              <a:pathLst>
                <a:path h="731520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9800" r="0" b="-209800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0"/>
              <a:ext cx="9753600" cy="7315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0F1B2D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Live Weather Layer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1280160" y="7863840"/>
            <a:ext cx="7315200" cy="1463040"/>
            <a:chOff x="0" y="0"/>
            <a:chExt cx="9753600" cy="195072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9753600" cy="1950720"/>
            </a:xfrm>
            <a:custGeom>
              <a:avLst/>
              <a:gdLst/>
              <a:ahLst/>
              <a:cxnLst/>
              <a:rect r="r" b="b" t="t" l="l"/>
              <a:pathLst>
                <a:path h="1950720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1950720"/>
                  </a:lnTo>
                  <a:lnTo>
                    <a:pt x="0" y="1950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7425" r="0" b="-47425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38100"/>
              <a:ext cx="9753600" cy="19888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33415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OpenWeather API + Open-Meteo fallback + intelligent seasonal fallback. 36 stations, 10-min in-memory cache, weather alerts with auto-dismiss.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9509760" y="7132320"/>
            <a:ext cx="8046720" cy="2377440"/>
            <a:chOff x="0" y="0"/>
            <a:chExt cx="10728960" cy="316992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10728960" cy="3169920"/>
            </a:xfrm>
            <a:custGeom>
              <a:avLst/>
              <a:gdLst/>
              <a:ahLst/>
              <a:cxnLst/>
              <a:rect r="r" b="b" t="t" l="l"/>
              <a:pathLst>
                <a:path h="3169920" w="10728960">
                  <a:moveTo>
                    <a:pt x="0" y="0"/>
                  </a:moveTo>
                  <a:lnTo>
                    <a:pt x="10728960" y="0"/>
                  </a:lnTo>
                  <a:lnTo>
                    <a:pt x="10728960" y="3169920"/>
                  </a:lnTo>
                  <a:lnTo>
                    <a:pt x="0" y="316992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61" id="61"/>
          <p:cNvGrpSpPr/>
          <p:nvPr/>
        </p:nvGrpSpPr>
        <p:grpSpPr>
          <a:xfrm rot="0">
            <a:off x="9509760" y="7132320"/>
            <a:ext cx="91440" cy="2377440"/>
            <a:chOff x="0" y="0"/>
            <a:chExt cx="121920" cy="3169920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121920" cy="3169920"/>
            </a:xfrm>
            <a:custGeom>
              <a:avLst/>
              <a:gdLst/>
              <a:ahLst/>
              <a:cxnLst/>
              <a:rect r="r" b="b" t="t" l="l"/>
              <a:pathLst>
                <a:path h="3169920" w="121920">
                  <a:moveTo>
                    <a:pt x="0" y="0"/>
                  </a:moveTo>
                  <a:lnTo>
                    <a:pt x="121920" y="0"/>
                  </a:lnTo>
                  <a:lnTo>
                    <a:pt x="121920" y="3169920"/>
                  </a:lnTo>
                  <a:lnTo>
                    <a:pt x="0" y="3169920"/>
                  </a:lnTo>
                  <a:close/>
                </a:path>
              </a:pathLst>
            </a:custGeom>
            <a:solidFill>
              <a:srgbClr val="2563EB"/>
            </a:solidFill>
          </p:spPr>
        </p:sp>
      </p:grpSp>
      <p:grpSp>
        <p:nvGrpSpPr>
          <p:cNvPr name="Group 63" id="63"/>
          <p:cNvGrpSpPr/>
          <p:nvPr/>
        </p:nvGrpSpPr>
        <p:grpSpPr>
          <a:xfrm rot="0">
            <a:off x="9875520" y="7315200"/>
            <a:ext cx="7315200" cy="548640"/>
            <a:chOff x="0" y="0"/>
            <a:chExt cx="9753600" cy="731520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9753600" cy="731520"/>
            </a:xfrm>
            <a:custGeom>
              <a:avLst/>
              <a:gdLst/>
              <a:ahLst/>
              <a:cxnLst/>
              <a:rect r="r" b="b" t="t" l="l"/>
              <a:pathLst>
                <a:path h="731520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9800" r="0" b="-209800"/>
              </a:stretch>
            </a:blipFill>
          </p:spPr>
        </p:sp>
        <p:sp>
          <p:nvSpPr>
            <p:cNvPr name="TextBox 65" id="65"/>
            <p:cNvSpPr txBox="true"/>
            <p:nvPr/>
          </p:nvSpPr>
          <p:spPr>
            <a:xfrm>
              <a:off x="0" y="0"/>
              <a:ext cx="9753600" cy="7315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0F1B2D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What-If Lab</a:t>
              </a:r>
            </a:p>
          </p:txBody>
        </p:sp>
      </p:grpSp>
      <p:grpSp>
        <p:nvGrpSpPr>
          <p:cNvPr name="Group 66" id="66"/>
          <p:cNvGrpSpPr/>
          <p:nvPr/>
        </p:nvGrpSpPr>
        <p:grpSpPr>
          <a:xfrm rot="0">
            <a:off x="9875520" y="7863840"/>
            <a:ext cx="7315200" cy="1463040"/>
            <a:chOff x="0" y="0"/>
            <a:chExt cx="9753600" cy="1950720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9753600" cy="1950720"/>
            </a:xfrm>
            <a:custGeom>
              <a:avLst/>
              <a:gdLst/>
              <a:ahLst/>
              <a:cxnLst/>
              <a:rect r="r" b="b" t="t" l="l"/>
              <a:pathLst>
                <a:path h="1950720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1950720"/>
                  </a:lnTo>
                  <a:lnTo>
                    <a:pt x="0" y="1950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7425" r="0" b="-47425"/>
              </a:stretch>
            </a:blipFill>
          </p:spPr>
        </p:sp>
        <p:sp>
          <p:nvSpPr>
            <p:cNvPr name="TextBox 68" id="68"/>
            <p:cNvSpPr txBox="true"/>
            <p:nvPr/>
          </p:nvSpPr>
          <p:spPr>
            <a:xfrm>
              <a:off x="0" y="-38100"/>
              <a:ext cx="9753600" cy="19888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33415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Interactive scenario builder: select station + disruption type, view projected cascade delay, conflicts, and passenger impact instantly.</a:t>
              </a:r>
            </a:p>
          </p:txBody>
        </p:sp>
      </p:grpSp>
      <p:grpSp>
        <p:nvGrpSpPr>
          <p:cNvPr name="Group 69" id="69"/>
          <p:cNvGrpSpPr/>
          <p:nvPr/>
        </p:nvGrpSpPr>
        <p:grpSpPr>
          <a:xfrm rot="0">
            <a:off x="914400" y="9601200"/>
            <a:ext cx="16459200" cy="548640"/>
            <a:chOff x="0" y="0"/>
            <a:chExt cx="21945600" cy="731520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21945600" cy="731520"/>
            </a:xfrm>
            <a:custGeom>
              <a:avLst/>
              <a:gdLst/>
              <a:ahLst/>
              <a:cxnLst/>
              <a:rect r="r" b="b" t="t" l="l"/>
              <a:pathLst>
                <a:path h="73152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34551" r="0" b="-534551"/>
              </a:stretch>
            </a:blipFill>
          </p:spPr>
        </p:sp>
        <p:sp>
          <p:nvSpPr>
            <p:cNvPr name="TextBox 71" id="71"/>
            <p:cNvSpPr txBox="true"/>
            <p:nvPr/>
          </p:nvSpPr>
          <p:spPr>
            <a:xfrm>
              <a:off x="0" y="-28575"/>
              <a:ext cx="21945600" cy="7600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"/>
                </a:lnSpc>
              </a:pPr>
              <a:r>
                <a:rPr lang="en-US" sz="16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RailTwin AI · FAR AWAY 2026</a:t>
              </a:r>
            </a:p>
          </p:txBody>
        </p:sp>
      </p:grpSp>
      <p:grpSp>
        <p:nvGrpSpPr>
          <p:cNvPr name="Group 72" id="72"/>
          <p:cNvGrpSpPr/>
          <p:nvPr/>
        </p:nvGrpSpPr>
        <p:grpSpPr>
          <a:xfrm rot="0">
            <a:off x="15544800" y="9601200"/>
            <a:ext cx="2194560" cy="548640"/>
            <a:chOff x="0" y="0"/>
            <a:chExt cx="2926080" cy="731520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2926080" cy="731520"/>
            </a:xfrm>
            <a:custGeom>
              <a:avLst/>
              <a:gdLst/>
              <a:ahLst/>
              <a:cxnLst/>
              <a:rect r="r" b="b" t="t" l="l"/>
              <a:pathLst>
                <a:path h="731520" w="2926080">
                  <a:moveTo>
                    <a:pt x="0" y="0"/>
                  </a:moveTo>
                  <a:lnTo>
                    <a:pt x="2926080" y="0"/>
                  </a:lnTo>
                  <a:lnTo>
                    <a:pt x="29260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940" r="0" b="-27940"/>
              </a:stretch>
            </a:blipFill>
          </p:spPr>
        </p:sp>
        <p:sp>
          <p:nvSpPr>
            <p:cNvPr name="TextBox 74" id="74"/>
            <p:cNvSpPr txBox="true"/>
            <p:nvPr/>
          </p:nvSpPr>
          <p:spPr>
            <a:xfrm>
              <a:off x="0" y="-28575"/>
              <a:ext cx="2926080" cy="7600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920"/>
                </a:lnSpc>
              </a:pPr>
              <a:r>
                <a:rPr lang="en-US" sz="16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4 / 15</a:t>
              </a:r>
            </a:p>
          </p:txBody>
        </p:sp>
      </p:grpSp>
      <p:sp>
        <p:nvSpPr>
          <p:cNvPr name="Freeform 75" id="75"/>
          <p:cNvSpPr/>
          <p:nvPr/>
        </p:nvSpPr>
        <p:spPr>
          <a:xfrm flipH="false" flipV="false" rot="0">
            <a:off x="16642080" y="73152"/>
            <a:ext cx="1645920" cy="1645920"/>
          </a:xfrm>
          <a:custGeom>
            <a:avLst/>
            <a:gdLst/>
            <a:ahLst/>
            <a:cxnLst/>
            <a:rect r="r" b="b" t="t" l="l"/>
            <a:pathLst>
              <a:path h="1645920" w="1645920">
                <a:moveTo>
                  <a:pt x="0" y="0"/>
                </a:moveTo>
                <a:lnTo>
                  <a:pt x="1645920" y="0"/>
                </a:lnTo>
                <a:lnTo>
                  <a:pt x="1645920" y="1645920"/>
                </a:lnTo>
                <a:lnTo>
                  <a:pt x="0" y="164592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73152"/>
            <a:chOff x="0" y="0"/>
            <a:chExt cx="24384000" cy="9753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97536"/>
            </a:xfrm>
            <a:custGeom>
              <a:avLst/>
              <a:gdLst/>
              <a:ahLst/>
              <a:cxnLst/>
              <a:rect r="r" b="b" t="t" l="l"/>
              <a:pathLst>
                <a:path h="97536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97536"/>
                  </a:lnTo>
                  <a:lnTo>
                    <a:pt x="0" y="97536"/>
                  </a:lnTo>
                  <a:close/>
                </a:path>
              </a:pathLst>
            </a:custGeom>
            <a:solidFill>
              <a:srgbClr val="2563EB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914400" y="365760"/>
            <a:ext cx="16459200" cy="822960"/>
            <a:chOff x="0" y="0"/>
            <a:chExt cx="21945600" cy="109728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9525"/>
              <a:ext cx="21945600" cy="11068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280"/>
                </a:lnSpc>
              </a:pPr>
              <a:r>
                <a:rPr lang="en-US" sz="4400" b="true">
                  <a:solidFill>
                    <a:srgbClr val="0F1B2D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Data Sources — Grounded in Reality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908047" y="1273807"/>
            <a:ext cx="16471897" cy="12697"/>
            <a:chOff x="0" y="0"/>
            <a:chExt cx="21962529" cy="16929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962490" cy="16891"/>
            </a:xfrm>
            <a:custGeom>
              <a:avLst/>
              <a:gdLst/>
              <a:ahLst/>
              <a:cxnLst/>
              <a:rect r="r" b="b" t="t" l="l"/>
              <a:pathLst>
                <a:path h="16891" w="21962490">
                  <a:moveTo>
                    <a:pt x="0" y="0"/>
                  </a:moveTo>
                  <a:lnTo>
                    <a:pt x="21962490" y="16891"/>
                  </a:lnTo>
                </a:path>
              </a:pathLst>
            </a:custGeom>
            <a:blipFill>
              <a:blip r:embed="rId3">
                <a:alphaModFix amt="0"/>
              </a:blip>
              <a:stretch>
                <a:fillRect l="0" t="-25285314" r="0" b="-25285540"/>
              </a:stretch>
            </a:blipFill>
            <a:ln w="12700" cap="sq">
              <a:solidFill>
                <a:srgbClr val="CBD5E1"/>
              </a:solidFill>
              <a:prstDash val="solid"/>
              <a:miter/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914400" y="1645920"/>
            <a:ext cx="16459200" cy="1828800"/>
            <a:chOff x="0" y="0"/>
            <a:chExt cx="21945600" cy="24384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1945600" cy="2438400"/>
            </a:xfrm>
            <a:custGeom>
              <a:avLst/>
              <a:gdLst/>
              <a:ahLst/>
              <a:cxnLst/>
              <a:rect r="r" b="b" t="t" l="l"/>
              <a:pathLst>
                <a:path h="24384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438400"/>
                  </a:lnTo>
                  <a:lnTo>
                    <a:pt x="0" y="24384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914400" y="1645920"/>
            <a:ext cx="91440" cy="1828800"/>
            <a:chOff x="0" y="0"/>
            <a:chExt cx="121920" cy="24384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21920" cy="2438400"/>
            </a:xfrm>
            <a:custGeom>
              <a:avLst/>
              <a:gdLst/>
              <a:ahLst/>
              <a:cxnLst/>
              <a:rect r="r" b="b" t="t" l="l"/>
              <a:pathLst>
                <a:path h="2438400" w="121920">
                  <a:moveTo>
                    <a:pt x="0" y="0"/>
                  </a:moveTo>
                  <a:lnTo>
                    <a:pt x="121920" y="0"/>
                  </a:lnTo>
                  <a:lnTo>
                    <a:pt x="121920" y="2438400"/>
                  </a:lnTo>
                  <a:lnTo>
                    <a:pt x="0" y="2438400"/>
                  </a:lnTo>
                  <a:close/>
                </a:path>
              </a:pathLst>
            </a:custGeom>
            <a:solidFill>
              <a:srgbClr val="2563EB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1371600" y="1792224"/>
            <a:ext cx="10058400" cy="548640"/>
            <a:chOff x="0" y="0"/>
            <a:chExt cx="13411200" cy="73152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3411200" cy="731520"/>
            </a:xfrm>
            <a:custGeom>
              <a:avLst/>
              <a:gdLst/>
              <a:ahLst/>
              <a:cxnLst/>
              <a:rect r="r" b="b" t="t" l="l"/>
              <a:pathLst>
                <a:path h="731520" w="13411200">
                  <a:moveTo>
                    <a:pt x="0" y="0"/>
                  </a:moveTo>
                  <a:lnTo>
                    <a:pt x="13411200" y="0"/>
                  </a:lnTo>
                  <a:lnTo>
                    <a:pt x="134112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07225" r="0" b="-307225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0"/>
              <a:ext cx="13411200" cy="7315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0F1B2D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Kaggle Indian Railways Dataset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371600" y="2340864"/>
            <a:ext cx="11887200" cy="1005840"/>
            <a:chOff x="0" y="0"/>
            <a:chExt cx="15849600" cy="134112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5849600" cy="1341120"/>
            </a:xfrm>
            <a:custGeom>
              <a:avLst/>
              <a:gdLst/>
              <a:ahLst/>
              <a:cxnLst/>
              <a:rect r="r" b="b" t="t" l="l"/>
              <a:pathLst>
                <a:path h="1341120" w="15849600">
                  <a:moveTo>
                    <a:pt x="0" y="0"/>
                  </a:moveTo>
                  <a:lnTo>
                    <a:pt x="15849600" y="0"/>
                  </a:lnTo>
                  <a:lnTo>
                    <a:pt x="1584960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0277" r="0" b="-180277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15849600" cy="13792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33415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36 major junction stations with lat/lng coordinates, 7 real train routes (Rajdhani, Shatabdi, Mail/Express), zone information, track geometries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3716000" y="2103120"/>
            <a:ext cx="3291840" cy="914400"/>
            <a:chOff x="0" y="0"/>
            <a:chExt cx="4389120" cy="12192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4389120" cy="1219200"/>
            </a:xfrm>
            <a:custGeom>
              <a:avLst/>
              <a:gdLst/>
              <a:ahLst/>
              <a:cxnLst/>
              <a:rect r="r" b="b" t="t" l="l"/>
              <a:pathLst>
                <a:path h="1219200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146" r="0" b="-20146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4389120" cy="1257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 b="true">
                  <a:solidFill>
                    <a:srgbClr val="22C55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✅ Imported &amp; used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914400" y="3749040"/>
            <a:ext cx="16459200" cy="1828800"/>
            <a:chOff x="0" y="0"/>
            <a:chExt cx="21945600" cy="24384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1945600" cy="2438400"/>
            </a:xfrm>
            <a:custGeom>
              <a:avLst/>
              <a:gdLst/>
              <a:ahLst/>
              <a:cxnLst/>
              <a:rect r="r" b="b" t="t" l="l"/>
              <a:pathLst>
                <a:path h="24384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438400"/>
                  </a:lnTo>
                  <a:lnTo>
                    <a:pt x="0" y="24384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914400" y="3749040"/>
            <a:ext cx="91440" cy="1828800"/>
            <a:chOff x="0" y="0"/>
            <a:chExt cx="121920" cy="24384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21920" cy="2438400"/>
            </a:xfrm>
            <a:custGeom>
              <a:avLst/>
              <a:gdLst/>
              <a:ahLst/>
              <a:cxnLst/>
              <a:rect r="r" b="b" t="t" l="l"/>
              <a:pathLst>
                <a:path h="2438400" w="121920">
                  <a:moveTo>
                    <a:pt x="0" y="0"/>
                  </a:moveTo>
                  <a:lnTo>
                    <a:pt x="121920" y="0"/>
                  </a:lnTo>
                  <a:lnTo>
                    <a:pt x="121920" y="2438400"/>
                  </a:lnTo>
                  <a:lnTo>
                    <a:pt x="0" y="2438400"/>
                  </a:lnTo>
                  <a:close/>
                </a:path>
              </a:pathLst>
            </a:custGeom>
            <a:solidFill>
              <a:srgbClr val="22C55E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1371600" y="3895344"/>
            <a:ext cx="10058400" cy="548640"/>
            <a:chOff x="0" y="0"/>
            <a:chExt cx="13411200" cy="73152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3411200" cy="731520"/>
            </a:xfrm>
            <a:custGeom>
              <a:avLst/>
              <a:gdLst/>
              <a:ahLst/>
              <a:cxnLst/>
              <a:rect r="r" b="b" t="t" l="l"/>
              <a:pathLst>
                <a:path h="731520" w="13411200">
                  <a:moveTo>
                    <a:pt x="0" y="0"/>
                  </a:moveTo>
                  <a:lnTo>
                    <a:pt x="13411200" y="0"/>
                  </a:lnTo>
                  <a:lnTo>
                    <a:pt x="134112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07225" r="0" b="-307225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0"/>
              <a:ext cx="13411200" cy="7315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0F1B2D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Historical Delay Records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371600" y="4443984"/>
            <a:ext cx="11887200" cy="1005840"/>
            <a:chOff x="0" y="0"/>
            <a:chExt cx="15849600" cy="134112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5849600" cy="1341120"/>
            </a:xfrm>
            <a:custGeom>
              <a:avLst/>
              <a:gdLst/>
              <a:ahLst/>
              <a:cxnLst/>
              <a:rect r="r" b="b" t="t" l="l"/>
              <a:pathLst>
                <a:path h="1341120" w="15849600">
                  <a:moveTo>
                    <a:pt x="0" y="0"/>
                  </a:moveTo>
                  <a:lnTo>
                    <a:pt x="15849600" y="0"/>
                  </a:lnTo>
                  <a:lnTo>
                    <a:pt x="1584960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0277" r="0" b="-180277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38100"/>
              <a:ext cx="15849600" cy="13792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33415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576 delay records across 7 trains, covering 12 months, 7 weather conditions. Used for ML training and weighted scoring baseline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13716000" y="4206240"/>
            <a:ext cx="3291840" cy="914400"/>
            <a:chOff x="0" y="0"/>
            <a:chExt cx="4389120" cy="12192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4389120" cy="1219200"/>
            </a:xfrm>
            <a:custGeom>
              <a:avLst/>
              <a:gdLst/>
              <a:ahLst/>
              <a:cxnLst/>
              <a:rect r="r" b="b" t="t" l="l"/>
              <a:pathLst>
                <a:path h="1219200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146" r="0" b="-20146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38100"/>
              <a:ext cx="4389120" cy="1257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 b="true">
                  <a:solidFill>
                    <a:srgbClr val="22C55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✅ 576 records loaded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914400" y="5852160"/>
            <a:ext cx="16459200" cy="1828800"/>
            <a:chOff x="0" y="0"/>
            <a:chExt cx="21945600" cy="243840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21945600" cy="2438400"/>
            </a:xfrm>
            <a:custGeom>
              <a:avLst/>
              <a:gdLst/>
              <a:ahLst/>
              <a:cxnLst/>
              <a:rect r="r" b="b" t="t" l="l"/>
              <a:pathLst>
                <a:path h="24384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438400"/>
                  </a:lnTo>
                  <a:lnTo>
                    <a:pt x="0" y="24384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37" id="37"/>
          <p:cNvGrpSpPr/>
          <p:nvPr/>
        </p:nvGrpSpPr>
        <p:grpSpPr>
          <a:xfrm rot="0">
            <a:off x="914400" y="5852160"/>
            <a:ext cx="91440" cy="1828800"/>
            <a:chOff x="0" y="0"/>
            <a:chExt cx="121920" cy="243840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121920" cy="2438400"/>
            </a:xfrm>
            <a:custGeom>
              <a:avLst/>
              <a:gdLst/>
              <a:ahLst/>
              <a:cxnLst/>
              <a:rect r="r" b="b" t="t" l="l"/>
              <a:pathLst>
                <a:path h="2438400" w="121920">
                  <a:moveTo>
                    <a:pt x="0" y="0"/>
                  </a:moveTo>
                  <a:lnTo>
                    <a:pt x="121920" y="0"/>
                  </a:lnTo>
                  <a:lnTo>
                    <a:pt x="121920" y="2438400"/>
                  </a:lnTo>
                  <a:lnTo>
                    <a:pt x="0" y="2438400"/>
                  </a:lnTo>
                  <a:close/>
                </a:path>
              </a:pathLst>
            </a:custGeom>
            <a:solidFill>
              <a:srgbClr val="F59E0B"/>
            </a:solidFill>
          </p:spPr>
        </p:sp>
      </p:grpSp>
      <p:grpSp>
        <p:nvGrpSpPr>
          <p:cNvPr name="Group 39" id="39"/>
          <p:cNvGrpSpPr/>
          <p:nvPr/>
        </p:nvGrpSpPr>
        <p:grpSpPr>
          <a:xfrm rot="0">
            <a:off x="1371600" y="5998464"/>
            <a:ext cx="10058400" cy="548640"/>
            <a:chOff x="0" y="0"/>
            <a:chExt cx="13411200" cy="73152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13411200" cy="731520"/>
            </a:xfrm>
            <a:custGeom>
              <a:avLst/>
              <a:gdLst/>
              <a:ahLst/>
              <a:cxnLst/>
              <a:rect r="r" b="b" t="t" l="l"/>
              <a:pathLst>
                <a:path h="731520" w="13411200">
                  <a:moveTo>
                    <a:pt x="0" y="0"/>
                  </a:moveTo>
                  <a:lnTo>
                    <a:pt x="13411200" y="0"/>
                  </a:lnTo>
                  <a:lnTo>
                    <a:pt x="134112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07225" r="0" b="-307225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0"/>
              <a:ext cx="13411200" cy="7315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0F1B2D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NTES / IRCTC (National Train Enquiry System)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1371600" y="6547104"/>
            <a:ext cx="11887200" cy="1005840"/>
            <a:chOff x="0" y="0"/>
            <a:chExt cx="15849600" cy="134112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15849600" cy="1341120"/>
            </a:xfrm>
            <a:custGeom>
              <a:avLst/>
              <a:gdLst/>
              <a:ahLst/>
              <a:cxnLst/>
              <a:rect r="r" b="b" t="t" l="l"/>
              <a:pathLst>
                <a:path h="1341120" w="15849600">
                  <a:moveTo>
                    <a:pt x="0" y="0"/>
                  </a:moveTo>
                  <a:lnTo>
                    <a:pt x="15849600" y="0"/>
                  </a:lnTo>
                  <a:lnTo>
                    <a:pt x="1584960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0277" r="0" b="-180277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38100"/>
              <a:ext cx="15849600" cy="13792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33415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Baseline schedule verification and delay-propagation validation. Designed for live integration — API key can be added in Settings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13716000" y="6309360"/>
            <a:ext cx="3291840" cy="914400"/>
            <a:chOff x="0" y="0"/>
            <a:chExt cx="4389120" cy="121920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4389120" cy="1219200"/>
            </a:xfrm>
            <a:custGeom>
              <a:avLst/>
              <a:gdLst/>
              <a:ahLst/>
              <a:cxnLst/>
              <a:rect r="r" b="b" t="t" l="l"/>
              <a:pathLst>
                <a:path h="1219200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146" r="0" b="-20146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38100"/>
              <a:ext cx="4389120" cy="1257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 b="true">
                  <a:solidFill>
                    <a:srgbClr val="22C55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✅ API-ready (RapidAPI)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914400" y="7955280"/>
            <a:ext cx="16459200" cy="1828800"/>
            <a:chOff x="0" y="0"/>
            <a:chExt cx="21945600" cy="243840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21945600" cy="2438400"/>
            </a:xfrm>
            <a:custGeom>
              <a:avLst/>
              <a:gdLst/>
              <a:ahLst/>
              <a:cxnLst/>
              <a:rect r="r" b="b" t="t" l="l"/>
              <a:pathLst>
                <a:path h="24384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438400"/>
                  </a:lnTo>
                  <a:lnTo>
                    <a:pt x="0" y="24384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914400" y="7955280"/>
            <a:ext cx="91440" cy="1828800"/>
            <a:chOff x="0" y="0"/>
            <a:chExt cx="121920" cy="243840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121920" cy="2438400"/>
            </a:xfrm>
            <a:custGeom>
              <a:avLst/>
              <a:gdLst/>
              <a:ahLst/>
              <a:cxnLst/>
              <a:rect r="r" b="b" t="t" l="l"/>
              <a:pathLst>
                <a:path h="2438400" w="121920">
                  <a:moveTo>
                    <a:pt x="0" y="0"/>
                  </a:moveTo>
                  <a:lnTo>
                    <a:pt x="121920" y="0"/>
                  </a:lnTo>
                  <a:lnTo>
                    <a:pt x="121920" y="2438400"/>
                  </a:lnTo>
                  <a:lnTo>
                    <a:pt x="0" y="2438400"/>
                  </a:lnTo>
                  <a:close/>
                </a:path>
              </a:pathLst>
            </a:custGeom>
            <a:solidFill>
              <a:srgbClr val="06B6D4"/>
            </a:solidFill>
          </p:spPr>
        </p:sp>
      </p:grpSp>
      <p:grpSp>
        <p:nvGrpSpPr>
          <p:cNvPr name="Group 52" id="52"/>
          <p:cNvGrpSpPr/>
          <p:nvPr/>
        </p:nvGrpSpPr>
        <p:grpSpPr>
          <a:xfrm rot="0">
            <a:off x="1371600" y="8101584"/>
            <a:ext cx="10058400" cy="548640"/>
            <a:chOff x="0" y="0"/>
            <a:chExt cx="13411200" cy="73152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13411200" cy="731520"/>
            </a:xfrm>
            <a:custGeom>
              <a:avLst/>
              <a:gdLst/>
              <a:ahLst/>
              <a:cxnLst/>
              <a:rect r="r" b="b" t="t" l="l"/>
              <a:pathLst>
                <a:path h="731520" w="13411200">
                  <a:moveTo>
                    <a:pt x="0" y="0"/>
                  </a:moveTo>
                  <a:lnTo>
                    <a:pt x="13411200" y="0"/>
                  </a:lnTo>
                  <a:lnTo>
                    <a:pt x="134112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07225" r="0" b="-307225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0"/>
              <a:ext cx="13411200" cy="7315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0F1B2D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OpenWeatherMap + Open-Meteo</a:t>
              </a:r>
            </a:p>
          </p:txBody>
        </p:sp>
      </p:grpSp>
      <p:grpSp>
        <p:nvGrpSpPr>
          <p:cNvPr name="Group 55" id="55"/>
          <p:cNvGrpSpPr/>
          <p:nvPr/>
        </p:nvGrpSpPr>
        <p:grpSpPr>
          <a:xfrm rot="0">
            <a:off x="1371600" y="8650224"/>
            <a:ext cx="11887200" cy="1005840"/>
            <a:chOff x="0" y="0"/>
            <a:chExt cx="15849600" cy="1341120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15849600" cy="1341120"/>
            </a:xfrm>
            <a:custGeom>
              <a:avLst/>
              <a:gdLst/>
              <a:ahLst/>
              <a:cxnLst/>
              <a:rect r="r" b="b" t="t" l="l"/>
              <a:pathLst>
                <a:path h="1341120" w="15849600">
                  <a:moveTo>
                    <a:pt x="0" y="0"/>
                  </a:moveTo>
                  <a:lnTo>
                    <a:pt x="15849600" y="0"/>
                  </a:lnTo>
                  <a:lnTo>
                    <a:pt x="1584960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0277" r="0" b="-180277"/>
              </a:stretch>
            </a:blipFill>
          </p:spPr>
        </p:sp>
        <p:sp>
          <p:nvSpPr>
            <p:cNvPr name="TextBox 57" id="57"/>
            <p:cNvSpPr txBox="true"/>
            <p:nvPr/>
          </p:nvSpPr>
          <p:spPr>
            <a:xfrm>
              <a:off x="0" y="-38100"/>
              <a:ext cx="15849600" cy="13792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33415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Per-station weather via lat/lon. OpenWeather primary, Open-Meteo fallback, intelligent seasonal fallback (monsoon/summer/winter/coastal)</a:t>
              </a:r>
            </a:p>
          </p:txBody>
        </p:sp>
      </p:grpSp>
      <p:grpSp>
        <p:nvGrpSpPr>
          <p:cNvPr name="Group 58" id="58"/>
          <p:cNvGrpSpPr/>
          <p:nvPr/>
        </p:nvGrpSpPr>
        <p:grpSpPr>
          <a:xfrm rot="0">
            <a:off x="13716000" y="8412480"/>
            <a:ext cx="3291840" cy="914400"/>
            <a:chOff x="0" y="0"/>
            <a:chExt cx="4389120" cy="1219200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4389120" cy="1219200"/>
            </a:xfrm>
            <a:custGeom>
              <a:avLst/>
              <a:gdLst/>
              <a:ahLst/>
              <a:cxnLst/>
              <a:rect r="r" b="b" t="t" l="l"/>
              <a:pathLst>
                <a:path h="1219200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146" r="0" b="-20146"/>
              </a:stretch>
            </a:blipFill>
          </p:spPr>
        </p:sp>
        <p:sp>
          <p:nvSpPr>
            <p:cNvPr name="TextBox 60" id="60"/>
            <p:cNvSpPr txBox="true"/>
            <p:nvPr/>
          </p:nvSpPr>
          <p:spPr>
            <a:xfrm>
              <a:off x="0" y="-38100"/>
              <a:ext cx="4389120" cy="1257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 b="true">
                  <a:solidFill>
                    <a:srgbClr val="22C55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✅ API key configured</a:t>
              </a:r>
            </a:p>
          </p:txBody>
        </p:sp>
      </p:grpSp>
      <p:grpSp>
        <p:nvGrpSpPr>
          <p:cNvPr name="Group 61" id="61"/>
          <p:cNvGrpSpPr/>
          <p:nvPr/>
        </p:nvGrpSpPr>
        <p:grpSpPr>
          <a:xfrm rot="0">
            <a:off x="914400" y="9601200"/>
            <a:ext cx="16459200" cy="548640"/>
            <a:chOff x="0" y="0"/>
            <a:chExt cx="21945600" cy="731520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21945600" cy="731520"/>
            </a:xfrm>
            <a:custGeom>
              <a:avLst/>
              <a:gdLst/>
              <a:ahLst/>
              <a:cxnLst/>
              <a:rect r="r" b="b" t="t" l="l"/>
              <a:pathLst>
                <a:path h="73152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34551" r="0" b="-534551"/>
              </a:stretch>
            </a:blipFill>
          </p:spPr>
        </p:sp>
        <p:sp>
          <p:nvSpPr>
            <p:cNvPr name="TextBox 63" id="63"/>
            <p:cNvSpPr txBox="true"/>
            <p:nvPr/>
          </p:nvSpPr>
          <p:spPr>
            <a:xfrm>
              <a:off x="0" y="-28575"/>
              <a:ext cx="21945600" cy="7600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"/>
                </a:lnSpc>
              </a:pPr>
              <a:r>
                <a:rPr lang="en-US" sz="16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RailTwin AI · FAR AWAY 2026</a:t>
              </a:r>
            </a:p>
          </p:txBody>
        </p:sp>
      </p:grpSp>
      <p:grpSp>
        <p:nvGrpSpPr>
          <p:cNvPr name="Group 64" id="64"/>
          <p:cNvGrpSpPr/>
          <p:nvPr/>
        </p:nvGrpSpPr>
        <p:grpSpPr>
          <a:xfrm rot="0">
            <a:off x="15544800" y="9601200"/>
            <a:ext cx="2194560" cy="548640"/>
            <a:chOff x="0" y="0"/>
            <a:chExt cx="2926080" cy="731520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2926080" cy="731520"/>
            </a:xfrm>
            <a:custGeom>
              <a:avLst/>
              <a:gdLst/>
              <a:ahLst/>
              <a:cxnLst/>
              <a:rect r="r" b="b" t="t" l="l"/>
              <a:pathLst>
                <a:path h="731520" w="2926080">
                  <a:moveTo>
                    <a:pt x="0" y="0"/>
                  </a:moveTo>
                  <a:lnTo>
                    <a:pt x="2926080" y="0"/>
                  </a:lnTo>
                  <a:lnTo>
                    <a:pt x="29260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940" r="0" b="-27940"/>
              </a:stretch>
            </a:blipFill>
          </p:spPr>
        </p:sp>
        <p:sp>
          <p:nvSpPr>
            <p:cNvPr name="TextBox 66" id="66"/>
            <p:cNvSpPr txBox="true"/>
            <p:nvPr/>
          </p:nvSpPr>
          <p:spPr>
            <a:xfrm>
              <a:off x="0" y="-28575"/>
              <a:ext cx="2926080" cy="7600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920"/>
                </a:lnSpc>
              </a:pPr>
              <a:r>
                <a:rPr lang="en-US" sz="16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5 / 15</a:t>
              </a:r>
            </a:p>
          </p:txBody>
        </p:sp>
      </p:grpSp>
      <p:sp>
        <p:nvSpPr>
          <p:cNvPr name="Freeform 67" id="67"/>
          <p:cNvSpPr/>
          <p:nvPr/>
        </p:nvSpPr>
        <p:spPr>
          <a:xfrm flipH="false" flipV="false" rot="0">
            <a:off x="16642080" y="73152"/>
            <a:ext cx="1645920" cy="1645920"/>
          </a:xfrm>
          <a:custGeom>
            <a:avLst/>
            <a:gdLst/>
            <a:ahLst/>
            <a:cxnLst/>
            <a:rect r="r" b="b" t="t" l="l"/>
            <a:pathLst>
              <a:path h="1645920" w="1645920">
                <a:moveTo>
                  <a:pt x="0" y="0"/>
                </a:moveTo>
                <a:lnTo>
                  <a:pt x="1645920" y="0"/>
                </a:lnTo>
                <a:lnTo>
                  <a:pt x="1645920" y="1645920"/>
                </a:lnTo>
                <a:lnTo>
                  <a:pt x="0" y="164592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73152"/>
            <a:chOff x="0" y="0"/>
            <a:chExt cx="24384000" cy="9753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97536"/>
            </a:xfrm>
            <a:custGeom>
              <a:avLst/>
              <a:gdLst/>
              <a:ahLst/>
              <a:cxnLst/>
              <a:rect r="r" b="b" t="t" l="l"/>
              <a:pathLst>
                <a:path h="97536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97536"/>
                  </a:lnTo>
                  <a:lnTo>
                    <a:pt x="0" y="97536"/>
                  </a:lnTo>
                  <a:close/>
                </a:path>
              </a:pathLst>
            </a:custGeom>
            <a:solidFill>
              <a:srgbClr val="2563EB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914400" y="365760"/>
            <a:ext cx="16459200" cy="822960"/>
            <a:chOff x="0" y="0"/>
            <a:chExt cx="21945600" cy="109728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9525"/>
              <a:ext cx="21945600" cy="11068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280"/>
                </a:lnSpc>
              </a:pPr>
              <a:r>
                <a:rPr lang="en-US" sz="4400" b="true">
                  <a:solidFill>
                    <a:srgbClr val="0F1B2D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AI Stack &amp; Technology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908047" y="1273807"/>
            <a:ext cx="16471897" cy="12697"/>
            <a:chOff x="0" y="0"/>
            <a:chExt cx="21962529" cy="16929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962490" cy="16891"/>
            </a:xfrm>
            <a:custGeom>
              <a:avLst/>
              <a:gdLst/>
              <a:ahLst/>
              <a:cxnLst/>
              <a:rect r="r" b="b" t="t" l="l"/>
              <a:pathLst>
                <a:path h="16891" w="21962490">
                  <a:moveTo>
                    <a:pt x="0" y="0"/>
                  </a:moveTo>
                  <a:lnTo>
                    <a:pt x="21962490" y="16891"/>
                  </a:lnTo>
                </a:path>
              </a:pathLst>
            </a:custGeom>
            <a:blipFill>
              <a:blip r:embed="rId3">
                <a:alphaModFix amt="0"/>
              </a:blip>
              <a:stretch>
                <a:fillRect l="0" t="-25285314" r="0" b="-25285540"/>
              </a:stretch>
            </a:blipFill>
            <a:ln w="12700" cap="sq">
              <a:solidFill>
                <a:srgbClr val="CBD5E1"/>
              </a:solidFill>
              <a:prstDash val="solid"/>
              <a:miter/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914400" y="1645920"/>
            <a:ext cx="7863840" cy="640080"/>
            <a:chOff x="0" y="0"/>
            <a:chExt cx="10485120" cy="85344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0485120" cy="853440"/>
            </a:xfrm>
            <a:custGeom>
              <a:avLst/>
              <a:gdLst/>
              <a:ahLst/>
              <a:cxnLst/>
              <a:rect r="r" b="b" t="t" l="l"/>
              <a:pathLst>
                <a:path h="853440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9387" r="0" b="-189387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9525"/>
              <a:ext cx="10485120" cy="8629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 b="true">
                  <a:solidFill>
                    <a:srgbClr val="0F1B2D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AI &amp; Intelligence Layer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914400" y="2377440"/>
            <a:ext cx="7863840" cy="6400800"/>
            <a:chOff x="0" y="0"/>
            <a:chExt cx="10485120" cy="85344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0485120" cy="8534400"/>
            </a:xfrm>
            <a:custGeom>
              <a:avLst/>
              <a:gdLst/>
              <a:ahLst/>
              <a:cxnLst/>
              <a:rect r="r" b="b" t="t" l="l"/>
              <a:pathLst>
                <a:path h="8534400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8534400"/>
                  </a:lnTo>
                  <a:lnTo>
                    <a:pt x="0" y="85344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280160" y="2560320"/>
            <a:ext cx="7132320" cy="5852160"/>
            <a:chOff x="0" y="0"/>
            <a:chExt cx="9509760" cy="780288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9509760" cy="7802880"/>
            </a:xfrm>
            <a:custGeom>
              <a:avLst/>
              <a:gdLst/>
              <a:ahLst/>
              <a:cxnLst/>
              <a:rect r="r" b="b" t="t" l="l"/>
              <a:pathLst>
                <a:path h="7802880" w="9509760">
                  <a:moveTo>
                    <a:pt x="0" y="0"/>
                  </a:moveTo>
                  <a:lnTo>
                    <a:pt x="9509760" y="0"/>
                  </a:lnTo>
                  <a:lnTo>
                    <a:pt x="9509760" y="7802880"/>
                  </a:lnTo>
                  <a:lnTo>
                    <a:pt x="0" y="78028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5274" t="0" r="-55274" b="0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9509760" cy="78409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482600" indent="-241300" lvl="1">
                <a:lnSpc>
                  <a:spcPts val="2400"/>
                </a:lnSpc>
                <a:buFont typeface="Arial"/>
                <a:buChar char="•"/>
              </a:pPr>
              <a:r>
                <a:rPr lang="en-US" sz="2000">
                  <a:solidFill>
                    <a:srgbClr val="33415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Gemini 2.0 Flash (primary) — server-side API route</a:t>
              </a:r>
            </a:p>
            <a:p>
              <a:pPr algn="l" marL="482600" indent="-241300" lvl="1">
                <a:lnSpc>
                  <a:spcPts val="2400"/>
                </a:lnSpc>
                <a:buFont typeface="Arial"/>
                <a:buChar char="•"/>
              </a:pPr>
              <a:r>
                <a:rPr lang="en-US" sz="2000">
                  <a:solidFill>
                    <a:srgbClr val="33415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Gemini 2.5 Flash (auto-fallback on quota/error)</a:t>
              </a:r>
            </a:p>
            <a:p>
              <a:pPr algn="l" marL="482600" indent="-241300" lvl="1">
                <a:lnSpc>
                  <a:spcPts val="2400"/>
                </a:lnSpc>
                <a:buFont typeface="Arial"/>
                <a:buChar char="•"/>
              </a:pPr>
              <a:r>
                <a:rPr lang="en-US" sz="2000">
                  <a:solidFill>
                    <a:srgbClr val="33415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Retry with exponential backoff, 5-min response cache</a:t>
              </a:r>
            </a:p>
            <a:p>
              <a:pPr algn="l" marL="482600" indent="-241300" lvl="1">
                <a:lnSpc>
                  <a:spcPts val="2400"/>
                </a:lnSpc>
                <a:buFont typeface="Arial"/>
                <a:buChar char="•"/>
              </a:pPr>
              <a:r>
                <a:rPr lang="en-US" sz="2000">
                  <a:solidFill>
                    <a:srgbClr val="33415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System prompt includes live network context</a:t>
              </a:r>
            </a:p>
            <a:p>
              <a:pPr algn="l" marL="482600" indent="-241300" lvl="1">
                <a:lnSpc>
                  <a:spcPts val="2400"/>
                </a:lnSpc>
                <a:buFont typeface="Arial"/>
                <a:buChar char="•"/>
              </a:pPr>
              <a:r>
                <a:rPr lang="en-US" sz="2000">
                  <a:solidFill>
                    <a:srgbClr val="33415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Ridge Regression delay model (R²=0.73, 448 samples)</a:t>
              </a:r>
            </a:p>
            <a:p>
              <a:pPr algn="l" marL="482600" indent="-241300" lvl="1">
                <a:lnSpc>
                  <a:spcPts val="2400"/>
                </a:lnSpc>
                <a:buFont typeface="Arial"/>
                <a:buChar char="•"/>
              </a:pPr>
              <a:r>
                <a:rPr lang="en-US" sz="2000">
                  <a:solidFill>
                    <a:srgbClr val="33415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ML model: weather one-hot + month + train type + route length</a:t>
              </a:r>
            </a:p>
            <a:p>
              <a:pPr algn="l" marL="482600" indent="-241300" lvl="1">
                <a:lnSpc>
                  <a:spcPts val="2400"/>
                </a:lnSpc>
                <a:buFont typeface="Arial"/>
                <a:buChar char="•"/>
              </a:pPr>
              <a:r>
                <a:rPr lang="en-US" sz="2000">
                  <a:solidFill>
                    <a:srgbClr val="33415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Weighted scoring fallback (historical 40% + weather 25% + congestion 20% + route 15%)</a:t>
              </a:r>
            </a:p>
            <a:p>
              <a:pPr algn="l" marL="482600" indent="-241300" lvl="1">
                <a:lnSpc>
                  <a:spcPts val="2400"/>
                </a:lnSpc>
                <a:buFont typeface="Arial"/>
                <a:buChar char="•"/>
              </a:pPr>
              <a:r>
                <a:rPr lang="en-US" sz="2000">
                  <a:solidFill>
                    <a:srgbClr val="33415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10-min weather cache with OpenWeather + Open-Meteo + seasonal fallback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9509760" y="1645920"/>
            <a:ext cx="7863840" cy="640080"/>
            <a:chOff x="0" y="0"/>
            <a:chExt cx="10485120" cy="85344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0485120" cy="853440"/>
            </a:xfrm>
            <a:custGeom>
              <a:avLst/>
              <a:gdLst/>
              <a:ahLst/>
              <a:cxnLst/>
              <a:rect r="r" b="b" t="t" l="l"/>
              <a:pathLst>
                <a:path h="853440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9387" r="0" b="-189387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9525"/>
              <a:ext cx="10485120" cy="8629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 b="true">
                  <a:solidFill>
                    <a:srgbClr val="0F1B2D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Website &amp; Infrastructure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9509760" y="2377440"/>
            <a:ext cx="7863840" cy="6400800"/>
            <a:chOff x="0" y="0"/>
            <a:chExt cx="10485120" cy="85344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0485120" cy="8534400"/>
            </a:xfrm>
            <a:custGeom>
              <a:avLst/>
              <a:gdLst/>
              <a:ahLst/>
              <a:cxnLst/>
              <a:rect r="r" b="b" t="t" l="l"/>
              <a:pathLst>
                <a:path h="8534400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8534400"/>
                  </a:lnTo>
                  <a:lnTo>
                    <a:pt x="0" y="85344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9875520" y="2560320"/>
            <a:ext cx="7132320" cy="5852160"/>
            <a:chOff x="0" y="0"/>
            <a:chExt cx="9509760" cy="780288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9509760" cy="7802880"/>
            </a:xfrm>
            <a:custGeom>
              <a:avLst/>
              <a:gdLst/>
              <a:ahLst/>
              <a:cxnLst/>
              <a:rect r="r" b="b" t="t" l="l"/>
              <a:pathLst>
                <a:path h="7802880" w="9509760">
                  <a:moveTo>
                    <a:pt x="0" y="0"/>
                  </a:moveTo>
                  <a:lnTo>
                    <a:pt x="9509760" y="0"/>
                  </a:lnTo>
                  <a:lnTo>
                    <a:pt x="9509760" y="7802880"/>
                  </a:lnTo>
                  <a:lnTo>
                    <a:pt x="0" y="78028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5274" t="0" r="-55274" b="0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9509760" cy="78409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482600" indent="-241300" lvl="1">
                <a:lnSpc>
                  <a:spcPts val="2400"/>
                </a:lnSpc>
                <a:buFont typeface="Arial"/>
                <a:buChar char="•"/>
              </a:pPr>
              <a:r>
                <a:rPr lang="en-US" sz="2000">
                  <a:solidFill>
                    <a:srgbClr val="33415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Framework: Astro v6 + React 19 (SSR on Vercel)</a:t>
              </a:r>
            </a:p>
            <a:p>
              <a:pPr algn="l" marL="482600" indent="-241300" lvl="1">
                <a:lnSpc>
                  <a:spcPts val="2400"/>
                </a:lnSpc>
                <a:buFont typeface="Arial"/>
                <a:buChar char="•"/>
              </a:pPr>
              <a:r>
                <a:rPr lang="en-US" sz="2000">
                  <a:solidFill>
                    <a:srgbClr val="33415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Maps: MapLibre GL v4 (CDN) with GeoJSON layers</a:t>
              </a:r>
            </a:p>
            <a:p>
              <a:pPr algn="l" marL="482600" indent="-241300" lvl="1">
                <a:lnSpc>
                  <a:spcPts val="2400"/>
                </a:lnSpc>
                <a:buFont typeface="Arial"/>
                <a:buChar char="•"/>
              </a:pPr>
              <a:r>
                <a:rPr lang="en-US" sz="2000">
                  <a:solidFill>
                    <a:srgbClr val="33415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Styling: Tailwind CSS v4 with CSS custom properties</a:t>
              </a:r>
            </a:p>
            <a:p>
              <a:pPr algn="l" marL="482600" indent="-241300" lvl="1">
                <a:lnSpc>
                  <a:spcPts val="2400"/>
                </a:lnSpc>
                <a:buFont typeface="Arial"/>
                <a:buChar char="•"/>
              </a:pPr>
              <a:r>
                <a:rPr lang="en-US" sz="2000">
                  <a:solidFill>
                    <a:srgbClr val="33415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State: Zustand v5 — centralized store with SSE updates</a:t>
              </a:r>
            </a:p>
            <a:p>
              <a:pPr algn="l" marL="482600" indent="-241300" lvl="1">
                <a:lnSpc>
                  <a:spcPts val="2400"/>
                </a:lnSpc>
                <a:buFont typeface="Arial"/>
                <a:buChar char="•"/>
              </a:pPr>
              <a:r>
                <a:rPr lang="en-US" sz="2000">
                  <a:solidFill>
                    <a:srgbClr val="33415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Charts: Recharts v3 — delay accumulation area charts</a:t>
              </a:r>
            </a:p>
            <a:p>
              <a:pPr algn="l" marL="482600" indent="-241300" lvl="1">
                <a:lnSpc>
                  <a:spcPts val="2400"/>
                </a:lnSpc>
                <a:buFont typeface="Arial"/>
                <a:buChar char="•"/>
              </a:pPr>
              <a:r>
                <a:rPr lang="en-US" sz="2000">
                  <a:solidFill>
                    <a:srgbClr val="33415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Icons: Lucide React — consistent icon system</a:t>
              </a:r>
            </a:p>
            <a:p>
              <a:pPr algn="l" marL="482600" indent="-241300" lvl="1">
                <a:lnSpc>
                  <a:spcPts val="2400"/>
                </a:lnSpc>
                <a:buFont typeface="Arial"/>
                <a:buChar char="•"/>
              </a:pPr>
              <a:r>
                <a:rPr lang="en-US" sz="2000">
                  <a:solidFill>
                    <a:srgbClr val="33415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Database: SQLite (better-sqlite3) on server</a:t>
              </a:r>
            </a:p>
            <a:p>
              <a:pPr algn="l" marL="482600" indent="-241300" lvl="1">
                <a:lnSpc>
                  <a:spcPts val="2400"/>
                </a:lnSpc>
                <a:buFont typeface="Arial"/>
                <a:buChar char="•"/>
              </a:pPr>
              <a:r>
                <a:rPr lang="en-US" sz="2000">
                  <a:solidFill>
                    <a:srgbClr val="33415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Hosting: Vercel (SSR, auto-scaling serverless)</a:t>
              </a:r>
            </a:p>
            <a:p>
              <a:pPr algn="l" marL="482600" indent="-241300" lvl="1">
                <a:lnSpc>
                  <a:spcPts val="2400"/>
                </a:lnSpc>
                <a:buFont typeface="Arial"/>
                <a:buChar char="•"/>
              </a:pPr>
              <a:r>
                <a:rPr lang="en-US" sz="2000">
                  <a:solidFill>
                    <a:srgbClr val="33415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Fonts: Geist Sans + Geist Mono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914400" y="9601200"/>
            <a:ext cx="16459200" cy="548640"/>
            <a:chOff x="0" y="0"/>
            <a:chExt cx="21945600" cy="73152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21945600" cy="731520"/>
            </a:xfrm>
            <a:custGeom>
              <a:avLst/>
              <a:gdLst/>
              <a:ahLst/>
              <a:cxnLst/>
              <a:rect r="r" b="b" t="t" l="l"/>
              <a:pathLst>
                <a:path h="73152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34551" r="0" b="-534551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28575"/>
              <a:ext cx="21945600" cy="7600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"/>
                </a:lnSpc>
              </a:pPr>
              <a:r>
                <a:rPr lang="en-US" sz="16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RailTwin AI · FAR AWAY 2026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5544800" y="9601200"/>
            <a:ext cx="2194560" cy="548640"/>
            <a:chOff x="0" y="0"/>
            <a:chExt cx="2926080" cy="73152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2926080" cy="731520"/>
            </a:xfrm>
            <a:custGeom>
              <a:avLst/>
              <a:gdLst/>
              <a:ahLst/>
              <a:cxnLst/>
              <a:rect r="r" b="b" t="t" l="l"/>
              <a:pathLst>
                <a:path h="731520" w="2926080">
                  <a:moveTo>
                    <a:pt x="0" y="0"/>
                  </a:moveTo>
                  <a:lnTo>
                    <a:pt x="2926080" y="0"/>
                  </a:lnTo>
                  <a:lnTo>
                    <a:pt x="29260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940" r="0" b="-27940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28575"/>
              <a:ext cx="2926080" cy="7600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920"/>
                </a:lnSpc>
              </a:pPr>
              <a:r>
                <a:rPr lang="en-US" sz="16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6 / 15</a:t>
              </a:r>
            </a:p>
          </p:txBody>
        </p:sp>
      </p:grpSp>
      <p:sp>
        <p:nvSpPr>
          <p:cNvPr name="Freeform 31" id="31"/>
          <p:cNvSpPr/>
          <p:nvPr/>
        </p:nvSpPr>
        <p:spPr>
          <a:xfrm flipH="false" flipV="false" rot="0">
            <a:off x="16642080" y="73152"/>
            <a:ext cx="1645920" cy="1645920"/>
          </a:xfrm>
          <a:custGeom>
            <a:avLst/>
            <a:gdLst/>
            <a:ahLst/>
            <a:cxnLst/>
            <a:rect r="r" b="b" t="t" l="l"/>
            <a:pathLst>
              <a:path h="1645920" w="1645920">
                <a:moveTo>
                  <a:pt x="0" y="0"/>
                </a:moveTo>
                <a:lnTo>
                  <a:pt x="1645920" y="0"/>
                </a:lnTo>
                <a:lnTo>
                  <a:pt x="1645920" y="1645920"/>
                </a:lnTo>
                <a:lnTo>
                  <a:pt x="0" y="164592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73152"/>
            <a:chOff x="0" y="0"/>
            <a:chExt cx="24384000" cy="9753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97536"/>
            </a:xfrm>
            <a:custGeom>
              <a:avLst/>
              <a:gdLst/>
              <a:ahLst/>
              <a:cxnLst/>
              <a:rect r="r" b="b" t="t" l="l"/>
              <a:pathLst>
                <a:path h="97536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97536"/>
                  </a:lnTo>
                  <a:lnTo>
                    <a:pt x="0" y="97536"/>
                  </a:lnTo>
                  <a:close/>
                </a:path>
              </a:pathLst>
            </a:custGeom>
            <a:solidFill>
              <a:srgbClr val="2563EB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914400" y="365760"/>
            <a:ext cx="16459200" cy="822960"/>
            <a:chOff x="0" y="0"/>
            <a:chExt cx="21945600" cy="109728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9525"/>
              <a:ext cx="21945600" cy="11068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280"/>
                </a:lnSpc>
              </a:pPr>
              <a:r>
                <a:rPr lang="en-US" sz="4400" b="true">
                  <a:solidFill>
                    <a:srgbClr val="0F1B2D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System Architecture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908047" y="1273807"/>
            <a:ext cx="16471897" cy="12697"/>
            <a:chOff x="0" y="0"/>
            <a:chExt cx="21962529" cy="16929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962490" cy="16891"/>
            </a:xfrm>
            <a:custGeom>
              <a:avLst/>
              <a:gdLst/>
              <a:ahLst/>
              <a:cxnLst/>
              <a:rect r="r" b="b" t="t" l="l"/>
              <a:pathLst>
                <a:path h="16891" w="21962490">
                  <a:moveTo>
                    <a:pt x="0" y="0"/>
                  </a:moveTo>
                  <a:lnTo>
                    <a:pt x="21962490" y="16891"/>
                  </a:lnTo>
                </a:path>
              </a:pathLst>
            </a:custGeom>
            <a:blipFill>
              <a:blip r:embed="rId3">
                <a:alphaModFix amt="0"/>
              </a:blip>
              <a:stretch>
                <a:fillRect l="0" t="-25285314" r="0" b="-25285540"/>
              </a:stretch>
            </a:blipFill>
            <a:ln w="12700" cap="sq">
              <a:solidFill>
                <a:srgbClr val="CBD5E1"/>
              </a:solidFill>
              <a:prstDash val="solid"/>
              <a:miter/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914400" y="1828800"/>
            <a:ext cx="16459200" cy="548640"/>
            <a:chOff x="0" y="0"/>
            <a:chExt cx="21945600" cy="73152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1945600" cy="731520"/>
            </a:xfrm>
            <a:custGeom>
              <a:avLst/>
              <a:gdLst/>
              <a:ahLst/>
              <a:cxnLst/>
              <a:rect r="r" b="b" t="t" l="l"/>
              <a:pathLst>
                <a:path h="73152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34551" r="0" b="-534551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2194560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64748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DATA SOURCES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914400" y="2377440"/>
            <a:ext cx="3840480" cy="1188720"/>
            <a:chOff x="0" y="0"/>
            <a:chExt cx="5120640" cy="158496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5120640" cy="1584960"/>
            </a:xfrm>
            <a:custGeom>
              <a:avLst/>
              <a:gdLst/>
              <a:ahLst/>
              <a:cxnLst/>
              <a:rect r="r" b="b" t="t" l="l"/>
              <a:pathLst>
                <a:path h="1584960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1584960"/>
                  </a:lnTo>
                  <a:lnTo>
                    <a:pt x="0" y="1584960"/>
                  </a:lnTo>
                  <a:close/>
                </a:path>
              </a:pathLst>
            </a:custGeom>
            <a:solidFill>
              <a:srgbClr val="0F1B2D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914400" y="2377440"/>
            <a:ext cx="3840480" cy="1188720"/>
            <a:chOff x="0" y="0"/>
            <a:chExt cx="5120640" cy="158496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5120640" cy="1584960"/>
            </a:xfrm>
            <a:custGeom>
              <a:avLst/>
              <a:gdLst/>
              <a:ahLst/>
              <a:cxnLst/>
              <a:rect r="r" b="b" t="t" l="l"/>
              <a:pathLst>
                <a:path h="1584960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951" r="0" b="-12951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28575"/>
              <a:ext cx="5120640" cy="16135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"/>
                </a:lnSpc>
              </a:pPr>
              <a:r>
                <a:rPr lang="en-US" sz="16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station_data.json</a:t>
              </a:r>
            </a:p>
            <a:p>
              <a:pPr algn="ctr">
                <a:lnSpc>
                  <a:spcPts val="1920"/>
                </a:lnSpc>
              </a:pPr>
              <a:r>
                <a:rPr lang="en-US" sz="16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36 stations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5120640" y="2377440"/>
            <a:ext cx="3840480" cy="1188720"/>
            <a:chOff x="0" y="0"/>
            <a:chExt cx="5120640" cy="158496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5120640" cy="1584960"/>
            </a:xfrm>
            <a:custGeom>
              <a:avLst/>
              <a:gdLst/>
              <a:ahLst/>
              <a:cxnLst/>
              <a:rect r="r" b="b" t="t" l="l"/>
              <a:pathLst>
                <a:path h="1584960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1584960"/>
                  </a:lnTo>
                  <a:lnTo>
                    <a:pt x="0" y="1584960"/>
                  </a:lnTo>
                  <a:close/>
                </a:path>
              </a:pathLst>
            </a:custGeom>
            <a:solidFill>
              <a:srgbClr val="0F1B2D"/>
            </a:solid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5120640" y="2377440"/>
            <a:ext cx="3840480" cy="1188720"/>
            <a:chOff x="0" y="0"/>
            <a:chExt cx="5120640" cy="158496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5120640" cy="1584960"/>
            </a:xfrm>
            <a:custGeom>
              <a:avLst/>
              <a:gdLst/>
              <a:ahLst/>
              <a:cxnLst/>
              <a:rect r="r" b="b" t="t" l="l"/>
              <a:pathLst>
                <a:path h="1584960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951" r="0" b="-12951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28575"/>
              <a:ext cx="5120640" cy="16135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"/>
                </a:lnSpc>
              </a:pPr>
              <a:r>
                <a:rPr lang="en-US" sz="16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train_routes.json</a:t>
              </a:r>
            </a:p>
            <a:p>
              <a:pPr algn="ctr">
                <a:lnSpc>
                  <a:spcPts val="1920"/>
                </a:lnSpc>
              </a:pPr>
              <a:r>
                <a:rPr lang="en-US" sz="16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7 train routes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9326880" y="2377440"/>
            <a:ext cx="3840480" cy="1188720"/>
            <a:chOff x="0" y="0"/>
            <a:chExt cx="5120640" cy="158496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5120640" cy="1584960"/>
            </a:xfrm>
            <a:custGeom>
              <a:avLst/>
              <a:gdLst/>
              <a:ahLst/>
              <a:cxnLst/>
              <a:rect r="r" b="b" t="t" l="l"/>
              <a:pathLst>
                <a:path h="1584960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1584960"/>
                  </a:lnTo>
                  <a:lnTo>
                    <a:pt x="0" y="1584960"/>
                  </a:lnTo>
                  <a:close/>
                </a:path>
              </a:pathLst>
            </a:custGeom>
            <a:solidFill>
              <a:srgbClr val="0F1B2D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9326880" y="2377440"/>
            <a:ext cx="3840480" cy="1188720"/>
            <a:chOff x="0" y="0"/>
            <a:chExt cx="5120640" cy="158496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5120640" cy="1584960"/>
            </a:xfrm>
            <a:custGeom>
              <a:avLst/>
              <a:gdLst/>
              <a:ahLst/>
              <a:cxnLst/>
              <a:rect r="r" b="b" t="t" l="l"/>
              <a:pathLst>
                <a:path h="1584960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951" r="0" b="-12951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28575"/>
              <a:ext cx="5120640" cy="16135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"/>
                </a:lnSpc>
              </a:pPr>
              <a:r>
                <a:rPr lang="en-US" sz="16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historical_delays.json</a:t>
              </a:r>
            </a:p>
            <a:p>
              <a:pPr algn="ctr">
                <a:lnSpc>
                  <a:spcPts val="1920"/>
                </a:lnSpc>
              </a:pPr>
              <a:r>
                <a:rPr lang="en-US" sz="16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576 records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13533120" y="2377440"/>
            <a:ext cx="3840480" cy="1188720"/>
            <a:chOff x="0" y="0"/>
            <a:chExt cx="5120640" cy="158496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5120640" cy="1584960"/>
            </a:xfrm>
            <a:custGeom>
              <a:avLst/>
              <a:gdLst/>
              <a:ahLst/>
              <a:cxnLst/>
              <a:rect r="r" b="b" t="t" l="l"/>
              <a:pathLst>
                <a:path h="1584960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1584960"/>
                  </a:lnTo>
                  <a:lnTo>
                    <a:pt x="0" y="1584960"/>
                  </a:lnTo>
                  <a:close/>
                </a:path>
              </a:pathLst>
            </a:custGeom>
            <a:solidFill>
              <a:srgbClr val="0F1B2D"/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13533120" y="2377440"/>
            <a:ext cx="3840480" cy="1188720"/>
            <a:chOff x="0" y="0"/>
            <a:chExt cx="5120640" cy="158496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5120640" cy="1584960"/>
            </a:xfrm>
            <a:custGeom>
              <a:avLst/>
              <a:gdLst/>
              <a:ahLst/>
              <a:cxnLst/>
              <a:rect r="r" b="b" t="t" l="l"/>
              <a:pathLst>
                <a:path h="1584960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951" r="0" b="-12951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28575"/>
              <a:ext cx="5120640" cy="16135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"/>
                </a:lnSpc>
              </a:pPr>
              <a:r>
                <a:rPr lang="en-US" sz="16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OpenWeather/</a:t>
              </a:r>
            </a:p>
            <a:p>
              <a:pPr algn="ctr">
                <a:lnSpc>
                  <a:spcPts val="1920"/>
                </a:lnSpc>
              </a:pPr>
              <a:r>
                <a:rPr lang="en-US" sz="16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Open-Meteo API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914400" y="3566160"/>
            <a:ext cx="16459200" cy="365760"/>
            <a:chOff x="0" y="0"/>
            <a:chExt cx="21945600" cy="48768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21945600" cy="487680"/>
            </a:xfrm>
            <a:custGeom>
              <a:avLst/>
              <a:gdLst/>
              <a:ahLst/>
              <a:cxnLst/>
              <a:rect r="r" b="b" t="t" l="l"/>
              <a:pathLst>
                <a:path h="48768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26826" r="0" b="-826826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38100"/>
              <a:ext cx="21945600" cy="5257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>
                  <a:solidFill>
                    <a:srgbClr val="2563E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▼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914400" y="3931920"/>
            <a:ext cx="16459200" cy="548640"/>
            <a:chOff x="0" y="0"/>
            <a:chExt cx="21945600" cy="73152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21945600" cy="731520"/>
            </a:xfrm>
            <a:custGeom>
              <a:avLst/>
              <a:gdLst/>
              <a:ahLst/>
              <a:cxnLst/>
              <a:rect r="r" b="b" t="t" l="l"/>
              <a:pathLst>
                <a:path h="73152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34551" r="0" b="-534551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38100"/>
              <a:ext cx="2194560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64748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BACKEND / API ROUTES (Astro SSR)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914400" y="4480560"/>
            <a:ext cx="16459200" cy="1005840"/>
            <a:chOff x="0" y="0"/>
            <a:chExt cx="21945600" cy="134112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21945600" cy="1341120"/>
            </a:xfrm>
            <a:custGeom>
              <a:avLst/>
              <a:gdLst/>
              <a:ahLst/>
              <a:cxnLst/>
              <a:rect r="r" b="b" t="t" l="l"/>
              <a:pathLst>
                <a:path h="134112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341120"/>
                  </a:lnTo>
                  <a:lnTo>
                    <a:pt x="0" y="134112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1097280" y="4480560"/>
            <a:ext cx="16093440" cy="1005840"/>
            <a:chOff x="0" y="0"/>
            <a:chExt cx="21457920" cy="134112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21457920" cy="1341120"/>
            </a:xfrm>
            <a:custGeom>
              <a:avLst/>
              <a:gdLst/>
              <a:ahLst/>
              <a:cxnLst/>
              <a:rect r="r" b="b" t="t" l="l"/>
              <a:pathLst>
                <a:path h="1341120" w="21457920">
                  <a:moveTo>
                    <a:pt x="0" y="0"/>
                  </a:moveTo>
                  <a:lnTo>
                    <a:pt x="21457920" y="0"/>
                  </a:lnTo>
                  <a:lnTo>
                    <a:pt x="2145792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1760" r="0" b="-261760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28575"/>
              <a:ext cx="21457920" cy="13696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"/>
                </a:lnSpc>
              </a:pPr>
              <a:r>
                <a:rPr lang="en-US" sz="1600">
                  <a:solidFill>
                    <a:srgbClr val="33415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/api/trains · /api/stations · /api/trains/predict · /api/weather/corridor · /api/sse/train-updates · /api/copilot/chat · /api/trains/simulation/cascade · /api/predictions/history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914400" y="5486400"/>
            <a:ext cx="16459200" cy="365760"/>
            <a:chOff x="0" y="0"/>
            <a:chExt cx="21945600" cy="48768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21945600" cy="487680"/>
            </a:xfrm>
            <a:custGeom>
              <a:avLst/>
              <a:gdLst/>
              <a:ahLst/>
              <a:cxnLst/>
              <a:rect r="r" b="b" t="t" l="l"/>
              <a:pathLst>
                <a:path h="48768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26826" r="0" b="-826826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38100"/>
              <a:ext cx="21945600" cy="5257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>
                  <a:solidFill>
                    <a:srgbClr val="2563E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▼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914400" y="5852160"/>
            <a:ext cx="16459200" cy="548640"/>
            <a:chOff x="0" y="0"/>
            <a:chExt cx="21945600" cy="73152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21945600" cy="731520"/>
            </a:xfrm>
            <a:custGeom>
              <a:avLst/>
              <a:gdLst/>
              <a:ahLst/>
              <a:cxnLst/>
              <a:rect r="r" b="b" t="t" l="l"/>
              <a:pathLst>
                <a:path h="73152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34551" r="0" b="-534551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38100"/>
              <a:ext cx="2194560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64748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FRONTEND COMPONENTS (React + Zustand)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914400" y="6400800"/>
            <a:ext cx="3840480" cy="1188720"/>
            <a:chOff x="0" y="0"/>
            <a:chExt cx="5120640" cy="158496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5120640" cy="1584960"/>
            </a:xfrm>
            <a:custGeom>
              <a:avLst/>
              <a:gdLst/>
              <a:ahLst/>
              <a:cxnLst/>
              <a:rect r="r" b="b" t="t" l="l"/>
              <a:pathLst>
                <a:path h="1584960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1584960"/>
                  </a:lnTo>
                  <a:lnTo>
                    <a:pt x="0" y="1584960"/>
                  </a:lnTo>
                  <a:close/>
                </a:path>
              </a:pathLst>
            </a:custGeom>
            <a:solidFill>
              <a:srgbClr val="2563EB"/>
            </a:solidFill>
          </p:spPr>
        </p:sp>
      </p:grpSp>
      <p:grpSp>
        <p:nvGrpSpPr>
          <p:cNvPr name="Group 51" id="51"/>
          <p:cNvGrpSpPr/>
          <p:nvPr/>
        </p:nvGrpSpPr>
        <p:grpSpPr>
          <a:xfrm rot="0">
            <a:off x="914400" y="6400800"/>
            <a:ext cx="3840480" cy="1188720"/>
            <a:chOff x="0" y="0"/>
            <a:chExt cx="5120640" cy="158496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5120640" cy="1584960"/>
            </a:xfrm>
            <a:custGeom>
              <a:avLst/>
              <a:gdLst/>
              <a:ahLst/>
              <a:cxnLst/>
              <a:rect r="r" b="b" t="t" l="l"/>
              <a:pathLst>
                <a:path h="1584960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951" r="0" b="-12951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>
              <a:off x="0" y="-28575"/>
              <a:ext cx="5120640" cy="16135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"/>
                </a:lnSpc>
              </a:pPr>
              <a:r>
                <a:rPr lang="en-US" sz="16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CorridorMap</a:t>
              </a:r>
            </a:p>
            <a:p>
              <a:pPr algn="ctr">
                <a:lnSpc>
                  <a:spcPts val="1920"/>
                </a:lnSpc>
              </a:pPr>
              <a:r>
                <a:rPr lang="en-US" sz="16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(MapLibre GL)</a:t>
              </a: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5120640" y="6400800"/>
            <a:ext cx="3840480" cy="1188720"/>
            <a:chOff x="0" y="0"/>
            <a:chExt cx="5120640" cy="158496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5120640" cy="1584960"/>
            </a:xfrm>
            <a:custGeom>
              <a:avLst/>
              <a:gdLst/>
              <a:ahLst/>
              <a:cxnLst/>
              <a:rect r="r" b="b" t="t" l="l"/>
              <a:pathLst>
                <a:path h="1584960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1584960"/>
                  </a:lnTo>
                  <a:lnTo>
                    <a:pt x="0" y="1584960"/>
                  </a:lnTo>
                  <a:close/>
                </a:path>
              </a:pathLst>
            </a:custGeom>
            <a:solidFill>
              <a:srgbClr val="2563EB"/>
            </a:solidFill>
          </p:spPr>
        </p:sp>
      </p:grpSp>
      <p:grpSp>
        <p:nvGrpSpPr>
          <p:cNvPr name="Group 56" id="56"/>
          <p:cNvGrpSpPr/>
          <p:nvPr/>
        </p:nvGrpSpPr>
        <p:grpSpPr>
          <a:xfrm rot="0">
            <a:off x="5120640" y="6400800"/>
            <a:ext cx="3840480" cy="1188720"/>
            <a:chOff x="0" y="0"/>
            <a:chExt cx="5120640" cy="158496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5120640" cy="1584960"/>
            </a:xfrm>
            <a:custGeom>
              <a:avLst/>
              <a:gdLst/>
              <a:ahLst/>
              <a:cxnLst/>
              <a:rect r="r" b="b" t="t" l="l"/>
              <a:pathLst>
                <a:path h="1584960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951" r="0" b="-12951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28575"/>
              <a:ext cx="5120640" cy="16135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"/>
                </a:lnSpc>
              </a:pPr>
              <a:r>
                <a:rPr lang="en-US" sz="16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CopilotChat</a:t>
              </a:r>
            </a:p>
            <a:p>
              <a:pPr algn="ctr">
                <a:lnSpc>
                  <a:spcPts val="1920"/>
                </a:lnSpc>
              </a:pPr>
              <a:r>
                <a:rPr lang="en-US" sz="16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(Gemini client)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9326880" y="6400800"/>
            <a:ext cx="3840480" cy="1188720"/>
            <a:chOff x="0" y="0"/>
            <a:chExt cx="5120640" cy="158496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5120640" cy="1584960"/>
            </a:xfrm>
            <a:custGeom>
              <a:avLst/>
              <a:gdLst/>
              <a:ahLst/>
              <a:cxnLst/>
              <a:rect r="r" b="b" t="t" l="l"/>
              <a:pathLst>
                <a:path h="1584960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1584960"/>
                  </a:lnTo>
                  <a:lnTo>
                    <a:pt x="0" y="1584960"/>
                  </a:lnTo>
                  <a:close/>
                </a:path>
              </a:pathLst>
            </a:custGeom>
            <a:solidFill>
              <a:srgbClr val="2563EB"/>
            </a:solidFill>
          </p:spPr>
        </p:sp>
      </p:grpSp>
      <p:grpSp>
        <p:nvGrpSpPr>
          <p:cNvPr name="Group 61" id="61"/>
          <p:cNvGrpSpPr/>
          <p:nvPr/>
        </p:nvGrpSpPr>
        <p:grpSpPr>
          <a:xfrm rot="0">
            <a:off x="9326880" y="6400800"/>
            <a:ext cx="3840480" cy="1188720"/>
            <a:chOff x="0" y="0"/>
            <a:chExt cx="5120640" cy="1584960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5120640" cy="1584960"/>
            </a:xfrm>
            <a:custGeom>
              <a:avLst/>
              <a:gdLst/>
              <a:ahLst/>
              <a:cxnLst/>
              <a:rect r="r" b="b" t="t" l="l"/>
              <a:pathLst>
                <a:path h="1584960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951" r="0" b="-12951"/>
              </a:stretch>
            </a:blipFill>
          </p:spPr>
        </p:sp>
        <p:sp>
          <p:nvSpPr>
            <p:cNvPr name="TextBox 63" id="63"/>
            <p:cNvSpPr txBox="true"/>
            <p:nvPr/>
          </p:nvSpPr>
          <p:spPr>
            <a:xfrm>
              <a:off x="0" y="-28575"/>
              <a:ext cx="5120640" cy="16135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"/>
                </a:lnSpc>
              </a:pPr>
              <a:r>
                <a:rPr lang="en-US" sz="16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DelayChart</a:t>
              </a:r>
            </a:p>
            <a:p>
              <a:pPr algn="ctr">
                <a:lnSpc>
                  <a:spcPts val="1920"/>
                </a:lnSpc>
              </a:pPr>
              <a:r>
                <a:rPr lang="en-US" sz="16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(Recharts)</a:t>
              </a:r>
            </a:p>
          </p:txBody>
        </p:sp>
      </p:grpSp>
      <p:grpSp>
        <p:nvGrpSpPr>
          <p:cNvPr name="Group 64" id="64"/>
          <p:cNvGrpSpPr/>
          <p:nvPr/>
        </p:nvGrpSpPr>
        <p:grpSpPr>
          <a:xfrm rot="0">
            <a:off x="13533120" y="6400800"/>
            <a:ext cx="3840480" cy="1188720"/>
            <a:chOff x="0" y="0"/>
            <a:chExt cx="5120640" cy="1584960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5120640" cy="1584960"/>
            </a:xfrm>
            <a:custGeom>
              <a:avLst/>
              <a:gdLst/>
              <a:ahLst/>
              <a:cxnLst/>
              <a:rect r="r" b="b" t="t" l="l"/>
              <a:pathLst>
                <a:path h="1584960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1584960"/>
                  </a:lnTo>
                  <a:lnTo>
                    <a:pt x="0" y="1584960"/>
                  </a:lnTo>
                  <a:close/>
                </a:path>
              </a:pathLst>
            </a:custGeom>
            <a:solidFill>
              <a:srgbClr val="2563EB"/>
            </a:solidFill>
          </p:spPr>
        </p:sp>
      </p:grpSp>
      <p:grpSp>
        <p:nvGrpSpPr>
          <p:cNvPr name="Group 66" id="66"/>
          <p:cNvGrpSpPr/>
          <p:nvPr/>
        </p:nvGrpSpPr>
        <p:grpSpPr>
          <a:xfrm rot="0">
            <a:off x="13533120" y="6400800"/>
            <a:ext cx="3840480" cy="1188720"/>
            <a:chOff x="0" y="0"/>
            <a:chExt cx="5120640" cy="1584960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5120640" cy="1584960"/>
            </a:xfrm>
            <a:custGeom>
              <a:avLst/>
              <a:gdLst/>
              <a:ahLst/>
              <a:cxnLst/>
              <a:rect r="r" b="b" t="t" l="l"/>
              <a:pathLst>
                <a:path h="1584960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951" r="0" b="-12951"/>
              </a:stretch>
            </a:blipFill>
          </p:spPr>
        </p:sp>
        <p:sp>
          <p:nvSpPr>
            <p:cNvPr name="TextBox 68" id="68"/>
            <p:cNvSpPr txBox="true"/>
            <p:nvPr/>
          </p:nvSpPr>
          <p:spPr>
            <a:xfrm>
              <a:off x="0" y="-28575"/>
              <a:ext cx="5120640" cy="16135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"/>
                </a:lnSpc>
              </a:pPr>
              <a:r>
                <a:rPr lang="en-US" sz="16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WhatIfPanel</a:t>
              </a:r>
            </a:p>
            <a:p>
              <a:pPr algn="ctr">
                <a:lnSpc>
                  <a:spcPts val="1920"/>
                </a:lnSpc>
              </a:pPr>
              <a:r>
                <a:rPr lang="en-US" sz="16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(Simulation UI)</a:t>
              </a:r>
            </a:p>
          </p:txBody>
        </p:sp>
      </p:grpSp>
      <p:grpSp>
        <p:nvGrpSpPr>
          <p:cNvPr name="Group 69" id="69"/>
          <p:cNvGrpSpPr/>
          <p:nvPr/>
        </p:nvGrpSpPr>
        <p:grpSpPr>
          <a:xfrm rot="0">
            <a:off x="908047" y="8040367"/>
            <a:ext cx="16471897" cy="927097"/>
            <a:chOff x="0" y="0"/>
            <a:chExt cx="21962529" cy="1236129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21962490" cy="1236091"/>
            </a:xfrm>
            <a:custGeom>
              <a:avLst/>
              <a:gdLst/>
              <a:ahLst/>
              <a:cxnLst/>
              <a:rect r="r" b="b" t="t" l="l"/>
              <a:pathLst>
                <a:path h="1236091" w="21962490">
                  <a:moveTo>
                    <a:pt x="0" y="0"/>
                  </a:moveTo>
                  <a:lnTo>
                    <a:pt x="21962490" y="0"/>
                  </a:lnTo>
                  <a:lnTo>
                    <a:pt x="21962490" y="1236091"/>
                  </a:lnTo>
                  <a:lnTo>
                    <a:pt x="0" y="1236091"/>
                  </a:lnTo>
                  <a:close/>
                </a:path>
              </a:pathLst>
            </a:custGeom>
            <a:solidFill>
              <a:srgbClr val="F0F4FF"/>
            </a:solidFill>
            <a:ln w="12700" cap="sq">
              <a:solidFill>
                <a:srgbClr val="2563EB"/>
              </a:solidFill>
              <a:prstDash val="dash"/>
              <a:miter/>
            </a:ln>
          </p:spPr>
        </p:sp>
      </p:grpSp>
      <p:grpSp>
        <p:nvGrpSpPr>
          <p:cNvPr name="Group 71" id="71"/>
          <p:cNvGrpSpPr/>
          <p:nvPr/>
        </p:nvGrpSpPr>
        <p:grpSpPr>
          <a:xfrm rot="0">
            <a:off x="1097280" y="8046720"/>
            <a:ext cx="16093440" cy="914400"/>
            <a:chOff x="0" y="0"/>
            <a:chExt cx="21457920" cy="1219200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21457920" cy="1219200"/>
            </a:xfrm>
            <a:custGeom>
              <a:avLst/>
              <a:gdLst/>
              <a:ahLst/>
              <a:cxnLst/>
              <a:rect r="r" b="b" t="t" l="l"/>
              <a:pathLst>
                <a:path h="1219200" w="21457920">
                  <a:moveTo>
                    <a:pt x="0" y="0"/>
                  </a:moveTo>
                  <a:lnTo>
                    <a:pt x="21457920" y="0"/>
                  </a:lnTo>
                  <a:lnTo>
                    <a:pt x="2145792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2936" r="0" b="-292936"/>
              </a:stretch>
            </a:blipFill>
          </p:spPr>
        </p:sp>
        <p:sp>
          <p:nvSpPr>
            <p:cNvPr name="TextBox 73" id="73"/>
            <p:cNvSpPr txBox="true"/>
            <p:nvPr/>
          </p:nvSpPr>
          <p:spPr>
            <a:xfrm>
              <a:off x="0" y="-28575"/>
              <a:ext cx="21457920" cy="12477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"/>
                </a:lnSpc>
              </a:pPr>
              <a:r>
                <a:rPr lang="en-US" sz="1600">
                  <a:solidFill>
                    <a:srgbClr val="33415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AI Services: Gemini API (Google) → /api/copilot &amp; /api/copilot/chat &amp; /api/copilot/recommendations  |  ML: Ridge Regression Model (client-side, loaded from delay-model-weights.json)</a:t>
              </a:r>
            </a:p>
          </p:txBody>
        </p:sp>
      </p:grpSp>
      <p:grpSp>
        <p:nvGrpSpPr>
          <p:cNvPr name="Group 74" id="74"/>
          <p:cNvGrpSpPr/>
          <p:nvPr/>
        </p:nvGrpSpPr>
        <p:grpSpPr>
          <a:xfrm rot="0">
            <a:off x="914400" y="9601200"/>
            <a:ext cx="16459200" cy="548640"/>
            <a:chOff x="0" y="0"/>
            <a:chExt cx="21945600" cy="731520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21945600" cy="731520"/>
            </a:xfrm>
            <a:custGeom>
              <a:avLst/>
              <a:gdLst/>
              <a:ahLst/>
              <a:cxnLst/>
              <a:rect r="r" b="b" t="t" l="l"/>
              <a:pathLst>
                <a:path h="73152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34551" r="0" b="-534551"/>
              </a:stretch>
            </a:blipFill>
          </p:spPr>
        </p:sp>
        <p:sp>
          <p:nvSpPr>
            <p:cNvPr name="TextBox 76" id="76"/>
            <p:cNvSpPr txBox="true"/>
            <p:nvPr/>
          </p:nvSpPr>
          <p:spPr>
            <a:xfrm>
              <a:off x="0" y="-28575"/>
              <a:ext cx="21945600" cy="7600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"/>
                </a:lnSpc>
              </a:pPr>
              <a:r>
                <a:rPr lang="en-US" sz="16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RailTwin AI · FAR AWAY 2026</a:t>
              </a:r>
            </a:p>
          </p:txBody>
        </p:sp>
      </p:grpSp>
      <p:grpSp>
        <p:nvGrpSpPr>
          <p:cNvPr name="Group 77" id="77"/>
          <p:cNvGrpSpPr/>
          <p:nvPr/>
        </p:nvGrpSpPr>
        <p:grpSpPr>
          <a:xfrm rot="0">
            <a:off x="15544800" y="9601200"/>
            <a:ext cx="2194560" cy="548640"/>
            <a:chOff x="0" y="0"/>
            <a:chExt cx="2926080" cy="731520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2926080" cy="731520"/>
            </a:xfrm>
            <a:custGeom>
              <a:avLst/>
              <a:gdLst/>
              <a:ahLst/>
              <a:cxnLst/>
              <a:rect r="r" b="b" t="t" l="l"/>
              <a:pathLst>
                <a:path h="731520" w="2926080">
                  <a:moveTo>
                    <a:pt x="0" y="0"/>
                  </a:moveTo>
                  <a:lnTo>
                    <a:pt x="2926080" y="0"/>
                  </a:lnTo>
                  <a:lnTo>
                    <a:pt x="29260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940" r="0" b="-27940"/>
              </a:stretch>
            </a:blipFill>
          </p:spPr>
        </p:sp>
        <p:sp>
          <p:nvSpPr>
            <p:cNvPr name="TextBox 79" id="79"/>
            <p:cNvSpPr txBox="true"/>
            <p:nvPr/>
          </p:nvSpPr>
          <p:spPr>
            <a:xfrm>
              <a:off x="0" y="-28575"/>
              <a:ext cx="2926080" cy="7600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920"/>
                </a:lnSpc>
              </a:pPr>
              <a:r>
                <a:rPr lang="en-US" sz="16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7 / 15</a:t>
              </a:r>
            </a:p>
          </p:txBody>
        </p:sp>
      </p:grpSp>
      <p:sp>
        <p:nvSpPr>
          <p:cNvPr name="Freeform 80" id="80"/>
          <p:cNvSpPr/>
          <p:nvPr/>
        </p:nvSpPr>
        <p:spPr>
          <a:xfrm flipH="false" flipV="false" rot="0">
            <a:off x="16642080" y="73152"/>
            <a:ext cx="1645920" cy="1645920"/>
          </a:xfrm>
          <a:custGeom>
            <a:avLst/>
            <a:gdLst/>
            <a:ahLst/>
            <a:cxnLst/>
            <a:rect r="r" b="b" t="t" l="l"/>
            <a:pathLst>
              <a:path h="1645920" w="1645920">
                <a:moveTo>
                  <a:pt x="0" y="0"/>
                </a:moveTo>
                <a:lnTo>
                  <a:pt x="1645920" y="0"/>
                </a:lnTo>
                <a:lnTo>
                  <a:pt x="1645920" y="1645920"/>
                </a:lnTo>
                <a:lnTo>
                  <a:pt x="0" y="164592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73152"/>
            <a:chOff x="0" y="0"/>
            <a:chExt cx="24384000" cy="9753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97536"/>
            </a:xfrm>
            <a:custGeom>
              <a:avLst/>
              <a:gdLst/>
              <a:ahLst/>
              <a:cxnLst/>
              <a:rect r="r" b="b" t="t" l="l"/>
              <a:pathLst>
                <a:path h="97536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97536"/>
                  </a:lnTo>
                  <a:lnTo>
                    <a:pt x="0" y="97536"/>
                  </a:lnTo>
                  <a:close/>
                </a:path>
              </a:pathLst>
            </a:custGeom>
            <a:solidFill>
              <a:srgbClr val="2563EB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914400" y="365760"/>
            <a:ext cx="16459200" cy="822960"/>
            <a:chOff x="0" y="0"/>
            <a:chExt cx="21945600" cy="109728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9525"/>
              <a:ext cx="21945600" cy="11068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280"/>
                </a:lnSpc>
              </a:pPr>
              <a:r>
                <a:rPr lang="en-US" sz="4400" b="true">
                  <a:solidFill>
                    <a:srgbClr val="0F1B2D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Demo: Live Map — 7 Trains Across India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908047" y="1273807"/>
            <a:ext cx="16471897" cy="12697"/>
            <a:chOff x="0" y="0"/>
            <a:chExt cx="21962529" cy="16929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962490" cy="16891"/>
            </a:xfrm>
            <a:custGeom>
              <a:avLst/>
              <a:gdLst/>
              <a:ahLst/>
              <a:cxnLst/>
              <a:rect r="r" b="b" t="t" l="l"/>
              <a:pathLst>
                <a:path h="16891" w="21962490">
                  <a:moveTo>
                    <a:pt x="0" y="0"/>
                  </a:moveTo>
                  <a:lnTo>
                    <a:pt x="21962490" y="16891"/>
                  </a:lnTo>
                </a:path>
              </a:pathLst>
            </a:custGeom>
            <a:blipFill>
              <a:blip r:embed="rId3">
                <a:alphaModFix amt="0"/>
              </a:blip>
              <a:stretch>
                <a:fillRect l="0" t="-25285314" r="0" b="-25285540"/>
              </a:stretch>
            </a:blipFill>
            <a:ln w="12700" cap="sq">
              <a:solidFill>
                <a:srgbClr val="CBD5E1"/>
              </a:solidFill>
              <a:prstDash val="solid"/>
              <a:miter/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548640" y="1554480"/>
            <a:ext cx="10972800" cy="6949440"/>
            <a:chOff x="0" y="0"/>
            <a:chExt cx="14630400" cy="9265920"/>
          </a:xfrm>
        </p:grpSpPr>
        <p:sp>
          <p:nvSpPr>
            <p:cNvPr name="Freeform 10" id="10" descr="preencoded.png"/>
            <p:cNvSpPr/>
            <p:nvPr/>
          </p:nvSpPr>
          <p:spPr>
            <a:xfrm flipH="false" flipV="false" rot="0">
              <a:off x="0" y="0"/>
              <a:ext cx="14630400" cy="9265920"/>
            </a:xfrm>
            <a:custGeom>
              <a:avLst/>
              <a:gdLst/>
              <a:ahLst/>
              <a:cxnLst/>
              <a:rect r="r" b="b" t="t" l="l"/>
              <a:pathLst>
                <a:path h="926592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9265920"/>
                  </a:lnTo>
                  <a:lnTo>
                    <a:pt x="0" y="92659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9907" r="0" b="-9907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2070080" y="1554480"/>
            <a:ext cx="5669280" cy="6949440"/>
            <a:chOff x="0" y="0"/>
            <a:chExt cx="7559040" cy="926592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7559040" cy="9265920"/>
            </a:xfrm>
            <a:custGeom>
              <a:avLst/>
              <a:gdLst/>
              <a:ahLst/>
              <a:cxnLst/>
              <a:rect r="r" b="b" t="t" l="l"/>
              <a:pathLst>
                <a:path h="9265920" w="7559040">
                  <a:moveTo>
                    <a:pt x="0" y="0"/>
                  </a:moveTo>
                  <a:lnTo>
                    <a:pt x="7559040" y="0"/>
                  </a:lnTo>
                  <a:lnTo>
                    <a:pt x="7559040" y="9265920"/>
                  </a:lnTo>
                  <a:lnTo>
                    <a:pt x="0" y="9265920"/>
                  </a:lnTo>
                  <a:close/>
                </a:path>
              </a:pathLst>
            </a:custGeom>
            <a:solidFill>
              <a:srgbClr val="0F1B2D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12435840" y="1737360"/>
            <a:ext cx="4937760" cy="548640"/>
            <a:chOff x="0" y="0"/>
            <a:chExt cx="6583680" cy="73152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6583680" cy="731520"/>
            </a:xfrm>
            <a:custGeom>
              <a:avLst/>
              <a:gdLst/>
              <a:ahLst/>
              <a:cxnLst/>
              <a:rect r="r" b="b" t="t" l="l"/>
              <a:pathLst>
                <a:path h="731520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5365" r="0" b="-125365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19050"/>
              <a:ext cx="6583680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FFFFFF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Map Features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2435840" y="2468880"/>
            <a:ext cx="4937760" cy="5486400"/>
            <a:chOff x="0" y="0"/>
            <a:chExt cx="6583680" cy="73152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6583680" cy="7315200"/>
            </a:xfrm>
            <a:custGeom>
              <a:avLst/>
              <a:gdLst/>
              <a:ahLst/>
              <a:cxnLst/>
              <a:rect r="r" b="b" t="t" l="l"/>
              <a:pathLst>
                <a:path h="7315200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7315200"/>
                  </a:lnTo>
                  <a:lnTo>
                    <a:pt x="0" y="7315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92559" t="0" r="-92559" b="0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6583680" cy="7353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482600" indent="-241300" lvl="1">
                <a:lnSpc>
                  <a:spcPts val="2400"/>
                </a:lnSpc>
                <a:buFont typeface="Arial"/>
                <a:buChar char="•"/>
              </a:pPr>
              <a:r>
                <a:rPr lang="en-US" sz="2000">
                  <a:solidFill>
                    <a:srgbClr val="CBD5E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7 trains with colored markers + direction arrows</a:t>
              </a:r>
            </a:p>
            <a:p>
              <a:pPr algn="l" marL="482600" indent="-241300" lvl="1">
                <a:lnSpc>
                  <a:spcPts val="2400"/>
                </a:lnSpc>
                <a:buFont typeface="Arial"/>
                <a:buChar char="•"/>
              </a:pPr>
              <a:r>
                <a:rPr lang="en-US" sz="2000">
                  <a:solidFill>
                    <a:srgbClr val="CBD5E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Route lines with glow effect per train</a:t>
              </a:r>
            </a:p>
            <a:p>
              <a:pPr algn="l" marL="482600" indent="-241300" lvl="1">
                <a:lnSpc>
                  <a:spcPts val="2400"/>
                </a:lnSpc>
                <a:buFont typeface="Arial"/>
                <a:buChar char="•"/>
              </a:pPr>
              <a:r>
                <a:rPr lang="en-US" sz="2000">
                  <a:solidFill>
                    <a:srgbClr val="CBD5E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36 stations with risk-level coloring</a:t>
              </a:r>
            </a:p>
            <a:p>
              <a:pPr algn="l" marL="482600" indent="-241300" lvl="1">
                <a:lnSpc>
                  <a:spcPts val="2400"/>
                </a:lnSpc>
                <a:buFont typeface="Arial"/>
                <a:buChar char="•"/>
              </a:pPr>
              <a:r>
                <a:rPr lang="en-US" sz="2000">
                  <a:solidFill>
                    <a:srgbClr val="CBD5E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Per-station weather HUD (temp, rainfall, visibility)</a:t>
              </a:r>
            </a:p>
            <a:p>
              <a:pPr algn="l" marL="482600" indent="-241300" lvl="1">
                <a:lnSpc>
                  <a:spcPts val="2400"/>
                </a:lnSpc>
                <a:buFont typeface="Arial"/>
                <a:buChar char="•"/>
              </a:pPr>
              <a:r>
                <a:rPr lang="en-US" sz="2000">
                  <a:solidFill>
                    <a:srgbClr val="CBD5E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Click any train for details popup</a:t>
              </a:r>
            </a:p>
            <a:p>
              <a:pPr algn="l" marL="482600" indent="-241300" lvl="1">
                <a:lnSpc>
                  <a:spcPts val="2400"/>
                </a:lnSpc>
                <a:buFont typeface="Arial"/>
                <a:buChar char="•"/>
              </a:pPr>
              <a:r>
                <a:rPr lang="en-US" sz="2000">
                  <a:solidFill>
                    <a:srgbClr val="CBD5E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SSE live updates every 5 seconds</a:t>
              </a:r>
            </a:p>
            <a:p>
              <a:pPr algn="l" marL="482600" indent="-241300" lvl="1">
                <a:lnSpc>
                  <a:spcPts val="2400"/>
                </a:lnSpc>
                <a:buFont typeface="Arial"/>
                <a:buChar char="•"/>
              </a:pPr>
              <a:r>
                <a:rPr lang="en-US" sz="2000">
                  <a:solidFill>
                    <a:srgbClr val="CBD5E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Dark/Light theme toggle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914400" y="9601200"/>
            <a:ext cx="16459200" cy="548640"/>
            <a:chOff x="0" y="0"/>
            <a:chExt cx="21945600" cy="73152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1945600" cy="731520"/>
            </a:xfrm>
            <a:custGeom>
              <a:avLst/>
              <a:gdLst/>
              <a:ahLst/>
              <a:cxnLst/>
              <a:rect r="r" b="b" t="t" l="l"/>
              <a:pathLst>
                <a:path h="73152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34551" r="0" b="-534551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28575"/>
              <a:ext cx="21945600" cy="7600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"/>
                </a:lnSpc>
              </a:pPr>
              <a:r>
                <a:rPr lang="en-US" sz="16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RailTwin AI · FAR AWAY 2026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5544800" y="9601200"/>
            <a:ext cx="2194560" cy="548640"/>
            <a:chOff x="0" y="0"/>
            <a:chExt cx="2926080" cy="73152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926080" cy="731520"/>
            </a:xfrm>
            <a:custGeom>
              <a:avLst/>
              <a:gdLst/>
              <a:ahLst/>
              <a:cxnLst/>
              <a:rect r="r" b="b" t="t" l="l"/>
              <a:pathLst>
                <a:path h="731520" w="2926080">
                  <a:moveTo>
                    <a:pt x="0" y="0"/>
                  </a:moveTo>
                  <a:lnTo>
                    <a:pt x="2926080" y="0"/>
                  </a:lnTo>
                  <a:lnTo>
                    <a:pt x="29260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940" r="0" b="-27940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28575"/>
              <a:ext cx="2926080" cy="7600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920"/>
                </a:lnSpc>
              </a:pPr>
              <a:r>
                <a:rPr lang="en-US" sz="16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8 / 15</a:t>
              </a:r>
            </a:p>
          </p:txBody>
        </p:sp>
      </p:grpSp>
      <p:sp>
        <p:nvSpPr>
          <p:cNvPr name="Freeform 25" id="25"/>
          <p:cNvSpPr/>
          <p:nvPr/>
        </p:nvSpPr>
        <p:spPr>
          <a:xfrm flipH="false" flipV="false" rot="0">
            <a:off x="16823817" y="73152"/>
            <a:ext cx="1483233" cy="1483233"/>
          </a:xfrm>
          <a:custGeom>
            <a:avLst/>
            <a:gdLst/>
            <a:ahLst/>
            <a:cxnLst/>
            <a:rect r="r" b="b" t="t" l="l"/>
            <a:pathLst>
              <a:path h="1483233" w="1483233">
                <a:moveTo>
                  <a:pt x="0" y="0"/>
                </a:moveTo>
                <a:lnTo>
                  <a:pt x="1483233" y="0"/>
                </a:lnTo>
                <a:lnTo>
                  <a:pt x="1483233" y="1483233"/>
                </a:lnTo>
                <a:lnTo>
                  <a:pt x="0" y="148323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73152"/>
            <a:chOff x="0" y="0"/>
            <a:chExt cx="24384000" cy="9753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97536"/>
            </a:xfrm>
            <a:custGeom>
              <a:avLst/>
              <a:gdLst/>
              <a:ahLst/>
              <a:cxnLst/>
              <a:rect r="r" b="b" t="t" l="l"/>
              <a:pathLst>
                <a:path h="97536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97536"/>
                  </a:lnTo>
                  <a:lnTo>
                    <a:pt x="0" y="97536"/>
                  </a:lnTo>
                  <a:close/>
                </a:path>
              </a:pathLst>
            </a:custGeom>
            <a:solidFill>
              <a:srgbClr val="2563EB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914400" y="365760"/>
            <a:ext cx="16459200" cy="822960"/>
            <a:chOff x="0" y="0"/>
            <a:chExt cx="21945600" cy="109728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9525"/>
              <a:ext cx="21945600" cy="11068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280"/>
                </a:lnSpc>
              </a:pPr>
              <a:r>
                <a:rPr lang="en-US" sz="4400" b="true">
                  <a:solidFill>
                    <a:srgbClr val="0F1B2D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Demo: Weather Intelligence &amp; AI Copilot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908047" y="1273807"/>
            <a:ext cx="16471897" cy="12697"/>
            <a:chOff x="0" y="0"/>
            <a:chExt cx="21962529" cy="16929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962490" cy="16891"/>
            </a:xfrm>
            <a:custGeom>
              <a:avLst/>
              <a:gdLst/>
              <a:ahLst/>
              <a:cxnLst/>
              <a:rect r="r" b="b" t="t" l="l"/>
              <a:pathLst>
                <a:path h="16891" w="21962490">
                  <a:moveTo>
                    <a:pt x="0" y="0"/>
                  </a:moveTo>
                  <a:lnTo>
                    <a:pt x="21962490" y="16891"/>
                  </a:lnTo>
                </a:path>
              </a:pathLst>
            </a:custGeom>
            <a:blipFill>
              <a:blip r:embed="rId3">
                <a:alphaModFix amt="0"/>
              </a:blip>
              <a:stretch>
                <a:fillRect l="0" t="-25285314" r="0" b="-25285540"/>
              </a:stretch>
            </a:blipFill>
            <a:ln w="12700" cap="sq">
              <a:solidFill>
                <a:srgbClr val="CBD5E1"/>
              </a:solidFill>
              <a:prstDash val="solid"/>
              <a:miter/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548640" y="1554480"/>
            <a:ext cx="8229600" cy="5852160"/>
            <a:chOff x="0" y="0"/>
            <a:chExt cx="10972800" cy="7802880"/>
          </a:xfrm>
        </p:grpSpPr>
        <p:sp>
          <p:nvSpPr>
            <p:cNvPr name="Freeform 10" id="10" descr="preencoded.png"/>
            <p:cNvSpPr/>
            <p:nvPr/>
          </p:nvSpPr>
          <p:spPr>
            <a:xfrm flipH="false" flipV="false" rot="0">
              <a:off x="0" y="0"/>
              <a:ext cx="10972800" cy="7802880"/>
            </a:xfrm>
            <a:custGeom>
              <a:avLst/>
              <a:gdLst/>
              <a:ahLst/>
              <a:cxnLst/>
              <a:rect r="r" b="b" t="t" l="l"/>
              <a:pathLst>
                <a:path h="780288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802880"/>
                  </a:lnTo>
                  <a:lnTo>
                    <a:pt x="0" y="78028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3209" t="0" r="-13209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9326880" y="1554480"/>
            <a:ext cx="8412480" cy="5852160"/>
            <a:chOff x="0" y="0"/>
            <a:chExt cx="11216640" cy="7802880"/>
          </a:xfrm>
        </p:grpSpPr>
        <p:sp>
          <p:nvSpPr>
            <p:cNvPr name="Freeform 12" id="12" descr="preencoded.png"/>
            <p:cNvSpPr/>
            <p:nvPr/>
          </p:nvSpPr>
          <p:spPr>
            <a:xfrm flipH="false" flipV="false" rot="0">
              <a:off x="0" y="0"/>
              <a:ext cx="11216640" cy="7802880"/>
            </a:xfrm>
            <a:custGeom>
              <a:avLst/>
              <a:gdLst/>
              <a:ahLst/>
              <a:cxnLst/>
              <a:rect r="r" b="b" t="t" l="l"/>
              <a:pathLst>
                <a:path h="7802880" w="11216640">
                  <a:moveTo>
                    <a:pt x="0" y="0"/>
                  </a:moveTo>
                  <a:lnTo>
                    <a:pt x="11216640" y="0"/>
                  </a:lnTo>
                  <a:lnTo>
                    <a:pt x="11216640" y="7802880"/>
                  </a:lnTo>
                  <a:lnTo>
                    <a:pt x="0" y="78028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11835" t="0" r="-11835" b="0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548640" y="7680960"/>
            <a:ext cx="17190720" cy="1280160"/>
            <a:chOff x="0" y="0"/>
            <a:chExt cx="22920960" cy="170688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2920961" cy="1706880"/>
            </a:xfrm>
            <a:custGeom>
              <a:avLst/>
              <a:gdLst/>
              <a:ahLst/>
              <a:cxnLst/>
              <a:rect r="r" b="b" t="t" l="l"/>
              <a:pathLst>
                <a:path h="1706880" w="22920961">
                  <a:moveTo>
                    <a:pt x="0" y="0"/>
                  </a:moveTo>
                  <a:lnTo>
                    <a:pt x="22920961" y="0"/>
                  </a:lnTo>
                  <a:lnTo>
                    <a:pt x="22920961" y="1706880"/>
                  </a:lnTo>
                  <a:lnTo>
                    <a:pt x="0" y="170688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914400" y="7772400"/>
            <a:ext cx="16459200" cy="1097280"/>
            <a:chOff x="0" y="0"/>
            <a:chExt cx="21945600" cy="146304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19456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21945600" cy="15011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80"/>
                </a:lnSpc>
              </a:pPr>
              <a:r>
                <a:rPr lang="en-US" sz="1900">
                  <a:solidFill>
                    <a:srgbClr val="33415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Weather: Per-station live data from OpenWeather + Open-Meteo fallback + seasonal estimation.  |  AI Copilot: Gemini 2.0 Flash answers operator queries with live network context — train status, weather impact, recommendations.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914400" y="9601200"/>
            <a:ext cx="16459200" cy="548640"/>
            <a:chOff x="0" y="0"/>
            <a:chExt cx="21945600" cy="73152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1945600" cy="731520"/>
            </a:xfrm>
            <a:custGeom>
              <a:avLst/>
              <a:gdLst/>
              <a:ahLst/>
              <a:cxnLst/>
              <a:rect r="r" b="b" t="t" l="l"/>
              <a:pathLst>
                <a:path h="73152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34551" r="0" b="-534551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28575"/>
              <a:ext cx="21945600" cy="7600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"/>
                </a:lnSpc>
              </a:pPr>
              <a:r>
                <a:rPr lang="en-US" sz="16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RailTwin AI · FAR AWAY 2026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5544800" y="9601200"/>
            <a:ext cx="2194560" cy="548640"/>
            <a:chOff x="0" y="0"/>
            <a:chExt cx="2926080" cy="73152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926080" cy="731520"/>
            </a:xfrm>
            <a:custGeom>
              <a:avLst/>
              <a:gdLst/>
              <a:ahLst/>
              <a:cxnLst/>
              <a:rect r="r" b="b" t="t" l="l"/>
              <a:pathLst>
                <a:path h="731520" w="2926080">
                  <a:moveTo>
                    <a:pt x="0" y="0"/>
                  </a:moveTo>
                  <a:lnTo>
                    <a:pt x="2926080" y="0"/>
                  </a:lnTo>
                  <a:lnTo>
                    <a:pt x="29260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940" r="0" b="-27940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28575"/>
              <a:ext cx="2926080" cy="7600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920"/>
                </a:lnSpc>
              </a:pPr>
              <a:r>
                <a:rPr lang="en-US" sz="16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9 / 15</a:t>
              </a:r>
            </a:p>
          </p:txBody>
        </p:sp>
      </p:grpSp>
      <p:sp>
        <p:nvSpPr>
          <p:cNvPr name="Freeform 24" id="24"/>
          <p:cNvSpPr/>
          <p:nvPr/>
        </p:nvSpPr>
        <p:spPr>
          <a:xfrm flipH="false" flipV="false" rot="0">
            <a:off x="16806672" y="73152"/>
            <a:ext cx="1481328" cy="1481328"/>
          </a:xfrm>
          <a:custGeom>
            <a:avLst/>
            <a:gdLst/>
            <a:ahLst/>
            <a:cxnLst/>
            <a:rect r="r" b="b" t="t" l="l"/>
            <a:pathLst>
              <a:path h="1481328" w="1481328">
                <a:moveTo>
                  <a:pt x="0" y="0"/>
                </a:moveTo>
                <a:lnTo>
                  <a:pt x="1481328" y="0"/>
                </a:lnTo>
                <a:lnTo>
                  <a:pt x="1481328" y="1481328"/>
                </a:lnTo>
                <a:lnTo>
                  <a:pt x="0" y="148132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73152"/>
            <a:chOff x="0" y="0"/>
            <a:chExt cx="24384000" cy="9753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97536"/>
            </a:xfrm>
            <a:custGeom>
              <a:avLst/>
              <a:gdLst/>
              <a:ahLst/>
              <a:cxnLst/>
              <a:rect r="r" b="b" t="t" l="l"/>
              <a:pathLst>
                <a:path h="97536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97536"/>
                  </a:lnTo>
                  <a:lnTo>
                    <a:pt x="0" y="97536"/>
                  </a:lnTo>
                  <a:close/>
                </a:path>
              </a:pathLst>
            </a:custGeom>
            <a:solidFill>
              <a:srgbClr val="2563EB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914400" y="365760"/>
            <a:ext cx="16459200" cy="822960"/>
            <a:chOff x="0" y="0"/>
            <a:chExt cx="21945600" cy="109728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9525"/>
              <a:ext cx="21945600" cy="11068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280"/>
                </a:lnSpc>
              </a:pPr>
              <a:r>
                <a:rPr lang="en-US" sz="4400" b="true">
                  <a:solidFill>
                    <a:srgbClr val="0F1B2D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Demo: Simulation, What-If Lab &amp; System Health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908047" y="1273807"/>
            <a:ext cx="16471897" cy="12697"/>
            <a:chOff x="0" y="0"/>
            <a:chExt cx="21962529" cy="16929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962490" cy="16891"/>
            </a:xfrm>
            <a:custGeom>
              <a:avLst/>
              <a:gdLst/>
              <a:ahLst/>
              <a:cxnLst/>
              <a:rect r="r" b="b" t="t" l="l"/>
              <a:pathLst>
                <a:path h="16891" w="21962490">
                  <a:moveTo>
                    <a:pt x="0" y="0"/>
                  </a:moveTo>
                  <a:lnTo>
                    <a:pt x="21962490" y="16891"/>
                  </a:lnTo>
                </a:path>
              </a:pathLst>
            </a:custGeom>
            <a:blipFill>
              <a:blip r:embed="rId3">
                <a:alphaModFix amt="0"/>
              </a:blip>
              <a:stretch>
                <a:fillRect l="0" t="-25285314" r="0" b="-25285540"/>
              </a:stretch>
            </a:blipFill>
            <a:ln w="12700" cap="sq">
              <a:solidFill>
                <a:srgbClr val="CBD5E1"/>
              </a:solidFill>
              <a:prstDash val="solid"/>
              <a:miter/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548640" y="1554480"/>
            <a:ext cx="5486400" cy="4754880"/>
            <a:chOff x="0" y="0"/>
            <a:chExt cx="7315200" cy="6339840"/>
          </a:xfrm>
        </p:grpSpPr>
        <p:sp>
          <p:nvSpPr>
            <p:cNvPr name="Freeform 10" id="10" descr="preencoded.png"/>
            <p:cNvSpPr/>
            <p:nvPr/>
          </p:nvSpPr>
          <p:spPr>
            <a:xfrm flipH="false" flipV="false" rot="0">
              <a:off x="0" y="0"/>
              <a:ext cx="7315200" cy="6339840"/>
            </a:xfrm>
            <a:custGeom>
              <a:avLst/>
              <a:gdLst/>
              <a:ahLst/>
              <a:cxnLst/>
              <a:rect r="r" b="b" t="t" l="l"/>
              <a:pathLst>
                <a:path h="633984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6339840"/>
                  </a:lnTo>
                  <a:lnTo>
                    <a:pt x="0" y="63398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27036" t="0" r="-27037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548640" y="6492240"/>
            <a:ext cx="5486400" cy="1005840"/>
            <a:chOff x="0" y="0"/>
            <a:chExt cx="7315200" cy="134112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7315200" cy="1341120"/>
            </a:xfrm>
            <a:custGeom>
              <a:avLst/>
              <a:gdLst/>
              <a:ahLst/>
              <a:cxnLst/>
              <a:rect r="r" b="b" t="t" l="l"/>
              <a:pathLst>
                <a:path h="134112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1341120"/>
                  </a:lnTo>
                  <a:lnTo>
                    <a:pt x="0" y="1341120"/>
                  </a:lnTo>
                  <a:close/>
                </a:path>
              </a:pathLst>
            </a:custGeom>
            <a:solidFill>
              <a:srgbClr val="0F1B2D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548640" y="6492240"/>
            <a:ext cx="5486400" cy="1005840"/>
            <a:chOff x="0" y="0"/>
            <a:chExt cx="7315200" cy="134112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7315200" cy="1341120"/>
            </a:xfrm>
            <a:custGeom>
              <a:avLst/>
              <a:gdLst/>
              <a:ahLst/>
              <a:cxnLst/>
              <a:rect r="r" b="b" t="t" l="l"/>
              <a:pathLst>
                <a:path h="134112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6282" r="0" b="-56282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7315200" cy="13792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Disruption Simulator</a:t>
              </a:r>
            </a:p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Cascade delay, conflicts,</a:t>
              </a:r>
            </a:p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passengers affected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6400800" y="1554480"/>
            <a:ext cx="5486400" cy="4754880"/>
            <a:chOff x="0" y="0"/>
            <a:chExt cx="7315200" cy="6339840"/>
          </a:xfrm>
        </p:grpSpPr>
        <p:sp>
          <p:nvSpPr>
            <p:cNvPr name="Freeform 17" id="17" descr="preencoded.png"/>
            <p:cNvSpPr/>
            <p:nvPr/>
          </p:nvSpPr>
          <p:spPr>
            <a:xfrm flipH="false" flipV="false" rot="0">
              <a:off x="0" y="0"/>
              <a:ext cx="7315200" cy="6339840"/>
            </a:xfrm>
            <a:custGeom>
              <a:avLst/>
              <a:gdLst/>
              <a:ahLst/>
              <a:cxnLst/>
              <a:rect r="r" b="b" t="t" l="l"/>
              <a:pathLst>
                <a:path h="633984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6339840"/>
                  </a:lnTo>
                  <a:lnTo>
                    <a:pt x="0" y="63398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27036" t="0" r="-27037" b="0"/>
              </a:stretch>
            </a:blip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6400800" y="6492240"/>
            <a:ext cx="5486400" cy="1005840"/>
            <a:chOff x="0" y="0"/>
            <a:chExt cx="7315200" cy="134112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7315200" cy="1341120"/>
            </a:xfrm>
            <a:custGeom>
              <a:avLst/>
              <a:gdLst/>
              <a:ahLst/>
              <a:cxnLst/>
              <a:rect r="r" b="b" t="t" l="l"/>
              <a:pathLst>
                <a:path h="134112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1341120"/>
                  </a:lnTo>
                  <a:lnTo>
                    <a:pt x="0" y="1341120"/>
                  </a:lnTo>
                  <a:close/>
                </a:path>
              </a:pathLst>
            </a:custGeom>
            <a:solidFill>
              <a:srgbClr val="0F1B2D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6400800" y="6492240"/>
            <a:ext cx="5486400" cy="1005840"/>
            <a:chOff x="0" y="0"/>
            <a:chExt cx="7315200" cy="134112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7315200" cy="1341120"/>
            </a:xfrm>
            <a:custGeom>
              <a:avLst/>
              <a:gdLst/>
              <a:ahLst/>
              <a:cxnLst/>
              <a:rect r="r" b="b" t="t" l="l"/>
              <a:pathLst>
                <a:path h="134112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6282" r="0" b="-56282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7315200" cy="13792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What-If Lab</a:t>
              </a:r>
            </a:p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Test rainfall, signal failure,</a:t>
              </a:r>
            </a:p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track damage scenarios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2252960" y="1554480"/>
            <a:ext cx="5486400" cy="4754880"/>
            <a:chOff x="0" y="0"/>
            <a:chExt cx="7315200" cy="6339840"/>
          </a:xfrm>
        </p:grpSpPr>
        <p:sp>
          <p:nvSpPr>
            <p:cNvPr name="Freeform 24" id="24" descr="preencoded.png"/>
            <p:cNvSpPr/>
            <p:nvPr/>
          </p:nvSpPr>
          <p:spPr>
            <a:xfrm flipH="false" flipV="false" rot="0">
              <a:off x="0" y="0"/>
              <a:ext cx="7315200" cy="6339840"/>
            </a:xfrm>
            <a:custGeom>
              <a:avLst/>
              <a:gdLst/>
              <a:ahLst/>
              <a:cxnLst/>
              <a:rect r="r" b="b" t="t" l="l"/>
              <a:pathLst>
                <a:path h="633984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6339840"/>
                  </a:lnTo>
                  <a:lnTo>
                    <a:pt x="0" y="63398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27036" t="0" r="-27037" b="0"/>
              </a:stretch>
            </a:blip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12252960" y="6492240"/>
            <a:ext cx="5486400" cy="1005840"/>
            <a:chOff x="0" y="0"/>
            <a:chExt cx="7315200" cy="134112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7315200" cy="1341120"/>
            </a:xfrm>
            <a:custGeom>
              <a:avLst/>
              <a:gdLst/>
              <a:ahLst/>
              <a:cxnLst/>
              <a:rect r="r" b="b" t="t" l="l"/>
              <a:pathLst>
                <a:path h="134112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1341120"/>
                  </a:lnTo>
                  <a:lnTo>
                    <a:pt x="0" y="1341120"/>
                  </a:lnTo>
                  <a:close/>
                </a:path>
              </a:pathLst>
            </a:custGeom>
            <a:solidFill>
              <a:srgbClr val="0F1B2D"/>
            </a:solid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12252960" y="6492240"/>
            <a:ext cx="5486400" cy="1005840"/>
            <a:chOff x="0" y="0"/>
            <a:chExt cx="7315200" cy="134112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7315200" cy="1341120"/>
            </a:xfrm>
            <a:custGeom>
              <a:avLst/>
              <a:gdLst/>
              <a:ahLst/>
              <a:cxnLst/>
              <a:rect r="r" b="b" t="t" l="l"/>
              <a:pathLst>
                <a:path h="134112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6282" r="0" b="-56282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38100"/>
              <a:ext cx="7315200" cy="13792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System Health</a:t>
              </a:r>
            </a:p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Efficiency, on-time perf,</a:t>
              </a:r>
            </a:p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platform utilization gauges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548640" y="7863840"/>
            <a:ext cx="17190720" cy="914400"/>
            <a:chOff x="0" y="0"/>
            <a:chExt cx="22920960" cy="12192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22920961" cy="1219200"/>
            </a:xfrm>
            <a:custGeom>
              <a:avLst/>
              <a:gdLst/>
              <a:ahLst/>
              <a:cxnLst/>
              <a:rect r="r" b="b" t="t" l="l"/>
              <a:pathLst>
                <a:path h="1219200" w="22920961">
                  <a:moveTo>
                    <a:pt x="0" y="0"/>
                  </a:moveTo>
                  <a:lnTo>
                    <a:pt x="22920961" y="0"/>
                  </a:lnTo>
                  <a:lnTo>
                    <a:pt x="22920961" y="1219200"/>
                  </a:lnTo>
                  <a:lnTo>
                    <a:pt x="0" y="12192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914400" y="7863840"/>
            <a:ext cx="16459200" cy="914400"/>
            <a:chOff x="0" y="0"/>
            <a:chExt cx="21945600" cy="12192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219456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00730" r="0" b="-300730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38100"/>
              <a:ext cx="21945600" cy="1257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33415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All simulation results are computed server-side and persisted to SQLite. What-If scenarios use historical delay data for realistic impact modeling.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914400" y="9601200"/>
            <a:ext cx="16459200" cy="548640"/>
            <a:chOff x="0" y="0"/>
            <a:chExt cx="21945600" cy="73152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21945600" cy="731520"/>
            </a:xfrm>
            <a:custGeom>
              <a:avLst/>
              <a:gdLst/>
              <a:ahLst/>
              <a:cxnLst/>
              <a:rect r="r" b="b" t="t" l="l"/>
              <a:pathLst>
                <a:path h="73152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34551" r="0" b="-534551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28575"/>
              <a:ext cx="21945600" cy="7600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"/>
                </a:lnSpc>
              </a:pPr>
              <a:r>
                <a:rPr lang="en-US" sz="16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RailTwin AI · FAR AWAY 2026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15544800" y="9601200"/>
            <a:ext cx="2194560" cy="548640"/>
            <a:chOff x="0" y="0"/>
            <a:chExt cx="2926080" cy="73152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2926080" cy="731520"/>
            </a:xfrm>
            <a:custGeom>
              <a:avLst/>
              <a:gdLst/>
              <a:ahLst/>
              <a:cxnLst/>
              <a:rect r="r" b="b" t="t" l="l"/>
              <a:pathLst>
                <a:path h="731520" w="2926080">
                  <a:moveTo>
                    <a:pt x="0" y="0"/>
                  </a:moveTo>
                  <a:lnTo>
                    <a:pt x="2926080" y="0"/>
                  </a:lnTo>
                  <a:lnTo>
                    <a:pt x="29260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940" r="0" b="-27940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28575"/>
              <a:ext cx="2926080" cy="7600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920"/>
                </a:lnSpc>
              </a:pPr>
              <a:r>
                <a:rPr lang="en-US" sz="16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10 / 15</a:t>
              </a:r>
            </a:p>
          </p:txBody>
        </p:sp>
      </p:grpSp>
      <p:sp>
        <p:nvSpPr>
          <p:cNvPr name="Freeform 41" id="41"/>
          <p:cNvSpPr/>
          <p:nvPr/>
        </p:nvSpPr>
        <p:spPr>
          <a:xfrm flipH="false" flipV="false" rot="0">
            <a:off x="16806672" y="73152"/>
            <a:ext cx="1481328" cy="1481328"/>
          </a:xfrm>
          <a:custGeom>
            <a:avLst/>
            <a:gdLst/>
            <a:ahLst/>
            <a:cxnLst/>
            <a:rect r="r" b="b" t="t" l="l"/>
            <a:pathLst>
              <a:path h="1481328" w="1481328">
                <a:moveTo>
                  <a:pt x="0" y="0"/>
                </a:moveTo>
                <a:lnTo>
                  <a:pt x="1481328" y="0"/>
                </a:lnTo>
                <a:lnTo>
                  <a:pt x="1481328" y="1481328"/>
                </a:lnTo>
                <a:lnTo>
                  <a:pt x="0" y="148132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73152"/>
            <a:chOff x="0" y="0"/>
            <a:chExt cx="24384000" cy="9753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97536"/>
            </a:xfrm>
            <a:custGeom>
              <a:avLst/>
              <a:gdLst/>
              <a:ahLst/>
              <a:cxnLst/>
              <a:rect r="r" b="b" t="t" l="l"/>
              <a:pathLst>
                <a:path h="97536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97536"/>
                  </a:lnTo>
                  <a:lnTo>
                    <a:pt x="0" y="97536"/>
                  </a:lnTo>
                  <a:close/>
                </a:path>
              </a:pathLst>
            </a:custGeom>
            <a:solidFill>
              <a:srgbClr val="2563EB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914400" y="365760"/>
            <a:ext cx="16459200" cy="822960"/>
            <a:chOff x="0" y="0"/>
            <a:chExt cx="21945600" cy="109728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9525"/>
              <a:ext cx="21945600" cy="11068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280"/>
                </a:lnSpc>
              </a:pPr>
              <a:r>
                <a:rPr lang="en-US" sz="4400" b="true">
                  <a:solidFill>
                    <a:srgbClr val="0F1B2D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Judging Criteria Mapping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908047" y="1273807"/>
            <a:ext cx="16471897" cy="12697"/>
            <a:chOff x="0" y="0"/>
            <a:chExt cx="21962529" cy="16929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962490" cy="16891"/>
            </a:xfrm>
            <a:custGeom>
              <a:avLst/>
              <a:gdLst/>
              <a:ahLst/>
              <a:cxnLst/>
              <a:rect r="r" b="b" t="t" l="l"/>
              <a:pathLst>
                <a:path h="16891" w="21962490">
                  <a:moveTo>
                    <a:pt x="0" y="0"/>
                  </a:moveTo>
                  <a:lnTo>
                    <a:pt x="21962490" y="16891"/>
                  </a:lnTo>
                </a:path>
              </a:pathLst>
            </a:custGeom>
            <a:blipFill>
              <a:blip r:embed="rId3">
                <a:alphaModFix amt="0"/>
              </a:blip>
              <a:stretch>
                <a:fillRect l="0" t="-25285314" r="0" b="-25285540"/>
              </a:stretch>
            </a:blipFill>
            <a:ln w="12700" cap="sq">
              <a:solidFill>
                <a:srgbClr val="CBD5E1"/>
              </a:solidFill>
              <a:prstDash val="solid"/>
              <a:miter/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548640" y="1554480"/>
            <a:ext cx="17190720" cy="548640"/>
            <a:chOff x="0" y="0"/>
            <a:chExt cx="22920960" cy="73152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2920961" cy="731520"/>
            </a:xfrm>
            <a:custGeom>
              <a:avLst/>
              <a:gdLst/>
              <a:ahLst/>
              <a:cxnLst/>
              <a:rect r="r" b="b" t="t" l="l"/>
              <a:pathLst>
                <a:path h="731520" w="22920961">
                  <a:moveTo>
                    <a:pt x="0" y="0"/>
                  </a:moveTo>
                  <a:lnTo>
                    <a:pt x="22920961" y="0"/>
                  </a:lnTo>
                  <a:lnTo>
                    <a:pt x="22920961" y="731520"/>
                  </a:lnTo>
                  <a:lnTo>
                    <a:pt x="0" y="731520"/>
                  </a:lnTo>
                  <a:close/>
                </a:path>
              </a:pathLst>
            </a:custGeom>
            <a:solidFill>
              <a:srgbClr val="0F1B2D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731520" y="1554480"/>
            <a:ext cx="3657600" cy="548640"/>
            <a:chOff x="0" y="0"/>
            <a:chExt cx="4876800" cy="73152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876800" cy="731520"/>
            </a:xfrm>
            <a:custGeom>
              <a:avLst/>
              <a:gdLst/>
              <a:ahLst/>
              <a:cxnLst/>
              <a:rect r="r" b="b" t="t" l="l"/>
              <a:pathLst>
                <a:path h="731520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9900" r="0" b="-79900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9525"/>
              <a:ext cx="4876800" cy="7410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Criterion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4572000" y="1554480"/>
            <a:ext cx="12801600" cy="548640"/>
            <a:chOff x="0" y="0"/>
            <a:chExt cx="17068800" cy="73152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7068800" cy="731520"/>
            </a:xfrm>
            <a:custGeom>
              <a:avLst/>
              <a:gdLst/>
              <a:ahLst/>
              <a:cxnLst/>
              <a:rect r="r" b="b" t="t" l="l"/>
              <a:pathLst>
                <a:path h="731520" w="17068800">
                  <a:moveTo>
                    <a:pt x="0" y="0"/>
                  </a:moveTo>
                  <a:lnTo>
                    <a:pt x="17068800" y="0"/>
                  </a:lnTo>
                  <a:lnTo>
                    <a:pt x="170688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04650" r="0" b="-404650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9525"/>
              <a:ext cx="17068800" cy="7410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What We Built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548640" y="2194560"/>
            <a:ext cx="17190720" cy="1188720"/>
            <a:chOff x="0" y="0"/>
            <a:chExt cx="22920960" cy="158496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2920961" cy="1584960"/>
            </a:xfrm>
            <a:custGeom>
              <a:avLst/>
              <a:gdLst/>
              <a:ahLst/>
              <a:cxnLst/>
              <a:rect r="r" b="b" t="t" l="l"/>
              <a:pathLst>
                <a:path h="1584960" w="22920961">
                  <a:moveTo>
                    <a:pt x="0" y="0"/>
                  </a:moveTo>
                  <a:lnTo>
                    <a:pt x="22920961" y="0"/>
                  </a:lnTo>
                  <a:lnTo>
                    <a:pt x="22920961" y="1584960"/>
                  </a:lnTo>
                  <a:lnTo>
                    <a:pt x="0" y="158496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731520" y="2194560"/>
            <a:ext cx="3657600" cy="1188720"/>
            <a:chOff x="0" y="0"/>
            <a:chExt cx="4876800" cy="158496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4876800" cy="1584960"/>
            </a:xfrm>
            <a:custGeom>
              <a:avLst/>
              <a:gdLst/>
              <a:ahLst/>
              <a:cxnLst/>
              <a:rect r="r" b="b" t="t" l="l"/>
              <a:pathLst>
                <a:path h="1584960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953" r="0" b="-9953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28575"/>
              <a:ext cx="4876800" cy="16135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sz="1600" b="true">
                  <a:solidFill>
                    <a:srgbClr val="0F1B2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Innovation &amp; Technical Depth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4572000" y="2194560"/>
            <a:ext cx="12801600" cy="1188720"/>
            <a:chOff x="0" y="0"/>
            <a:chExt cx="17068800" cy="158496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7068800" cy="1584960"/>
            </a:xfrm>
            <a:custGeom>
              <a:avLst/>
              <a:gdLst/>
              <a:ahLst/>
              <a:cxnLst/>
              <a:rect r="r" b="b" t="t" l="l"/>
              <a:pathLst>
                <a:path h="1584960" w="17068800">
                  <a:moveTo>
                    <a:pt x="0" y="0"/>
                  </a:moveTo>
                  <a:lnTo>
                    <a:pt x="17068800" y="0"/>
                  </a:lnTo>
                  <a:lnTo>
                    <a:pt x="1706880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9838" r="0" b="-159838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17068800" cy="16230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33415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Predictive digital twin combining live map (MapLibre), ML delay prediction (Ridge Regression R²=0.73), Gemini AI copilot, real-time SSE streaming, and cascade simulation — all integrated into a single dashboard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548640" y="3474720"/>
            <a:ext cx="17190720" cy="1188720"/>
            <a:chOff x="0" y="0"/>
            <a:chExt cx="22920960" cy="158496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22920961" cy="1584960"/>
            </a:xfrm>
            <a:custGeom>
              <a:avLst/>
              <a:gdLst/>
              <a:ahLst/>
              <a:cxnLst/>
              <a:rect r="r" b="b" t="t" l="l"/>
              <a:pathLst>
                <a:path h="1584960" w="22920961">
                  <a:moveTo>
                    <a:pt x="0" y="0"/>
                  </a:moveTo>
                  <a:lnTo>
                    <a:pt x="22920961" y="0"/>
                  </a:lnTo>
                  <a:lnTo>
                    <a:pt x="22920961" y="1584960"/>
                  </a:lnTo>
                  <a:lnTo>
                    <a:pt x="0" y="1584960"/>
                  </a:lnTo>
                  <a:close/>
                </a:path>
              </a:pathLst>
            </a:custGeom>
            <a:solidFill>
              <a:srgbClr val="F1F5F9"/>
            </a:solid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731520" y="3474720"/>
            <a:ext cx="3657600" cy="1188720"/>
            <a:chOff x="0" y="0"/>
            <a:chExt cx="4876800" cy="158496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4876800" cy="1584960"/>
            </a:xfrm>
            <a:custGeom>
              <a:avLst/>
              <a:gdLst/>
              <a:ahLst/>
              <a:cxnLst/>
              <a:rect r="r" b="b" t="t" l="l"/>
              <a:pathLst>
                <a:path h="1584960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953" r="0" b="-9953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28575"/>
              <a:ext cx="4876800" cy="16135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sz="1600" b="true">
                  <a:solidFill>
                    <a:srgbClr val="0F1B2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Engineering Quality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4572000" y="3474720"/>
            <a:ext cx="12801600" cy="1188720"/>
            <a:chOff x="0" y="0"/>
            <a:chExt cx="17068800" cy="158496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7068800" cy="1584960"/>
            </a:xfrm>
            <a:custGeom>
              <a:avLst/>
              <a:gdLst/>
              <a:ahLst/>
              <a:cxnLst/>
              <a:rect r="r" b="b" t="t" l="l"/>
              <a:pathLst>
                <a:path h="1584960" w="17068800">
                  <a:moveTo>
                    <a:pt x="0" y="0"/>
                  </a:moveTo>
                  <a:lnTo>
                    <a:pt x="17068800" y="0"/>
                  </a:lnTo>
                  <a:lnTo>
                    <a:pt x="1706880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9838" r="0" b="-159838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38100"/>
              <a:ext cx="17068800" cy="16230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33415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TypeScript throughout, Zustand state management, Astro SSR with Vercel deployment, SQLite persistence, retry/backoff/failover patterns in Gemini client, responsive design, keyboard shortcuts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548640" y="4754880"/>
            <a:ext cx="17190720" cy="1188720"/>
            <a:chOff x="0" y="0"/>
            <a:chExt cx="22920960" cy="158496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22920961" cy="1584960"/>
            </a:xfrm>
            <a:custGeom>
              <a:avLst/>
              <a:gdLst/>
              <a:ahLst/>
              <a:cxnLst/>
              <a:rect r="r" b="b" t="t" l="l"/>
              <a:pathLst>
                <a:path h="1584960" w="22920961">
                  <a:moveTo>
                    <a:pt x="0" y="0"/>
                  </a:moveTo>
                  <a:lnTo>
                    <a:pt x="22920961" y="0"/>
                  </a:lnTo>
                  <a:lnTo>
                    <a:pt x="22920961" y="1584960"/>
                  </a:lnTo>
                  <a:lnTo>
                    <a:pt x="0" y="158496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731520" y="4754880"/>
            <a:ext cx="3657600" cy="1188720"/>
            <a:chOff x="0" y="0"/>
            <a:chExt cx="4876800" cy="158496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4876800" cy="1584960"/>
            </a:xfrm>
            <a:custGeom>
              <a:avLst/>
              <a:gdLst/>
              <a:ahLst/>
              <a:cxnLst/>
              <a:rect r="r" b="b" t="t" l="l"/>
              <a:pathLst>
                <a:path h="1584960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953" r="0" b="-9953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28575"/>
              <a:ext cx="4876800" cy="16135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sz="1600" b="true">
                  <a:solidFill>
                    <a:srgbClr val="0F1B2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Real-World Impact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4572000" y="4754880"/>
            <a:ext cx="12801600" cy="1188720"/>
            <a:chOff x="0" y="0"/>
            <a:chExt cx="17068800" cy="158496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7068800" cy="1584960"/>
            </a:xfrm>
            <a:custGeom>
              <a:avLst/>
              <a:gdLst/>
              <a:ahLst/>
              <a:cxnLst/>
              <a:rect r="r" b="b" t="t" l="l"/>
              <a:pathLst>
                <a:path h="1584960" w="17068800">
                  <a:moveTo>
                    <a:pt x="0" y="0"/>
                  </a:moveTo>
                  <a:lnTo>
                    <a:pt x="17068800" y="0"/>
                  </a:lnTo>
                  <a:lnTo>
                    <a:pt x="1706880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9838" r="0" b="-159838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38100"/>
              <a:ext cx="17068800" cy="16230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33415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Built on real Indian Railways data: 7 named trains, 36 actual stations with coordinates, 576 historical delay records. Live weather per station. Designed for control room operators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548640" y="6035040"/>
            <a:ext cx="17190720" cy="1188720"/>
            <a:chOff x="0" y="0"/>
            <a:chExt cx="22920960" cy="158496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22920961" cy="1584960"/>
            </a:xfrm>
            <a:custGeom>
              <a:avLst/>
              <a:gdLst/>
              <a:ahLst/>
              <a:cxnLst/>
              <a:rect r="r" b="b" t="t" l="l"/>
              <a:pathLst>
                <a:path h="1584960" w="22920961">
                  <a:moveTo>
                    <a:pt x="0" y="0"/>
                  </a:moveTo>
                  <a:lnTo>
                    <a:pt x="22920961" y="0"/>
                  </a:lnTo>
                  <a:lnTo>
                    <a:pt x="22920961" y="1584960"/>
                  </a:lnTo>
                  <a:lnTo>
                    <a:pt x="0" y="1584960"/>
                  </a:lnTo>
                  <a:close/>
                </a:path>
              </a:pathLst>
            </a:custGeom>
            <a:solidFill>
              <a:srgbClr val="F1F5F9"/>
            </a:solidFill>
          </p:spPr>
        </p:sp>
      </p:grpSp>
      <p:grpSp>
        <p:nvGrpSpPr>
          <p:cNvPr name="Group 43" id="43"/>
          <p:cNvGrpSpPr/>
          <p:nvPr/>
        </p:nvGrpSpPr>
        <p:grpSpPr>
          <a:xfrm rot="0">
            <a:off x="731520" y="6035040"/>
            <a:ext cx="3657600" cy="1188720"/>
            <a:chOff x="0" y="0"/>
            <a:chExt cx="4876800" cy="158496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4876800" cy="1584960"/>
            </a:xfrm>
            <a:custGeom>
              <a:avLst/>
              <a:gdLst/>
              <a:ahLst/>
              <a:cxnLst/>
              <a:rect r="r" b="b" t="t" l="l"/>
              <a:pathLst>
                <a:path h="1584960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953" r="0" b="-9953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28575"/>
              <a:ext cx="4876800" cy="16135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sz="1600" b="true">
                  <a:solidFill>
                    <a:srgbClr val="0F1B2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Scalability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4572000" y="6035040"/>
            <a:ext cx="12801600" cy="1188720"/>
            <a:chOff x="0" y="0"/>
            <a:chExt cx="17068800" cy="158496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17068800" cy="1584960"/>
            </a:xfrm>
            <a:custGeom>
              <a:avLst/>
              <a:gdLst/>
              <a:ahLst/>
              <a:cxnLst/>
              <a:rect r="r" b="b" t="t" l="l"/>
              <a:pathLst>
                <a:path h="1584960" w="17068800">
                  <a:moveTo>
                    <a:pt x="0" y="0"/>
                  </a:moveTo>
                  <a:lnTo>
                    <a:pt x="17068800" y="0"/>
                  </a:lnTo>
                  <a:lnTo>
                    <a:pt x="1706880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9838" r="0" b="-159838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38100"/>
              <a:ext cx="17068800" cy="16230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33415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Serverless on Vercel (auto-scale), SSE push not polling, concurrent-limited weather fetches (max 3), LRU cache on Gemini, SQLite with WAL mode. Architecture supports adding 100+ trains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548640" y="7315200"/>
            <a:ext cx="17190720" cy="1188720"/>
            <a:chOff x="0" y="0"/>
            <a:chExt cx="22920960" cy="158496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22920961" cy="1584960"/>
            </a:xfrm>
            <a:custGeom>
              <a:avLst/>
              <a:gdLst/>
              <a:ahLst/>
              <a:cxnLst/>
              <a:rect r="r" b="b" t="t" l="l"/>
              <a:pathLst>
                <a:path h="1584960" w="22920961">
                  <a:moveTo>
                    <a:pt x="0" y="0"/>
                  </a:moveTo>
                  <a:lnTo>
                    <a:pt x="22920961" y="0"/>
                  </a:lnTo>
                  <a:lnTo>
                    <a:pt x="22920961" y="1584960"/>
                  </a:lnTo>
                  <a:lnTo>
                    <a:pt x="0" y="158496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51" id="51"/>
          <p:cNvGrpSpPr/>
          <p:nvPr/>
        </p:nvGrpSpPr>
        <p:grpSpPr>
          <a:xfrm rot="0">
            <a:off x="731520" y="7315200"/>
            <a:ext cx="3657600" cy="1188720"/>
            <a:chOff x="0" y="0"/>
            <a:chExt cx="4876800" cy="158496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4876800" cy="1584960"/>
            </a:xfrm>
            <a:custGeom>
              <a:avLst/>
              <a:gdLst/>
              <a:ahLst/>
              <a:cxnLst/>
              <a:rect r="r" b="b" t="t" l="l"/>
              <a:pathLst>
                <a:path h="1584960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953" r="0" b="-9953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>
              <a:off x="0" y="-28575"/>
              <a:ext cx="4876800" cy="16135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sz="1600" b="true">
                  <a:solidFill>
                    <a:srgbClr val="0F1B2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Design &amp; UX</a:t>
              </a: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4572000" y="7315200"/>
            <a:ext cx="12801600" cy="1188720"/>
            <a:chOff x="0" y="0"/>
            <a:chExt cx="17068800" cy="158496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17068800" cy="1584960"/>
            </a:xfrm>
            <a:custGeom>
              <a:avLst/>
              <a:gdLst/>
              <a:ahLst/>
              <a:cxnLst/>
              <a:rect r="r" b="b" t="t" l="l"/>
              <a:pathLst>
                <a:path h="1584960" w="17068800">
                  <a:moveTo>
                    <a:pt x="0" y="0"/>
                  </a:moveTo>
                  <a:lnTo>
                    <a:pt x="17068800" y="0"/>
                  </a:lnTo>
                  <a:lnTo>
                    <a:pt x="1706880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9838" r="0" b="-159838"/>
              </a:stretch>
            </a:blipFill>
          </p:spPr>
        </p:sp>
        <p:sp>
          <p:nvSpPr>
            <p:cNvPr name="TextBox 56" id="56"/>
            <p:cNvSpPr txBox="true"/>
            <p:nvPr/>
          </p:nvSpPr>
          <p:spPr>
            <a:xfrm>
              <a:off x="0" y="-38100"/>
              <a:ext cx="17068800" cy="16230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33415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Dark/light theme, MapLibre GL with animated train markers, real-time weather HUD, collapsible legend, keyboard shortcuts (1-6, M), toast notifications, responsive mobile layout</a:t>
              </a:r>
            </a:p>
          </p:txBody>
        </p:sp>
      </p:grpSp>
      <p:grpSp>
        <p:nvGrpSpPr>
          <p:cNvPr name="Group 57" id="57"/>
          <p:cNvGrpSpPr/>
          <p:nvPr/>
        </p:nvGrpSpPr>
        <p:grpSpPr>
          <a:xfrm rot="0">
            <a:off x="548640" y="8595360"/>
            <a:ext cx="17190720" cy="1188720"/>
            <a:chOff x="0" y="0"/>
            <a:chExt cx="22920960" cy="1584960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22920961" cy="1584960"/>
            </a:xfrm>
            <a:custGeom>
              <a:avLst/>
              <a:gdLst/>
              <a:ahLst/>
              <a:cxnLst/>
              <a:rect r="r" b="b" t="t" l="l"/>
              <a:pathLst>
                <a:path h="1584960" w="22920961">
                  <a:moveTo>
                    <a:pt x="0" y="0"/>
                  </a:moveTo>
                  <a:lnTo>
                    <a:pt x="22920961" y="0"/>
                  </a:lnTo>
                  <a:lnTo>
                    <a:pt x="22920961" y="1584960"/>
                  </a:lnTo>
                  <a:lnTo>
                    <a:pt x="0" y="1584960"/>
                  </a:lnTo>
                  <a:close/>
                </a:path>
              </a:pathLst>
            </a:custGeom>
            <a:solidFill>
              <a:srgbClr val="F1F5F9"/>
            </a:solidFill>
          </p:spPr>
        </p:sp>
      </p:grpSp>
      <p:grpSp>
        <p:nvGrpSpPr>
          <p:cNvPr name="Group 59" id="59"/>
          <p:cNvGrpSpPr/>
          <p:nvPr/>
        </p:nvGrpSpPr>
        <p:grpSpPr>
          <a:xfrm rot="0">
            <a:off x="731520" y="8595360"/>
            <a:ext cx="3657600" cy="1188720"/>
            <a:chOff x="0" y="0"/>
            <a:chExt cx="4876800" cy="158496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4876800" cy="1584960"/>
            </a:xfrm>
            <a:custGeom>
              <a:avLst/>
              <a:gdLst/>
              <a:ahLst/>
              <a:cxnLst/>
              <a:rect r="r" b="b" t="t" l="l"/>
              <a:pathLst>
                <a:path h="1584960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953" r="0" b="-9953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28575"/>
              <a:ext cx="4876800" cy="16135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sz="1600" b="true">
                  <a:solidFill>
                    <a:srgbClr val="0F1B2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Execution Quality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4572000" y="8595360"/>
            <a:ext cx="12801600" cy="1188720"/>
            <a:chOff x="0" y="0"/>
            <a:chExt cx="17068800" cy="1584960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17068800" cy="1584960"/>
            </a:xfrm>
            <a:custGeom>
              <a:avLst/>
              <a:gdLst/>
              <a:ahLst/>
              <a:cxnLst/>
              <a:rect r="r" b="b" t="t" l="l"/>
              <a:pathLst>
                <a:path h="1584960" w="17068800">
                  <a:moveTo>
                    <a:pt x="0" y="0"/>
                  </a:moveTo>
                  <a:lnTo>
                    <a:pt x="17068800" y="0"/>
                  </a:lnTo>
                  <a:lnTo>
                    <a:pt x="1706880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9838" r="0" b="-159838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38100"/>
              <a:ext cx="17068800" cy="16230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33415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18 API endpoints, 20+ React components, SSE live updates, ML model trained on 448 samples, cascade simulation with historical grounding, AI chat with fallback handling, deployed and live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914400" y="9601200"/>
            <a:ext cx="16459200" cy="548640"/>
            <a:chOff x="0" y="0"/>
            <a:chExt cx="21945600" cy="731520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21945600" cy="731520"/>
            </a:xfrm>
            <a:custGeom>
              <a:avLst/>
              <a:gdLst/>
              <a:ahLst/>
              <a:cxnLst/>
              <a:rect r="r" b="b" t="t" l="l"/>
              <a:pathLst>
                <a:path h="73152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34551" r="0" b="-534551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-28575"/>
              <a:ext cx="21945600" cy="7600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"/>
                </a:lnSpc>
              </a:pPr>
              <a:r>
                <a:rPr lang="en-US" sz="16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Every claim is backed by code in the GitHub repo at github.com/himanshu003388/RailTwin</a:t>
              </a: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15544800" y="9601200"/>
            <a:ext cx="2194560" cy="548640"/>
            <a:chOff x="0" y="0"/>
            <a:chExt cx="2926080" cy="731520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2926080" cy="731520"/>
            </a:xfrm>
            <a:custGeom>
              <a:avLst/>
              <a:gdLst/>
              <a:ahLst/>
              <a:cxnLst/>
              <a:rect r="r" b="b" t="t" l="l"/>
              <a:pathLst>
                <a:path h="731520" w="2926080">
                  <a:moveTo>
                    <a:pt x="0" y="0"/>
                  </a:moveTo>
                  <a:lnTo>
                    <a:pt x="2926080" y="0"/>
                  </a:lnTo>
                  <a:lnTo>
                    <a:pt x="29260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940" r="0" b="-27940"/>
              </a:stretch>
            </a:blipFill>
          </p:spPr>
        </p:sp>
        <p:sp>
          <p:nvSpPr>
            <p:cNvPr name="TextBox 70" id="70"/>
            <p:cNvSpPr txBox="true"/>
            <p:nvPr/>
          </p:nvSpPr>
          <p:spPr>
            <a:xfrm>
              <a:off x="0" y="-28575"/>
              <a:ext cx="2926080" cy="7600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920"/>
                </a:lnSpc>
              </a:pPr>
              <a:r>
                <a:rPr lang="en-US" sz="16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11 / 15</a:t>
              </a:r>
            </a:p>
          </p:txBody>
        </p:sp>
      </p:grpSp>
      <p:sp>
        <p:nvSpPr>
          <p:cNvPr name="Freeform 71" id="71"/>
          <p:cNvSpPr/>
          <p:nvPr/>
        </p:nvSpPr>
        <p:spPr>
          <a:xfrm flipH="false" flipV="false" rot="0">
            <a:off x="16806672" y="73152"/>
            <a:ext cx="1481328" cy="1481328"/>
          </a:xfrm>
          <a:custGeom>
            <a:avLst/>
            <a:gdLst/>
            <a:ahLst/>
            <a:cxnLst/>
            <a:rect r="r" b="b" t="t" l="l"/>
            <a:pathLst>
              <a:path h="1481328" w="1481328">
                <a:moveTo>
                  <a:pt x="0" y="0"/>
                </a:moveTo>
                <a:lnTo>
                  <a:pt x="1481328" y="0"/>
                </a:lnTo>
                <a:lnTo>
                  <a:pt x="1481328" y="1481328"/>
                </a:lnTo>
                <a:lnTo>
                  <a:pt x="0" y="148132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73152"/>
            <a:chOff x="0" y="0"/>
            <a:chExt cx="24384000" cy="9753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97536"/>
            </a:xfrm>
            <a:custGeom>
              <a:avLst/>
              <a:gdLst/>
              <a:ahLst/>
              <a:cxnLst/>
              <a:rect r="r" b="b" t="t" l="l"/>
              <a:pathLst>
                <a:path h="97536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97536"/>
                  </a:lnTo>
                  <a:lnTo>
                    <a:pt x="0" y="97536"/>
                  </a:lnTo>
                  <a:close/>
                </a:path>
              </a:pathLst>
            </a:custGeom>
            <a:solidFill>
              <a:srgbClr val="2563EB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914400" y="365760"/>
            <a:ext cx="16459200" cy="822960"/>
            <a:chOff x="0" y="0"/>
            <a:chExt cx="21945600" cy="109728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9525"/>
              <a:ext cx="21945600" cy="11068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280"/>
                </a:lnSpc>
              </a:pPr>
              <a:r>
                <a:rPr lang="en-US" sz="4400" b="true">
                  <a:solidFill>
                    <a:srgbClr val="0F1B2D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Innovation &amp; Technical Depth Highlights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908047" y="1273807"/>
            <a:ext cx="16471897" cy="12697"/>
            <a:chOff x="0" y="0"/>
            <a:chExt cx="21962529" cy="16929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962490" cy="16891"/>
            </a:xfrm>
            <a:custGeom>
              <a:avLst/>
              <a:gdLst/>
              <a:ahLst/>
              <a:cxnLst/>
              <a:rect r="r" b="b" t="t" l="l"/>
              <a:pathLst>
                <a:path h="16891" w="21962490">
                  <a:moveTo>
                    <a:pt x="0" y="0"/>
                  </a:moveTo>
                  <a:lnTo>
                    <a:pt x="21962490" y="16891"/>
                  </a:lnTo>
                </a:path>
              </a:pathLst>
            </a:custGeom>
            <a:blipFill>
              <a:blip r:embed="rId3">
                <a:alphaModFix amt="0"/>
              </a:blip>
              <a:stretch>
                <a:fillRect l="0" t="-25285314" r="0" b="-25285540"/>
              </a:stretch>
            </a:blipFill>
            <a:ln w="12700" cap="sq">
              <a:solidFill>
                <a:srgbClr val="CBD5E1"/>
              </a:solidFill>
              <a:prstDash val="solid"/>
              <a:miter/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548640" y="1554480"/>
            <a:ext cx="17190720" cy="1463040"/>
            <a:chOff x="0" y="0"/>
            <a:chExt cx="22920960" cy="195072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2920961" cy="1950720"/>
            </a:xfrm>
            <a:custGeom>
              <a:avLst/>
              <a:gdLst/>
              <a:ahLst/>
              <a:cxnLst/>
              <a:rect r="r" b="b" t="t" l="l"/>
              <a:pathLst>
                <a:path h="1950720" w="22920961">
                  <a:moveTo>
                    <a:pt x="0" y="0"/>
                  </a:moveTo>
                  <a:lnTo>
                    <a:pt x="22920961" y="0"/>
                  </a:lnTo>
                  <a:lnTo>
                    <a:pt x="22920961" y="1950720"/>
                  </a:lnTo>
                  <a:lnTo>
                    <a:pt x="0" y="195072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548640" y="1554480"/>
            <a:ext cx="91440" cy="1463040"/>
            <a:chOff x="0" y="0"/>
            <a:chExt cx="121920" cy="195072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21920" cy="1950720"/>
            </a:xfrm>
            <a:custGeom>
              <a:avLst/>
              <a:gdLst/>
              <a:ahLst/>
              <a:cxnLst/>
              <a:rect r="r" b="b" t="t" l="l"/>
              <a:pathLst>
                <a:path h="1950720" w="121920">
                  <a:moveTo>
                    <a:pt x="0" y="0"/>
                  </a:moveTo>
                  <a:lnTo>
                    <a:pt x="121920" y="0"/>
                  </a:lnTo>
                  <a:lnTo>
                    <a:pt x="121920" y="1950720"/>
                  </a:lnTo>
                  <a:lnTo>
                    <a:pt x="0" y="1950720"/>
                  </a:lnTo>
                  <a:close/>
                </a:path>
              </a:pathLst>
            </a:custGeom>
            <a:solidFill>
              <a:srgbClr val="2563EB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1005840" y="1645920"/>
            <a:ext cx="16093440" cy="457200"/>
            <a:chOff x="0" y="0"/>
            <a:chExt cx="21457920" cy="6096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1457920" cy="609600"/>
            </a:xfrm>
            <a:custGeom>
              <a:avLst/>
              <a:gdLst/>
              <a:ahLst/>
              <a:cxnLst/>
              <a:rect r="r" b="b" t="t" l="l"/>
              <a:pathLst>
                <a:path h="609600" w="21457920">
                  <a:moveTo>
                    <a:pt x="0" y="0"/>
                  </a:moveTo>
                  <a:lnTo>
                    <a:pt x="21457920" y="0"/>
                  </a:lnTo>
                  <a:lnTo>
                    <a:pt x="2145792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35873" r="0" b="-635873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9525"/>
              <a:ext cx="21457920" cy="6191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0F1B2D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ML-Powered Delay Prediction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005840" y="2103120"/>
            <a:ext cx="16093440" cy="822960"/>
            <a:chOff x="0" y="0"/>
            <a:chExt cx="21457920" cy="109728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1457920" cy="1097280"/>
            </a:xfrm>
            <a:custGeom>
              <a:avLst/>
              <a:gdLst/>
              <a:ahLst/>
              <a:cxnLst/>
              <a:rect r="r" b="b" t="t" l="l"/>
              <a:pathLst>
                <a:path h="1097280" w="21457920">
                  <a:moveTo>
                    <a:pt x="0" y="0"/>
                  </a:moveTo>
                  <a:lnTo>
                    <a:pt x="21457920" y="0"/>
                  </a:lnTo>
                  <a:lnTo>
                    <a:pt x="2145792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1040" r="0" b="-331040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21457920" cy="11353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33415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Ridge Regression model trained on 448 historical delay records with 7 weather types, 12 months, 4 train types. R²=0.73, RMSE=8.7 min. Runs browser-side for zero-latency predictions.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548640" y="3200400"/>
            <a:ext cx="17190720" cy="1463040"/>
            <a:chOff x="0" y="0"/>
            <a:chExt cx="22920960" cy="195072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2920961" cy="1950720"/>
            </a:xfrm>
            <a:custGeom>
              <a:avLst/>
              <a:gdLst/>
              <a:ahLst/>
              <a:cxnLst/>
              <a:rect r="r" b="b" t="t" l="l"/>
              <a:pathLst>
                <a:path h="1950720" w="22920961">
                  <a:moveTo>
                    <a:pt x="0" y="0"/>
                  </a:moveTo>
                  <a:lnTo>
                    <a:pt x="22920961" y="0"/>
                  </a:lnTo>
                  <a:lnTo>
                    <a:pt x="22920961" y="1950720"/>
                  </a:lnTo>
                  <a:lnTo>
                    <a:pt x="0" y="195072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548640" y="3200400"/>
            <a:ext cx="91440" cy="1463040"/>
            <a:chOff x="0" y="0"/>
            <a:chExt cx="121920" cy="195072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21920" cy="1950720"/>
            </a:xfrm>
            <a:custGeom>
              <a:avLst/>
              <a:gdLst/>
              <a:ahLst/>
              <a:cxnLst/>
              <a:rect r="r" b="b" t="t" l="l"/>
              <a:pathLst>
                <a:path h="1950720" w="121920">
                  <a:moveTo>
                    <a:pt x="0" y="0"/>
                  </a:moveTo>
                  <a:lnTo>
                    <a:pt x="121920" y="0"/>
                  </a:lnTo>
                  <a:lnTo>
                    <a:pt x="121920" y="1950720"/>
                  </a:lnTo>
                  <a:lnTo>
                    <a:pt x="0" y="1950720"/>
                  </a:lnTo>
                  <a:close/>
                </a:path>
              </a:pathLst>
            </a:custGeom>
            <a:solidFill>
              <a:srgbClr val="2563EB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1005840" y="3291840"/>
            <a:ext cx="16093440" cy="457200"/>
            <a:chOff x="0" y="0"/>
            <a:chExt cx="21457920" cy="6096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21457920" cy="609600"/>
            </a:xfrm>
            <a:custGeom>
              <a:avLst/>
              <a:gdLst/>
              <a:ahLst/>
              <a:cxnLst/>
              <a:rect r="r" b="b" t="t" l="l"/>
              <a:pathLst>
                <a:path h="609600" w="21457920">
                  <a:moveTo>
                    <a:pt x="0" y="0"/>
                  </a:moveTo>
                  <a:lnTo>
                    <a:pt x="21457920" y="0"/>
                  </a:lnTo>
                  <a:lnTo>
                    <a:pt x="2145792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35873" r="0" b="-635873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9525"/>
              <a:ext cx="21457920" cy="6191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0F1B2D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Two-Tier AI Architecture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005840" y="3749040"/>
            <a:ext cx="16093440" cy="822960"/>
            <a:chOff x="0" y="0"/>
            <a:chExt cx="21457920" cy="109728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21457920" cy="1097280"/>
            </a:xfrm>
            <a:custGeom>
              <a:avLst/>
              <a:gdLst/>
              <a:ahLst/>
              <a:cxnLst/>
              <a:rect r="r" b="b" t="t" l="l"/>
              <a:pathLst>
                <a:path h="1097280" w="21457920">
                  <a:moveTo>
                    <a:pt x="0" y="0"/>
                  </a:moveTo>
                  <a:lnTo>
                    <a:pt x="21457920" y="0"/>
                  </a:lnTo>
                  <a:lnTo>
                    <a:pt x="2145792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1040" r="0" b="-331040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38100"/>
              <a:ext cx="21457920" cy="11353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33415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Gemini 2.0 Flash primary → auto-fallback to Gemini 2.5 Flash on quota/error. Exponential backoff on 429s, 5-min LRU cache, system prompt injected with live network state for context-aware replies.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548640" y="4846320"/>
            <a:ext cx="17190720" cy="1463040"/>
            <a:chOff x="0" y="0"/>
            <a:chExt cx="22920960" cy="195072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22920961" cy="1950720"/>
            </a:xfrm>
            <a:custGeom>
              <a:avLst/>
              <a:gdLst/>
              <a:ahLst/>
              <a:cxnLst/>
              <a:rect r="r" b="b" t="t" l="l"/>
              <a:pathLst>
                <a:path h="1950720" w="22920961">
                  <a:moveTo>
                    <a:pt x="0" y="0"/>
                  </a:moveTo>
                  <a:lnTo>
                    <a:pt x="22920961" y="0"/>
                  </a:lnTo>
                  <a:lnTo>
                    <a:pt x="22920961" y="1950720"/>
                  </a:lnTo>
                  <a:lnTo>
                    <a:pt x="0" y="195072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548640" y="4846320"/>
            <a:ext cx="91440" cy="1463040"/>
            <a:chOff x="0" y="0"/>
            <a:chExt cx="121920" cy="195072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21920" cy="1950720"/>
            </a:xfrm>
            <a:custGeom>
              <a:avLst/>
              <a:gdLst/>
              <a:ahLst/>
              <a:cxnLst/>
              <a:rect r="r" b="b" t="t" l="l"/>
              <a:pathLst>
                <a:path h="1950720" w="121920">
                  <a:moveTo>
                    <a:pt x="0" y="0"/>
                  </a:moveTo>
                  <a:lnTo>
                    <a:pt x="121920" y="0"/>
                  </a:lnTo>
                  <a:lnTo>
                    <a:pt x="121920" y="1950720"/>
                  </a:lnTo>
                  <a:lnTo>
                    <a:pt x="0" y="1950720"/>
                  </a:lnTo>
                  <a:close/>
                </a:path>
              </a:pathLst>
            </a:custGeom>
            <a:solidFill>
              <a:srgbClr val="2563EB"/>
            </a:solid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1005840" y="4937760"/>
            <a:ext cx="16093440" cy="457200"/>
            <a:chOff x="0" y="0"/>
            <a:chExt cx="21457920" cy="60960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21457920" cy="609600"/>
            </a:xfrm>
            <a:custGeom>
              <a:avLst/>
              <a:gdLst/>
              <a:ahLst/>
              <a:cxnLst/>
              <a:rect r="r" b="b" t="t" l="l"/>
              <a:pathLst>
                <a:path h="609600" w="21457920">
                  <a:moveTo>
                    <a:pt x="0" y="0"/>
                  </a:moveTo>
                  <a:lnTo>
                    <a:pt x="21457920" y="0"/>
                  </a:lnTo>
                  <a:lnTo>
                    <a:pt x="2145792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35873" r="0" b="-635873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9525"/>
              <a:ext cx="21457920" cy="6191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0F1B2D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Server-Sent Events (SSE) for Live Data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1005840" y="5394960"/>
            <a:ext cx="16093440" cy="822960"/>
            <a:chOff x="0" y="0"/>
            <a:chExt cx="21457920" cy="109728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21457920" cy="1097280"/>
            </a:xfrm>
            <a:custGeom>
              <a:avLst/>
              <a:gdLst/>
              <a:ahLst/>
              <a:cxnLst/>
              <a:rect r="r" b="b" t="t" l="l"/>
              <a:pathLst>
                <a:path h="1097280" w="21457920">
                  <a:moveTo>
                    <a:pt x="0" y="0"/>
                  </a:moveTo>
                  <a:lnTo>
                    <a:pt x="21457920" y="0"/>
                  </a:lnTo>
                  <a:lnTo>
                    <a:pt x="2145792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1040" r="0" b="-331040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38100"/>
              <a:ext cx="21457920" cy="11353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33415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Real-time train position streaming every 5s via SSE endpoint. Randomized speed jitter for realistic animation. Auto-disconnect after 5 min. No polling, no WebSocket overhead.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548640" y="6492240"/>
            <a:ext cx="17190720" cy="1463040"/>
            <a:chOff x="0" y="0"/>
            <a:chExt cx="22920960" cy="195072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22920961" cy="1950720"/>
            </a:xfrm>
            <a:custGeom>
              <a:avLst/>
              <a:gdLst/>
              <a:ahLst/>
              <a:cxnLst/>
              <a:rect r="r" b="b" t="t" l="l"/>
              <a:pathLst>
                <a:path h="1950720" w="22920961">
                  <a:moveTo>
                    <a:pt x="0" y="0"/>
                  </a:moveTo>
                  <a:lnTo>
                    <a:pt x="22920961" y="0"/>
                  </a:lnTo>
                  <a:lnTo>
                    <a:pt x="22920961" y="1950720"/>
                  </a:lnTo>
                  <a:lnTo>
                    <a:pt x="0" y="195072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548640" y="6492240"/>
            <a:ext cx="91440" cy="1463040"/>
            <a:chOff x="0" y="0"/>
            <a:chExt cx="121920" cy="195072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121920" cy="1950720"/>
            </a:xfrm>
            <a:custGeom>
              <a:avLst/>
              <a:gdLst/>
              <a:ahLst/>
              <a:cxnLst/>
              <a:rect r="r" b="b" t="t" l="l"/>
              <a:pathLst>
                <a:path h="1950720" w="121920">
                  <a:moveTo>
                    <a:pt x="0" y="0"/>
                  </a:moveTo>
                  <a:lnTo>
                    <a:pt x="121920" y="0"/>
                  </a:lnTo>
                  <a:lnTo>
                    <a:pt x="121920" y="1950720"/>
                  </a:lnTo>
                  <a:lnTo>
                    <a:pt x="0" y="1950720"/>
                  </a:lnTo>
                  <a:close/>
                </a:path>
              </a:pathLst>
            </a:custGeom>
            <a:solidFill>
              <a:srgbClr val="2563EB"/>
            </a:solidFill>
          </p:spPr>
        </p:sp>
      </p:grpSp>
      <p:grpSp>
        <p:nvGrpSpPr>
          <p:cNvPr name="Group 43" id="43"/>
          <p:cNvGrpSpPr/>
          <p:nvPr/>
        </p:nvGrpSpPr>
        <p:grpSpPr>
          <a:xfrm rot="0">
            <a:off x="1005840" y="6583680"/>
            <a:ext cx="16093440" cy="457200"/>
            <a:chOff x="0" y="0"/>
            <a:chExt cx="21457920" cy="60960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21457920" cy="609600"/>
            </a:xfrm>
            <a:custGeom>
              <a:avLst/>
              <a:gdLst/>
              <a:ahLst/>
              <a:cxnLst/>
              <a:rect r="r" b="b" t="t" l="l"/>
              <a:pathLst>
                <a:path h="609600" w="21457920">
                  <a:moveTo>
                    <a:pt x="0" y="0"/>
                  </a:moveTo>
                  <a:lnTo>
                    <a:pt x="21457920" y="0"/>
                  </a:lnTo>
                  <a:lnTo>
                    <a:pt x="2145792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35873" r="0" b="-635873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9525"/>
              <a:ext cx="21457920" cy="6191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0F1B2D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What-If Cascade Simulation Engine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1005840" y="7040880"/>
            <a:ext cx="16093440" cy="822960"/>
            <a:chOff x="0" y="0"/>
            <a:chExt cx="21457920" cy="109728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21457920" cy="1097280"/>
            </a:xfrm>
            <a:custGeom>
              <a:avLst/>
              <a:gdLst/>
              <a:ahLst/>
              <a:cxnLst/>
              <a:rect r="r" b="b" t="t" l="l"/>
              <a:pathLst>
                <a:path h="1097280" w="21457920">
                  <a:moveTo>
                    <a:pt x="0" y="0"/>
                  </a:moveTo>
                  <a:lnTo>
                    <a:pt x="21457920" y="0"/>
                  </a:lnTo>
                  <a:lnTo>
                    <a:pt x="2145792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1040" r="0" b="-331040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38100"/>
              <a:ext cx="21457920" cy="11353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33415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Models network-wide ripple effects of disruptions. Uses historical delay patterns to weight scenarios (rainfall=35min, fog=25min, signal failure=50min, track damage=80min baseline). Computes affected trains, passengers, conflicts.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548640" y="8138160"/>
            <a:ext cx="17190720" cy="1463040"/>
            <a:chOff x="0" y="0"/>
            <a:chExt cx="22920960" cy="195072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22920961" cy="1950720"/>
            </a:xfrm>
            <a:custGeom>
              <a:avLst/>
              <a:gdLst/>
              <a:ahLst/>
              <a:cxnLst/>
              <a:rect r="r" b="b" t="t" l="l"/>
              <a:pathLst>
                <a:path h="1950720" w="22920961">
                  <a:moveTo>
                    <a:pt x="0" y="0"/>
                  </a:moveTo>
                  <a:lnTo>
                    <a:pt x="22920961" y="0"/>
                  </a:lnTo>
                  <a:lnTo>
                    <a:pt x="22920961" y="1950720"/>
                  </a:lnTo>
                  <a:lnTo>
                    <a:pt x="0" y="195072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51" id="51"/>
          <p:cNvGrpSpPr/>
          <p:nvPr/>
        </p:nvGrpSpPr>
        <p:grpSpPr>
          <a:xfrm rot="0">
            <a:off x="548640" y="8138160"/>
            <a:ext cx="91440" cy="1463040"/>
            <a:chOff x="0" y="0"/>
            <a:chExt cx="121920" cy="195072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121920" cy="1950720"/>
            </a:xfrm>
            <a:custGeom>
              <a:avLst/>
              <a:gdLst/>
              <a:ahLst/>
              <a:cxnLst/>
              <a:rect r="r" b="b" t="t" l="l"/>
              <a:pathLst>
                <a:path h="1950720" w="121920">
                  <a:moveTo>
                    <a:pt x="0" y="0"/>
                  </a:moveTo>
                  <a:lnTo>
                    <a:pt x="121920" y="0"/>
                  </a:lnTo>
                  <a:lnTo>
                    <a:pt x="121920" y="1950720"/>
                  </a:lnTo>
                  <a:lnTo>
                    <a:pt x="0" y="1950720"/>
                  </a:lnTo>
                  <a:close/>
                </a:path>
              </a:pathLst>
            </a:custGeom>
            <a:solidFill>
              <a:srgbClr val="2563EB"/>
            </a:solidFill>
          </p:spPr>
        </p:sp>
      </p:grpSp>
      <p:grpSp>
        <p:nvGrpSpPr>
          <p:cNvPr name="Group 53" id="53"/>
          <p:cNvGrpSpPr/>
          <p:nvPr/>
        </p:nvGrpSpPr>
        <p:grpSpPr>
          <a:xfrm rot="0">
            <a:off x="1005840" y="8229600"/>
            <a:ext cx="16093440" cy="457200"/>
            <a:chOff x="0" y="0"/>
            <a:chExt cx="21457920" cy="60960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21457920" cy="609600"/>
            </a:xfrm>
            <a:custGeom>
              <a:avLst/>
              <a:gdLst/>
              <a:ahLst/>
              <a:cxnLst/>
              <a:rect r="r" b="b" t="t" l="l"/>
              <a:pathLst>
                <a:path h="609600" w="21457920">
                  <a:moveTo>
                    <a:pt x="0" y="0"/>
                  </a:moveTo>
                  <a:lnTo>
                    <a:pt x="21457920" y="0"/>
                  </a:lnTo>
                  <a:lnTo>
                    <a:pt x="2145792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35873" r="0" b="-635873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9525"/>
              <a:ext cx="21457920" cy="6191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0F1B2D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Multi-Layer Weather with Intelligent Fallback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1005840" y="8686800"/>
            <a:ext cx="16093440" cy="822960"/>
            <a:chOff x="0" y="0"/>
            <a:chExt cx="21457920" cy="109728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21457920" cy="1097280"/>
            </a:xfrm>
            <a:custGeom>
              <a:avLst/>
              <a:gdLst/>
              <a:ahLst/>
              <a:cxnLst/>
              <a:rect r="r" b="b" t="t" l="l"/>
              <a:pathLst>
                <a:path h="1097280" w="21457920">
                  <a:moveTo>
                    <a:pt x="0" y="0"/>
                  </a:moveTo>
                  <a:lnTo>
                    <a:pt x="21457920" y="0"/>
                  </a:lnTo>
                  <a:lnTo>
                    <a:pt x="2145792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1040" r="0" b="-331040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38100"/>
              <a:ext cx="21457920" cy="11353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33415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Four-tier: OpenWeather API → Open-Meteo free API → seasonal estimation (monsoon/coastal/winter/summer) → default clear. 15-min cache, concurrent-limited (3 at a time), per-station granularity.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914400" y="9601200"/>
            <a:ext cx="16459200" cy="548640"/>
            <a:chOff x="0" y="0"/>
            <a:chExt cx="21945600" cy="73152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21945600" cy="731520"/>
            </a:xfrm>
            <a:custGeom>
              <a:avLst/>
              <a:gdLst/>
              <a:ahLst/>
              <a:cxnLst/>
              <a:rect r="r" b="b" t="t" l="l"/>
              <a:pathLst>
                <a:path h="73152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34551" r="0" b="-534551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28575"/>
              <a:ext cx="21945600" cy="7600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"/>
                </a:lnSpc>
              </a:pPr>
              <a:r>
                <a:rPr lang="en-US" sz="16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RailTwin AI · FAR AWAY 2026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15544800" y="9601200"/>
            <a:ext cx="2194560" cy="548640"/>
            <a:chOff x="0" y="0"/>
            <a:chExt cx="2926080" cy="731520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2926080" cy="731520"/>
            </a:xfrm>
            <a:custGeom>
              <a:avLst/>
              <a:gdLst/>
              <a:ahLst/>
              <a:cxnLst/>
              <a:rect r="r" b="b" t="t" l="l"/>
              <a:pathLst>
                <a:path h="731520" w="2926080">
                  <a:moveTo>
                    <a:pt x="0" y="0"/>
                  </a:moveTo>
                  <a:lnTo>
                    <a:pt x="2926080" y="0"/>
                  </a:lnTo>
                  <a:lnTo>
                    <a:pt x="29260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940" r="0" b="-27940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28575"/>
              <a:ext cx="2926080" cy="7600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920"/>
                </a:lnSpc>
              </a:pPr>
              <a:r>
                <a:rPr lang="en-US" sz="16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12 / 15</a:t>
              </a:r>
            </a:p>
          </p:txBody>
        </p:sp>
      </p:grpSp>
      <p:sp>
        <p:nvSpPr>
          <p:cNvPr name="Freeform 65" id="65"/>
          <p:cNvSpPr/>
          <p:nvPr/>
        </p:nvSpPr>
        <p:spPr>
          <a:xfrm flipH="false" flipV="false" rot="0">
            <a:off x="16806672" y="73152"/>
            <a:ext cx="1481328" cy="1481328"/>
          </a:xfrm>
          <a:custGeom>
            <a:avLst/>
            <a:gdLst/>
            <a:ahLst/>
            <a:cxnLst/>
            <a:rect r="r" b="b" t="t" l="l"/>
            <a:pathLst>
              <a:path h="1481328" w="1481328">
                <a:moveTo>
                  <a:pt x="0" y="0"/>
                </a:moveTo>
                <a:lnTo>
                  <a:pt x="1481328" y="0"/>
                </a:lnTo>
                <a:lnTo>
                  <a:pt x="1481328" y="1481328"/>
                </a:lnTo>
                <a:lnTo>
                  <a:pt x="0" y="148132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73152"/>
            <a:chOff x="0" y="0"/>
            <a:chExt cx="24384000" cy="9753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97536"/>
            </a:xfrm>
            <a:custGeom>
              <a:avLst/>
              <a:gdLst/>
              <a:ahLst/>
              <a:cxnLst/>
              <a:rect r="r" b="b" t="t" l="l"/>
              <a:pathLst>
                <a:path h="97536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97536"/>
                  </a:lnTo>
                  <a:lnTo>
                    <a:pt x="0" y="97536"/>
                  </a:lnTo>
                  <a:close/>
                </a:path>
              </a:pathLst>
            </a:custGeom>
            <a:solidFill>
              <a:srgbClr val="2563EB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914400" y="365760"/>
            <a:ext cx="16459200" cy="822960"/>
            <a:chOff x="0" y="0"/>
            <a:chExt cx="21945600" cy="109728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9525"/>
              <a:ext cx="21945600" cy="11068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280"/>
                </a:lnSpc>
              </a:pPr>
              <a:r>
                <a:rPr lang="en-US" sz="4400" b="true">
                  <a:solidFill>
                    <a:srgbClr val="0F1B2D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Real-World Impact &amp; Scalability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908047" y="1273807"/>
            <a:ext cx="16471897" cy="12697"/>
            <a:chOff x="0" y="0"/>
            <a:chExt cx="21962529" cy="16929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962490" cy="16891"/>
            </a:xfrm>
            <a:custGeom>
              <a:avLst/>
              <a:gdLst/>
              <a:ahLst/>
              <a:cxnLst/>
              <a:rect r="r" b="b" t="t" l="l"/>
              <a:pathLst>
                <a:path h="16891" w="21962490">
                  <a:moveTo>
                    <a:pt x="0" y="0"/>
                  </a:moveTo>
                  <a:lnTo>
                    <a:pt x="21962490" y="16891"/>
                  </a:lnTo>
                </a:path>
              </a:pathLst>
            </a:custGeom>
            <a:blipFill>
              <a:blip r:embed="rId3">
                <a:alphaModFix amt="0"/>
              </a:blip>
              <a:stretch>
                <a:fillRect l="0" t="-25285314" r="0" b="-25285540"/>
              </a:stretch>
            </a:blipFill>
            <a:ln w="12700" cap="sq">
              <a:solidFill>
                <a:srgbClr val="CBD5E1"/>
              </a:solidFill>
              <a:prstDash val="solid"/>
              <a:miter/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914400" y="1645920"/>
            <a:ext cx="16459200" cy="640080"/>
            <a:chOff x="0" y="0"/>
            <a:chExt cx="21945600" cy="85344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1945600" cy="853440"/>
            </a:xfrm>
            <a:custGeom>
              <a:avLst/>
              <a:gdLst/>
              <a:ahLst/>
              <a:cxnLst/>
              <a:rect r="r" b="b" t="t" l="l"/>
              <a:pathLst>
                <a:path h="8534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51043" r="0" b="-451043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9525"/>
              <a:ext cx="21945600" cy="8629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 b="true">
                  <a:solidFill>
                    <a:srgbClr val="0F1B2D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Real-World Impact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914400" y="2377440"/>
            <a:ext cx="16459200" cy="2926080"/>
            <a:chOff x="0" y="0"/>
            <a:chExt cx="21945600" cy="390144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1945600" cy="3901440"/>
            </a:xfrm>
            <a:custGeom>
              <a:avLst/>
              <a:gdLst/>
              <a:ahLst/>
              <a:cxnLst/>
              <a:rect r="r" b="b" t="t" l="l"/>
              <a:pathLst>
                <a:path h="39014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3901440"/>
                  </a:lnTo>
                  <a:lnTo>
                    <a:pt x="0" y="390144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280160" y="2468880"/>
            <a:ext cx="15727680" cy="2743200"/>
            <a:chOff x="0" y="0"/>
            <a:chExt cx="20970240" cy="36576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0970239" cy="3657600"/>
            </a:xfrm>
            <a:custGeom>
              <a:avLst/>
              <a:gdLst/>
              <a:ahLst/>
              <a:cxnLst/>
              <a:rect r="r" b="b" t="t" l="l"/>
              <a:pathLst>
                <a:path h="3657600" w="20970239">
                  <a:moveTo>
                    <a:pt x="0" y="0"/>
                  </a:moveTo>
                  <a:lnTo>
                    <a:pt x="20970239" y="0"/>
                  </a:lnTo>
                  <a:lnTo>
                    <a:pt x="20970239" y="3657600"/>
                  </a:lnTo>
                  <a:lnTo>
                    <a:pt x="0" y="3657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1714" r="0" b="-61714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20970240" cy="3695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482600" indent="-241300" lvl="1">
                <a:lnSpc>
                  <a:spcPts val="2400"/>
                </a:lnSpc>
                <a:buFont typeface="Arial"/>
                <a:buChar char="•"/>
              </a:pPr>
              <a:r>
                <a:rPr lang="en-US" sz="2000">
                  <a:solidFill>
                    <a:srgbClr val="33415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Data-grounded: All 7 trains are real Indian Railways services (12951 Mumbai Rajdhani, 12301 Howrah Rajdhani, 12007 Chennai Shatabdi, etc.) with accurate station codes, zones, and coordinates</a:t>
              </a:r>
            </a:p>
            <a:p>
              <a:pPr algn="l" marL="482600" indent="-241300" lvl="1">
                <a:lnSpc>
                  <a:spcPts val="2400"/>
                </a:lnSpc>
                <a:buFont typeface="Arial"/>
                <a:buChar char="•"/>
              </a:pPr>
              <a:r>
                <a:rPr lang="en-US" sz="2000">
                  <a:solidFill>
                    <a:srgbClr val="33415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Real station data: 36 actual junction stations across WR, CR, SR, ER, NFR, ECR, SWR, NR, NCR, SCR, WCR zones — covering North, South, East, West, and Northeast India</a:t>
              </a:r>
            </a:p>
            <a:p>
              <a:pPr algn="l" marL="482600" indent="-241300" lvl="1">
                <a:lnSpc>
                  <a:spcPts val="2400"/>
                </a:lnSpc>
                <a:buFont typeface="Arial"/>
                <a:buChar char="•"/>
              </a:pPr>
              <a:r>
                <a:rPr lang="en-US" sz="2000">
                  <a:solidFill>
                    <a:srgbClr val="33415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Weather-aware: Monsoon-sensitive regions (coastal Kerala, Northeast, Konkan) get weighted delay predictions. Fog-prone North Indian winters trigger higher risk scores</a:t>
              </a:r>
            </a:p>
            <a:p>
              <a:pPr algn="l" marL="482600" indent="-241300" lvl="1">
                <a:lnSpc>
                  <a:spcPts val="2400"/>
                </a:lnSpc>
                <a:buFont typeface="Arial"/>
                <a:buChar char="•"/>
              </a:pPr>
              <a:r>
                <a:rPr lang="en-US" sz="2000">
                  <a:solidFill>
                    <a:srgbClr val="33415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AI-ready for NTES/IRCTC: Settings panel accepts RapidAPI key for live train status. Current data uses schedule-derived positions that can be replaced with live IRCTC feeds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914400" y="5669280"/>
            <a:ext cx="16459200" cy="640080"/>
            <a:chOff x="0" y="0"/>
            <a:chExt cx="21945600" cy="85344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1945600" cy="853440"/>
            </a:xfrm>
            <a:custGeom>
              <a:avLst/>
              <a:gdLst/>
              <a:ahLst/>
              <a:cxnLst/>
              <a:rect r="r" b="b" t="t" l="l"/>
              <a:pathLst>
                <a:path h="8534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51043" r="0" b="-451043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9525"/>
              <a:ext cx="21945600" cy="8629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 b="true">
                  <a:solidFill>
                    <a:srgbClr val="0F1B2D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Scalability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914400" y="6400800"/>
            <a:ext cx="16459200" cy="2194560"/>
            <a:chOff x="0" y="0"/>
            <a:chExt cx="21945600" cy="292608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1945600" cy="2926080"/>
            </a:xfrm>
            <a:custGeom>
              <a:avLst/>
              <a:gdLst/>
              <a:ahLst/>
              <a:cxnLst/>
              <a:rect r="r" b="b" t="t" l="l"/>
              <a:pathLst>
                <a:path h="292608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926080"/>
                  </a:lnTo>
                  <a:lnTo>
                    <a:pt x="0" y="292608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1280160" y="6492240"/>
            <a:ext cx="15727680" cy="2011680"/>
            <a:chOff x="0" y="0"/>
            <a:chExt cx="20970240" cy="268224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0970239" cy="2682240"/>
            </a:xfrm>
            <a:custGeom>
              <a:avLst/>
              <a:gdLst/>
              <a:ahLst/>
              <a:cxnLst/>
              <a:rect r="r" b="b" t="t" l="l"/>
              <a:pathLst>
                <a:path h="2682240" w="20970239">
                  <a:moveTo>
                    <a:pt x="0" y="0"/>
                  </a:moveTo>
                  <a:lnTo>
                    <a:pt x="20970239" y="0"/>
                  </a:lnTo>
                  <a:lnTo>
                    <a:pt x="20970239" y="2682240"/>
                  </a:lnTo>
                  <a:lnTo>
                    <a:pt x="0" y="26822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2337" r="0" b="-102337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20970240" cy="27203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482600" indent="-241300" lvl="1">
                <a:lnSpc>
                  <a:spcPts val="2400"/>
                </a:lnSpc>
                <a:buFont typeface="Arial"/>
                <a:buChar char="•"/>
              </a:pPr>
              <a:r>
                <a:rPr lang="en-US" sz="2000">
                  <a:solidFill>
                    <a:srgbClr val="33415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Serverless architecture (Vercel) auto-scales with demand — 10 users or 10,000</a:t>
              </a:r>
            </a:p>
            <a:p>
              <a:pPr algn="l" marL="482600" indent="-241300" lvl="1">
                <a:lnSpc>
                  <a:spcPts val="2400"/>
                </a:lnSpc>
                <a:buFont typeface="Arial"/>
                <a:buChar char="•"/>
              </a:pPr>
              <a:r>
                <a:rPr lang="en-US" sz="2000">
                  <a:solidFill>
                    <a:srgbClr val="33415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SSE push-based updates scale better than polling; Weather fetches concurrency-limited to 3 simultaneous requests</a:t>
              </a:r>
            </a:p>
            <a:p>
              <a:pPr algn="l" marL="482600" indent="-241300" lvl="1">
                <a:lnSpc>
                  <a:spcPts val="2400"/>
                </a:lnSpc>
                <a:buFont typeface="Arial"/>
                <a:buChar char="•"/>
              </a:pPr>
              <a:r>
                <a:rPr lang="en-US" sz="2000">
                  <a:solidFill>
                    <a:srgbClr val="33415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Data-driven train/station definitions — adding 100 more trains requires only JSON entries, no code changes. ML model can be retrained on larger datasets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914400" y="9601200"/>
            <a:ext cx="16459200" cy="548640"/>
            <a:chOff x="0" y="0"/>
            <a:chExt cx="21945600" cy="73152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21945600" cy="731520"/>
            </a:xfrm>
            <a:custGeom>
              <a:avLst/>
              <a:gdLst/>
              <a:ahLst/>
              <a:cxnLst/>
              <a:rect r="r" b="b" t="t" l="l"/>
              <a:pathLst>
                <a:path h="73152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34551" r="0" b="-534551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28575"/>
              <a:ext cx="21945600" cy="7600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"/>
                </a:lnSpc>
              </a:pPr>
              <a:r>
                <a:rPr lang="en-US" sz="16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RailTwin AI · FAR AWAY 2026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5544800" y="9601200"/>
            <a:ext cx="2194560" cy="548640"/>
            <a:chOff x="0" y="0"/>
            <a:chExt cx="2926080" cy="73152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2926080" cy="731520"/>
            </a:xfrm>
            <a:custGeom>
              <a:avLst/>
              <a:gdLst/>
              <a:ahLst/>
              <a:cxnLst/>
              <a:rect r="r" b="b" t="t" l="l"/>
              <a:pathLst>
                <a:path h="731520" w="2926080">
                  <a:moveTo>
                    <a:pt x="0" y="0"/>
                  </a:moveTo>
                  <a:lnTo>
                    <a:pt x="2926080" y="0"/>
                  </a:lnTo>
                  <a:lnTo>
                    <a:pt x="29260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940" r="0" b="-27940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28575"/>
              <a:ext cx="2926080" cy="7600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920"/>
                </a:lnSpc>
              </a:pPr>
              <a:r>
                <a:rPr lang="en-US" sz="16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13 / 15</a:t>
              </a:r>
            </a:p>
          </p:txBody>
        </p:sp>
      </p:grpSp>
      <p:sp>
        <p:nvSpPr>
          <p:cNvPr name="Freeform 31" id="31"/>
          <p:cNvSpPr/>
          <p:nvPr/>
        </p:nvSpPr>
        <p:spPr>
          <a:xfrm flipH="false" flipV="false" rot="0">
            <a:off x="16806672" y="73152"/>
            <a:ext cx="1481328" cy="1481328"/>
          </a:xfrm>
          <a:custGeom>
            <a:avLst/>
            <a:gdLst/>
            <a:ahLst/>
            <a:cxnLst/>
            <a:rect r="r" b="b" t="t" l="l"/>
            <a:pathLst>
              <a:path h="1481328" w="1481328">
                <a:moveTo>
                  <a:pt x="0" y="0"/>
                </a:moveTo>
                <a:lnTo>
                  <a:pt x="1481328" y="0"/>
                </a:lnTo>
                <a:lnTo>
                  <a:pt x="1481328" y="1481328"/>
                </a:lnTo>
                <a:lnTo>
                  <a:pt x="0" y="148132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73152"/>
            <a:chOff x="0" y="0"/>
            <a:chExt cx="24384000" cy="9753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97536"/>
            </a:xfrm>
            <a:custGeom>
              <a:avLst/>
              <a:gdLst/>
              <a:ahLst/>
              <a:cxnLst/>
              <a:rect r="r" b="b" t="t" l="l"/>
              <a:pathLst>
                <a:path h="97536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97536"/>
                  </a:lnTo>
                  <a:lnTo>
                    <a:pt x="0" y="97536"/>
                  </a:lnTo>
                  <a:close/>
                </a:path>
              </a:pathLst>
            </a:custGeom>
            <a:solidFill>
              <a:srgbClr val="2563EB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914400" y="365760"/>
            <a:ext cx="16459200" cy="822960"/>
            <a:chOff x="0" y="0"/>
            <a:chExt cx="21945600" cy="109728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9525"/>
              <a:ext cx="21945600" cy="11068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280"/>
                </a:lnSpc>
              </a:pPr>
              <a:r>
                <a:rPr lang="en-US" sz="4400" b="true">
                  <a:solidFill>
                    <a:srgbClr val="0F1B2D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Future Scope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908047" y="1273807"/>
            <a:ext cx="16471897" cy="12697"/>
            <a:chOff x="0" y="0"/>
            <a:chExt cx="21962529" cy="16929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962490" cy="16891"/>
            </a:xfrm>
            <a:custGeom>
              <a:avLst/>
              <a:gdLst/>
              <a:ahLst/>
              <a:cxnLst/>
              <a:rect r="r" b="b" t="t" l="l"/>
              <a:pathLst>
                <a:path h="16891" w="21962490">
                  <a:moveTo>
                    <a:pt x="0" y="0"/>
                  </a:moveTo>
                  <a:lnTo>
                    <a:pt x="21962490" y="16891"/>
                  </a:lnTo>
                </a:path>
              </a:pathLst>
            </a:custGeom>
            <a:blipFill>
              <a:blip r:embed="rId3">
                <a:alphaModFix amt="0"/>
              </a:blip>
              <a:stretch>
                <a:fillRect l="0" t="-25285314" r="0" b="-25285540"/>
              </a:stretch>
            </a:blipFill>
            <a:ln w="12700" cap="sq">
              <a:solidFill>
                <a:srgbClr val="CBD5E1"/>
              </a:solidFill>
              <a:prstDash val="solid"/>
              <a:miter/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914400" y="1645920"/>
            <a:ext cx="7863840" cy="3383280"/>
            <a:chOff x="0" y="0"/>
            <a:chExt cx="10485120" cy="451104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0485120" cy="4511040"/>
            </a:xfrm>
            <a:custGeom>
              <a:avLst/>
              <a:gdLst/>
              <a:ahLst/>
              <a:cxnLst/>
              <a:rect r="r" b="b" t="t" l="l"/>
              <a:pathLst>
                <a:path h="4511040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4511040"/>
                  </a:lnTo>
                  <a:lnTo>
                    <a:pt x="0" y="451104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914400" y="1645920"/>
            <a:ext cx="7863840" cy="91440"/>
            <a:chOff x="0" y="0"/>
            <a:chExt cx="10485120" cy="12192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0485120" cy="121920"/>
            </a:xfrm>
            <a:custGeom>
              <a:avLst/>
              <a:gdLst/>
              <a:ahLst/>
              <a:cxnLst/>
              <a:rect r="r" b="b" t="t" l="l"/>
              <a:pathLst>
                <a:path h="121920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121920"/>
                  </a:lnTo>
                  <a:lnTo>
                    <a:pt x="0" y="121920"/>
                  </a:lnTo>
                  <a:close/>
                </a:path>
              </a:pathLst>
            </a:custGeom>
            <a:solidFill>
              <a:srgbClr val="2563EB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1280160" y="2011680"/>
            <a:ext cx="7132320" cy="548640"/>
            <a:chOff x="0" y="0"/>
            <a:chExt cx="9509760" cy="73152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9509760" cy="731520"/>
            </a:xfrm>
            <a:custGeom>
              <a:avLst/>
              <a:gdLst/>
              <a:ahLst/>
              <a:cxnLst/>
              <a:rect r="r" b="b" t="t" l="l"/>
              <a:pathLst>
                <a:path h="731520" w="9509760">
                  <a:moveTo>
                    <a:pt x="0" y="0"/>
                  </a:moveTo>
                  <a:lnTo>
                    <a:pt x="9509760" y="0"/>
                  </a:lnTo>
                  <a:lnTo>
                    <a:pt x="95097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3305" r="0" b="-203305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19050"/>
              <a:ext cx="9509760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0F1B2D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Live GPS Feed Integration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280160" y="2651760"/>
            <a:ext cx="7132320" cy="2103120"/>
            <a:chOff x="0" y="0"/>
            <a:chExt cx="9509760" cy="280416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9509760" cy="2804160"/>
            </a:xfrm>
            <a:custGeom>
              <a:avLst/>
              <a:gdLst/>
              <a:ahLst/>
              <a:cxnLst/>
              <a:rect r="r" b="b" t="t" l="l"/>
              <a:pathLst>
                <a:path h="2804160" w="9509760">
                  <a:moveTo>
                    <a:pt x="0" y="0"/>
                  </a:moveTo>
                  <a:lnTo>
                    <a:pt x="9509760" y="0"/>
                  </a:lnTo>
                  <a:lnTo>
                    <a:pt x="9509760" y="2804160"/>
                  </a:lnTo>
                  <a:lnTo>
                    <a:pt x="0" y="2804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079" r="0" b="-16079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9509760" cy="28422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33415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Replace schedule-derived positions with live IRCTC/NTES GPS data via the existing RapidAPI integration. Real-time position updates every 30 seconds from actual train tracking systems.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9509760" y="1645920"/>
            <a:ext cx="7863840" cy="3383280"/>
            <a:chOff x="0" y="0"/>
            <a:chExt cx="10485120" cy="451104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0485120" cy="4511040"/>
            </a:xfrm>
            <a:custGeom>
              <a:avLst/>
              <a:gdLst/>
              <a:ahLst/>
              <a:cxnLst/>
              <a:rect r="r" b="b" t="t" l="l"/>
              <a:pathLst>
                <a:path h="4511040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4511040"/>
                  </a:lnTo>
                  <a:lnTo>
                    <a:pt x="0" y="451104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9509760" y="1645920"/>
            <a:ext cx="7863840" cy="91440"/>
            <a:chOff x="0" y="0"/>
            <a:chExt cx="10485120" cy="12192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0485120" cy="121920"/>
            </a:xfrm>
            <a:custGeom>
              <a:avLst/>
              <a:gdLst/>
              <a:ahLst/>
              <a:cxnLst/>
              <a:rect r="r" b="b" t="t" l="l"/>
              <a:pathLst>
                <a:path h="121920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121920"/>
                  </a:lnTo>
                  <a:lnTo>
                    <a:pt x="0" y="121920"/>
                  </a:lnTo>
                  <a:close/>
                </a:path>
              </a:pathLst>
            </a:custGeom>
            <a:solidFill>
              <a:srgbClr val="22C55E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9875520" y="2011680"/>
            <a:ext cx="7132320" cy="548640"/>
            <a:chOff x="0" y="0"/>
            <a:chExt cx="9509760" cy="73152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9509760" cy="731520"/>
            </a:xfrm>
            <a:custGeom>
              <a:avLst/>
              <a:gdLst/>
              <a:ahLst/>
              <a:cxnLst/>
              <a:rect r="r" b="b" t="t" l="l"/>
              <a:pathLst>
                <a:path h="731520" w="9509760">
                  <a:moveTo>
                    <a:pt x="0" y="0"/>
                  </a:moveTo>
                  <a:lnTo>
                    <a:pt x="9509760" y="0"/>
                  </a:lnTo>
                  <a:lnTo>
                    <a:pt x="95097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3305" r="0" b="-203305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19050"/>
              <a:ext cx="9509760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0F1B2D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ML-Based Delay Prediction v2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9875520" y="2651760"/>
            <a:ext cx="7132320" cy="2103120"/>
            <a:chOff x="0" y="0"/>
            <a:chExt cx="9509760" cy="280416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9509760" cy="2804160"/>
            </a:xfrm>
            <a:custGeom>
              <a:avLst/>
              <a:gdLst/>
              <a:ahLst/>
              <a:cxnLst/>
              <a:rect r="r" b="b" t="t" l="l"/>
              <a:pathLst>
                <a:path h="2804160" w="9509760">
                  <a:moveTo>
                    <a:pt x="0" y="0"/>
                  </a:moveTo>
                  <a:lnTo>
                    <a:pt x="9509760" y="0"/>
                  </a:lnTo>
                  <a:lnTo>
                    <a:pt x="9509760" y="2804160"/>
                  </a:lnTo>
                  <a:lnTo>
                    <a:pt x="0" y="2804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079" r="0" b="-16079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38100"/>
              <a:ext cx="9509760" cy="28422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33415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Train a more sophisticated model (Gradient Boosting, LSTM) on the full Kaggle delay dataset (100K+ records). Factor in real-time weather, day of week, festival seasons, and maintenance schedules.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914400" y="5486400"/>
            <a:ext cx="7863840" cy="3383280"/>
            <a:chOff x="0" y="0"/>
            <a:chExt cx="10485120" cy="451104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0485120" cy="4511040"/>
            </a:xfrm>
            <a:custGeom>
              <a:avLst/>
              <a:gdLst/>
              <a:ahLst/>
              <a:cxnLst/>
              <a:rect r="r" b="b" t="t" l="l"/>
              <a:pathLst>
                <a:path h="4511040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4511040"/>
                  </a:lnTo>
                  <a:lnTo>
                    <a:pt x="0" y="451104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914400" y="5486400"/>
            <a:ext cx="7863840" cy="91440"/>
            <a:chOff x="0" y="0"/>
            <a:chExt cx="10485120" cy="12192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0485120" cy="121920"/>
            </a:xfrm>
            <a:custGeom>
              <a:avLst/>
              <a:gdLst/>
              <a:ahLst/>
              <a:cxnLst/>
              <a:rect r="r" b="b" t="t" l="l"/>
              <a:pathLst>
                <a:path h="121920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121920"/>
                  </a:lnTo>
                  <a:lnTo>
                    <a:pt x="0" y="121920"/>
                  </a:lnTo>
                  <a:close/>
                </a:path>
              </a:pathLst>
            </a:custGeom>
            <a:solidFill>
              <a:srgbClr val="F59E0B"/>
            </a:solid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1280160" y="5852160"/>
            <a:ext cx="7132320" cy="548640"/>
            <a:chOff x="0" y="0"/>
            <a:chExt cx="9509760" cy="73152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9509760" cy="731520"/>
            </a:xfrm>
            <a:custGeom>
              <a:avLst/>
              <a:gdLst/>
              <a:ahLst/>
              <a:cxnLst/>
              <a:rect r="r" b="b" t="t" l="l"/>
              <a:pathLst>
                <a:path h="731520" w="9509760">
                  <a:moveTo>
                    <a:pt x="0" y="0"/>
                  </a:moveTo>
                  <a:lnTo>
                    <a:pt x="9509760" y="0"/>
                  </a:lnTo>
                  <a:lnTo>
                    <a:pt x="95097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3305" r="0" b="-203305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19050"/>
              <a:ext cx="9509760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0F1B2D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Hardware Sensor Tie-Ins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1280160" y="6492240"/>
            <a:ext cx="7132320" cy="2103120"/>
            <a:chOff x="0" y="0"/>
            <a:chExt cx="9509760" cy="280416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9509760" cy="2804160"/>
            </a:xfrm>
            <a:custGeom>
              <a:avLst/>
              <a:gdLst/>
              <a:ahLst/>
              <a:cxnLst/>
              <a:rect r="r" b="b" t="t" l="l"/>
              <a:pathLst>
                <a:path h="2804160" w="9509760">
                  <a:moveTo>
                    <a:pt x="0" y="0"/>
                  </a:moveTo>
                  <a:lnTo>
                    <a:pt x="9509760" y="0"/>
                  </a:lnTo>
                  <a:lnTo>
                    <a:pt x="9509760" y="2804160"/>
                  </a:lnTo>
                  <a:lnTo>
                    <a:pt x="0" y="2804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079" r="0" b="-16079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38100"/>
              <a:ext cx="9509760" cy="28422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33415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IoT integration with Indian Railways' track monitoring sensors (temperature, vibration, axle counters). Real-time infrastructure health alerts alongside operational dashboards.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9509760" y="5486400"/>
            <a:ext cx="7863840" cy="3383280"/>
            <a:chOff x="0" y="0"/>
            <a:chExt cx="10485120" cy="451104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10485120" cy="4511040"/>
            </a:xfrm>
            <a:custGeom>
              <a:avLst/>
              <a:gdLst/>
              <a:ahLst/>
              <a:cxnLst/>
              <a:rect r="r" b="b" t="t" l="l"/>
              <a:pathLst>
                <a:path h="4511040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4511040"/>
                  </a:lnTo>
                  <a:lnTo>
                    <a:pt x="0" y="451104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9509760" y="5486400"/>
            <a:ext cx="7863840" cy="91440"/>
            <a:chOff x="0" y="0"/>
            <a:chExt cx="10485120" cy="12192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10485120" cy="121920"/>
            </a:xfrm>
            <a:custGeom>
              <a:avLst/>
              <a:gdLst/>
              <a:ahLst/>
              <a:cxnLst/>
              <a:rect r="r" b="b" t="t" l="l"/>
              <a:pathLst>
                <a:path h="121920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121920"/>
                  </a:lnTo>
                  <a:lnTo>
                    <a:pt x="0" y="121920"/>
                  </a:lnTo>
                  <a:close/>
                </a:path>
              </a:pathLst>
            </a:custGeom>
            <a:solidFill>
              <a:srgbClr val="A855F7"/>
            </a:solidFill>
          </p:spPr>
        </p:sp>
      </p:grpSp>
      <p:grpSp>
        <p:nvGrpSpPr>
          <p:cNvPr name="Group 43" id="43"/>
          <p:cNvGrpSpPr/>
          <p:nvPr/>
        </p:nvGrpSpPr>
        <p:grpSpPr>
          <a:xfrm rot="0">
            <a:off x="9875520" y="5852160"/>
            <a:ext cx="7132320" cy="548640"/>
            <a:chOff x="0" y="0"/>
            <a:chExt cx="9509760" cy="73152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9509760" cy="731520"/>
            </a:xfrm>
            <a:custGeom>
              <a:avLst/>
              <a:gdLst/>
              <a:ahLst/>
              <a:cxnLst/>
              <a:rect r="r" b="b" t="t" l="l"/>
              <a:pathLst>
                <a:path h="731520" w="9509760">
                  <a:moveTo>
                    <a:pt x="0" y="0"/>
                  </a:moveTo>
                  <a:lnTo>
                    <a:pt x="9509760" y="0"/>
                  </a:lnTo>
                  <a:lnTo>
                    <a:pt x="95097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3305" r="0" b="-203305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19050"/>
              <a:ext cx="9509760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0F1B2D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Multi-Corridor Expansion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9875520" y="6492240"/>
            <a:ext cx="7132320" cy="2103120"/>
            <a:chOff x="0" y="0"/>
            <a:chExt cx="9509760" cy="280416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9509760" cy="2804160"/>
            </a:xfrm>
            <a:custGeom>
              <a:avLst/>
              <a:gdLst/>
              <a:ahLst/>
              <a:cxnLst/>
              <a:rect r="r" b="b" t="t" l="l"/>
              <a:pathLst>
                <a:path h="2804160" w="9509760">
                  <a:moveTo>
                    <a:pt x="0" y="0"/>
                  </a:moveTo>
                  <a:lnTo>
                    <a:pt x="9509760" y="0"/>
                  </a:lnTo>
                  <a:lnTo>
                    <a:pt x="9509760" y="2804160"/>
                  </a:lnTo>
                  <a:lnTo>
                    <a:pt x="0" y="2804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079" r="0" b="-16079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38100"/>
              <a:ext cx="9509760" cy="28422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33415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Extend from 7 trains/36 stations to the full IR network (13K+ trains, 7K+ stations). Regional control centre views with drill-down to station and train level.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914400" y="9601200"/>
            <a:ext cx="16459200" cy="548640"/>
            <a:chOff x="0" y="0"/>
            <a:chExt cx="21945600" cy="73152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21945600" cy="731520"/>
            </a:xfrm>
            <a:custGeom>
              <a:avLst/>
              <a:gdLst/>
              <a:ahLst/>
              <a:cxnLst/>
              <a:rect r="r" b="b" t="t" l="l"/>
              <a:pathLst>
                <a:path h="73152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34551" r="0" b="-534551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28575"/>
              <a:ext cx="21945600" cy="7600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"/>
                </a:lnSpc>
              </a:pPr>
              <a:r>
                <a:rPr lang="en-US" sz="16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RailTwin AI · FAR AWAY 2026</a:t>
              </a: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15544800" y="9601200"/>
            <a:ext cx="2194560" cy="548640"/>
            <a:chOff x="0" y="0"/>
            <a:chExt cx="2926080" cy="73152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2926080" cy="731520"/>
            </a:xfrm>
            <a:custGeom>
              <a:avLst/>
              <a:gdLst/>
              <a:ahLst/>
              <a:cxnLst/>
              <a:rect r="r" b="b" t="t" l="l"/>
              <a:pathLst>
                <a:path h="731520" w="2926080">
                  <a:moveTo>
                    <a:pt x="0" y="0"/>
                  </a:moveTo>
                  <a:lnTo>
                    <a:pt x="2926080" y="0"/>
                  </a:lnTo>
                  <a:lnTo>
                    <a:pt x="29260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940" r="0" b="-27940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28575"/>
              <a:ext cx="2926080" cy="7600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920"/>
                </a:lnSpc>
              </a:pPr>
              <a:r>
                <a:rPr lang="en-US" sz="16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14 / 15</a:t>
              </a:r>
            </a:p>
          </p:txBody>
        </p:sp>
      </p:grpSp>
      <p:sp>
        <p:nvSpPr>
          <p:cNvPr name="Freeform 55" id="55"/>
          <p:cNvSpPr/>
          <p:nvPr/>
        </p:nvSpPr>
        <p:spPr>
          <a:xfrm flipH="false" flipV="false" rot="0">
            <a:off x="16806672" y="73152"/>
            <a:ext cx="1481328" cy="1481328"/>
          </a:xfrm>
          <a:custGeom>
            <a:avLst/>
            <a:gdLst/>
            <a:ahLst/>
            <a:cxnLst/>
            <a:rect r="r" b="b" t="t" l="l"/>
            <a:pathLst>
              <a:path h="1481328" w="1481328">
                <a:moveTo>
                  <a:pt x="0" y="0"/>
                </a:moveTo>
                <a:lnTo>
                  <a:pt x="1481328" y="0"/>
                </a:lnTo>
                <a:lnTo>
                  <a:pt x="1481328" y="1481328"/>
                </a:lnTo>
                <a:lnTo>
                  <a:pt x="0" y="148132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4630400" y="-1828800"/>
            <a:ext cx="6400800" cy="6400800"/>
            <a:chOff x="0" y="0"/>
            <a:chExt cx="8534400" cy="85344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534400" cy="8534400"/>
            </a:xfrm>
            <a:custGeom>
              <a:avLst/>
              <a:gdLst/>
              <a:ahLst/>
              <a:cxnLst/>
              <a:rect r="r" b="b" t="t" l="l"/>
              <a:pathLst>
                <a:path h="8534400" w="8534400">
                  <a:moveTo>
                    <a:pt x="0" y="4267200"/>
                  </a:moveTo>
                  <a:cubicBezTo>
                    <a:pt x="0" y="1910461"/>
                    <a:pt x="1910461" y="0"/>
                    <a:pt x="4267200" y="0"/>
                  </a:cubicBezTo>
                  <a:cubicBezTo>
                    <a:pt x="6623939" y="0"/>
                    <a:pt x="8534400" y="1910461"/>
                    <a:pt x="8534400" y="4267200"/>
                  </a:cubicBezTo>
                  <a:cubicBezTo>
                    <a:pt x="8534400" y="6623939"/>
                    <a:pt x="6623939" y="8534400"/>
                    <a:pt x="4267200" y="8534400"/>
                  </a:cubicBezTo>
                  <a:cubicBezTo>
                    <a:pt x="1910461" y="8534400"/>
                    <a:pt x="0" y="6623939"/>
                    <a:pt x="0" y="4267200"/>
                  </a:cubicBezTo>
                  <a:close/>
                </a:path>
              </a:pathLst>
            </a:custGeom>
            <a:solidFill>
              <a:srgbClr val="2563EB">
                <a:alpha val="1961"/>
              </a:srgbClr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-1828800" y="5486400"/>
            <a:ext cx="5486400" cy="5486400"/>
            <a:chOff x="0" y="0"/>
            <a:chExt cx="7315200" cy="73152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315200" cy="7315200"/>
            </a:xfrm>
            <a:custGeom>
              <a:avLst/>
              <a:gdLst/>
              <a:ahLst/>
              <a:cxnLst/>
              <a:rect r="r" b="b" t="t" l="l"/>
              <a:pathLst>
                <a:path h="7315200" w="7315200">
                  <a:moveTo>
                    <a:pt x="0" y="3657600"/>
                  </a:moveTo>
                  <a:cubicBezTo>
                    <a:pt x="0" y="1637538"/>
                    <a:pt x="1637538" y="0"/>
                    <a:pt x="3657600" y="0"/>
                  </a:cubicBezTo>
                  <a:cubicBezTo>
                    <a:pt x="5677662" y="0"/>
                    <a:pt x="7315200" y="1637538"/>
                    <a:pt x="7315200" y="3657600"/>
                  </a:cubicBezTo>
                  <a:cubicBezTo>
                    <a:pt x="7315200" y="5677662"/>
                    <a:pt x="5677662" y="7315200"/>
                    <a:pt x="3657600" y="7315200"/>
                  </a:cubicBezTo>
                  <a:cubicBezTo>
                    <a:pt x="1637538" y="7315200"/>
                    <a:pt x="0" y="5677662"/>
                    <a:pt x="0" y="3657600"/>
                  </a:cubicBezTo>
                  <a:close/>
                </a:path>
              </a:pathLst>
            </a:custGeom>
            <a:solidFill>
              <a:srgbClr val="06B6D4">
                <a:alpha val="1176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463040" y="1463040"/>
            <a:ext cx="15544800" cy="1280160"/>
            <a:chOff x="0" y="0"/>
            <a:chExt cx="20726400" cy="170688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0726400" cy="1706880"/>
            </a:xfrm>
            <a:custGeom>
              <a:avLst/>
              <a:gdLst/>
              <a:ahLst/>
              <a:cxnLst/>
              <a:rect r="r" b="b" t="t" l="l"/>
              <a:pathLst>
                <a:path h="1706880" w="20726400">
                  <a:moveTo>
                    <a:pt x="0" y="0"/>
                  </a:moveTo>
                  <a:lnTo>
                    <a:pt x="20726400" y="0"/>
                  </a:lnTo>
                  <a:lnTo>
                    <a:pt x="2072640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6604" r="0" b="-186604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9525"/>
              <a:ext cx="20726400" cy="17164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8640"/>
                </a:lnSpc>
              </a:pPr>
              <a:r>
                <a:rPr lang="en-US" sz="7200" b="true">
                  <a:solidFill>
                    <a:srgbClr val="FFFFFF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RailTwin AI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463040" y="2743200"/>
            <a:ext cx="15544800" cy="731520"/>
            <a:chOff x="0" y="0"/>
            <a:chExt cx="20726400" cy="97536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0726400" cy="975360"/>
            </a:xfrm>
            <a:custGeom>
              <a:avLst/>
              <a:gdLst/>
              <a:ahLst/>
              <a:cxnLst/>
              <a:rect r="r" b="b" t="t" l="l"/>
              <a:pathLst>
                <a:path h="975360" w="20726400">
                  <a:moveTo>
                    <a:pt x="0" y="0"/>
                  </a:moveTo>
                  <a:lnTo>
                    <a:pt x="20726400" y="0"/>
                  </a:lnTo>
                  <a:lnTo>
                    <a:pt x="2072640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64057" r="0" b="-364057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57150"/>
              <a:ext cx="20726400" cy="10325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840"/>
                </a:lnSpc>
              </a:pPr>
              <a:r>
                <a:rPr lang="en-US" sz="3200">
                  <a:solidFill>
                    <a:srgbClr val="3B82F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Predictive Digital Twin for Indian Railways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443990" y="3821430"/>
            <a:ext cx="5524500" cy="38100"/>
            <a:chOff x="0" y="0"/>
            <a:chExt cx="7366000" cy="50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7366000" cy="50800"/>
            </a:xfrm>
            <a:custGeom>
              <a:avLst/>
              <a:gdLst/>
              <a:ahLst/>
              <a:cxnLst/>
              <a:rect r="r" b="b" t="t" l="l"/>
              <a:pathLst>
                <a:path h="50800" w="7366000">
                  <a:moveTo>
                    <a:pt x="0" y="0"/>
                  </a:moveTo>
                  <a:lnTo>
                    <a:pt x="7366000" y="50800"/>
                  </a:lnTo>
                </a:path>
              </a:pathLst>
            </a:custGeom>
            <a:blipFill>
              <a:blip r:embed="rId3">
                <a:alphaModFix amt="0"/>
              </a:blip>
              <a:stretch>
                <a:fillRect l="0" t="-2775330" r="0" b="-2775330"/>
              </a:stretch>
            </a:blipFill>
            <a:ln w="38100" cap="sq">
              <a:solidFill>
                <a:srgbClr val="2563EB"/>
              </a:solidFill>
              <a:prstDash val="solid"/>
              <a:miter/>
            </a:ln>
          </p:spPr>
        </p:sp>
      </p:grpSp>
      <p:grpSp>
        <p:nvGrpSpPr>
          <p:cNvPr name="Group 14" id="14"/>
          <p:cNvGrpSpPr/>
          <p:nvPr/>
        </p:nvGrpSpPr>
        <p:grpSpPr>
          <a:xfrm rot="0">
            <a:off x="1463040" y="3501390"/>
            <a:ext cx="5486400" cy="640080"/>
            <a:chOff x="0" y="0"/>
            <a:chExt cx="7315200" cy="85344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7315200" cy="853440"/>
            </a:xfrm>
            <a:custGeom>
              <a:avLst/>
              <a:gdLst/>
              <a:ahLst/>
              <a:cxnLst/>
              <a:rect r="r" b="b" t="t" l="l"/>
              <a:pathLst>
                <a:path h="85344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7014" r="0" b="-117014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19050"/>
              <a:ext cx="7315200" cy="8724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FFFFFF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Team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463040" y="4010152"/>
            <a:ext cx="15544800" cy="2108708"/>
            <a:chOff x="0" y="0"/>
            <a:chExt cx="20726400" cy="2811611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0726400" cy="2811611"/>
            </a:xfrm>
            <a:custGeom>
              <a:avLst/>
              <a:gdLst/>
              <a:ahLst/>
              <a:cxnLst/>
              <a:rect r="r" b="b" t="t" l="l"/>
              <a:pathLst>
                <a:path h="2811611" w="20726400">
                  <a:moveTo>
                    <a:pt x="0" y="0"/>
                  </a:moveTo>
                  <a:lnTo>
                    <a:pt x="20726400" y="0"/>
                  </a:lnTo>
                  <a:lnTo>
                    <a:pt x="20726400" y="2811611"/>
                  </a:lnTo>
                  <a:lnTo>
                    <a:pt x="0" y="281161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1956" r="0" b="-65319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47625"/>
              <a:ext cx="20726400" cy="28592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9"/>
                </a:lnSpc>
              </a:pPr>
              <a:r>
                <a:rPr lang="en-US" sz="2199">
                  <a:solidFill>
                    <a:srgbClr val="CBD5E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Harsh Singh(Leader)</a:t>
              </a:r>
            </a:p>
            <a:p>
              <a:pPr algn="l">
                <a:lnSpc>
                  <a:spcPts val="2639"/>
                </a:lnSpc>
              </a:pPr>
              <a:r>
                <a:rPr lang="en-US" sz="2199">
                  <a:solidFill>
                    <a:srgbClr val="CBD5E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Himanshu (Lead Developer)</a:t>
              </a:r>
            </a:p>
            <a:p>
              <a:pPr algn="l">
                <a:lnSpc>
                  <a:spcPts val="2639"/>
                </a:lnSpc>
              </a:pPr>
              <a:r>
                <a:rPr lang="en-US" sz="2199">
                  <a:solidFill>
                    <a:srgbClr val="CBD5E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Adbhut Patel(Developer)</a:t>
              </a:r>
            </a:p>
            <a:p>
              <a:pPr algn="l">
                <a:lnSpc>
                  <a:spcPts val="2639"/>
                </a:lnSpc>
              </a:pPr>
              <a:r>
                <a:rPr lang="en-US" sz="2199">
                  <a:solidFill>
                    <a:srgbClr val="CBD5E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Manaswi Mehta</a:t>
              </a:r>
            </a:p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CBD5E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Shrikant Chaurasiya</a:t>
              </a:r>
            </a:p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CBD5E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Built for FAR AWAY 2026 — Railways Theme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463040" y="6271260"/>
            <a:ext cx="5486400" cy="640080"/>
            <a:chOff x="0" y="0"/>
            <a:chExt cx="7315200" cy="85344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7315200" cy="853440"/>
            </a:xfrm>
            <a:custGeom>
              <a:avLst/>
              <a:gdLst/>
              <a:ahLst/>
              <a:cxnLst/>
              <a:rect r="r" b="b" t="t" l="l"/>
              <a:pathLst>
                <a:path h="85344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7014" r="0" b="-117014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19050"/>
              <a:ext cx="7315200" cy="8724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FFFFFF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Links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463040" y="6766560"/>
            <a:ext cx="15544800" cy="1463040"/>
            <a:chOff x="0" y="0"/>
            <a:chExt cx="20726400" cy="195072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20726400" cy="1950720"/>
            </a:xfrm>
            <a:custGeom>
              <a:avLst/>
              <a:gdLst/>
              <a:ahLst/>
              <a:cxnLst/>
              <a:rect r="r" b="b" t="t" l="l"/>
              <a:pathLst>
                <a:path h="1950720" w="20726400">
                  <a:moveTo>
                    <a:pt x="0" y="0"/>
                  </a:moveTo>
                  <a:lnTo>
                    <a:pt x="20726400" y="0"/>
                  </a:lnTo>
                  <a:lnTo>
                    <a:pt x="20726400" y="1950720"/>
                  </a:lnTo>
                  <a:lnTo>
                    <a:pt x="0" y="1950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7028" r="0" b="-157028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47625"/>
              <a:ext cx="20726400" cy="19983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3B82F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GitHub: github.com/himanshu003388/RailTwin</a:t>
              </a:r>
            </a:p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3B82F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Live Demo: rail-twin.vercel.app</a:t>
              </a:r>
            </a:p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Stack: Astro v6 · React 19 · MapLibre GL · Gemini AI · Tailwind v4 · Zustand · Recharts · SQLite · Vercel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463040" y="8595360"/>
            <a:ext cx="15544800" cy="548640"/>
            <a:chOff x="0" y="0"/>
            <a:chExt cx="20726400" cy="73152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20726400" cy="731520"/>
            </a:xfrm>
            <a:custGeom>
              <a:avLst/>
              <a:gdLst/>
              <a:ahLst/>
              <a:cxnLst/>
              <a:rect r="r" b="b" t="t" l="l"/>
              <a:pathLst>
                <a:path h="731520" w="20726400">
                  <a:moveTo>
                    <a:pt x="0" y="0"/>
                  </a:moveTo>
                  <a:lnTo>
                    <a:pt x="20726400" y="0"/>
                  </a:lnTo>
                  <a:lnTo>
                    <a:pt x="207264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02076" r="0" b="-502076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38100"/>
              <a:ext cx="2072640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Data: Kaggle Indian Railways Dataset · IRCTC/NTES · OpenWeatherMap · Open-Meteo · Google Gemini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456687" y="9320527"/>
            <a:ext cx="15557497" cy="12697"/>
            <a:chOff x="0" y="0"/>
            <a:chExt cx="20743329" cy="16929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20743290" cy="16891"/>
            </a:xfrm>
            <a:custGeom>
              <a:avLst/>
              <a:gdLst/>
              <a:ahLst/>
              <a:cxnLst/>
              <a:rect r="r" b="b" t="t" l="l"/>
              <a:pathLst>
                <a:path h="16891" w="20743290">
                  <a:moveTo>
                    <a:pt x="0" y="0"/>
                  </a:moveTo>
                  <a:lnTo>
                    <a:pt x="20743290" y="16891"/>
                  </a:lnTo>
                </a:path>
              </a:pathLst>
            </a:custGeom>
            <a:blipFill>
              <a:blip r:embed="rId3">
                <a:alphaModFix amt="0"/>
              </a:blip>
              <a:stretch>
                <a:fillRect l="0" t="-23878875" r="0" b="-23879101"/>
              </a:stretch>
            </a:blipFill>
            <a:ln w="12700" cap="sq">
              <a:solidFill>
                <a:srgbClr val="1A2A4A"/>
              </a:solidFill>
              <a:prstDash val="solid"/>
              <a:miter/>
            </a:ln>
          </p:spPr>
        </p:sp>
      </p:grpSp>
      <p:grpSp>
        <p:nvGrpSpPr>
          <p:cNvPr name="Group 31" id="31"/>
          <p:cNvGrpSpPr/>
          <p:nvPr/>
        </p:nvGrpSpPr>
        <p:grpSpPr>
          <a:xfrm rot="0">
            <a:off x="1463040" y="9418320"/>
            <a:ext cx="15544800" cy="548640"/>
            <a:chOff x="0" y="0"/>
            <a:chExt cx="20726400" cy="73152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20726400" cy="731520"/>
            </a:xfrm>
            <a:custGeom>
              <a:avLst/>
              <a:gdLst/>
              <a:ahLst/>
              <a:cxnLst/>
              <a:rect r="r" b="b" t="t" l="l"/>
              <a:pathLst>
                <a:path h="731520" w="20726400">
                  <a:moveTo>
                    <a:pt x="0" y="0"/>
                  </a:moveTo>
                  <a:lnTo>
                    <a:pt x="20726400" y="0"/>
                  </a:lnTo>
                  <a:lnTo>
                    <a:pt x="207264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02076" r="0" b="-502076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38100"/>
              <a:ext cx="2072640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FAR AWAY 2026 · Making Railways Safer, Smarter &amp; More Efficient</a:t>
              </a:r>
            </a:p>
          </p:txBody>
        </p:sp>
      </p:grpSp>
      <p:sp>
        <p:nvSpPr>
          <p:cNvPr name="Freeform 34" id="34"/>
          <p:cNvSpPr/>
          <p:nvPr/>
        </p:nvSpPr>
        <p:spPr>
          <a:xfrm flipH="false" flipV="false" rot="0">
            <a:off x="15370978" y="0"/>
            <a:ext cx="2917022" cy="2917022"/>
          </a:xfrm>
          <a:custGeom>
            <a:avLst/>
            <a:gdLst/>
            <a:ahLst/>
            <a:cxnLst/>
            <a:rect r="r" b="b" t="t" l="l"/>
            <a:pathLst>
              <a:path h="2917022" w="2917022">
                <a:moveTo>
                  <a:pt x="0" y="0"/>
                </a:moveTo>
                <a:lnTo>
                  <a:pt x="2917022" y="0"/>
                </a:lnTo>
                <a:lnTo>
                  <a:pt x="2917022" y="2917022"/>
                </a:lnTo>
                <a:lnTo>
                  <a:pt x="0" y="291702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DAHMkuNmcJw</dc:identifier>
  <dcterms:modified xsi:type="dcterms:W3CDTF">2011-08-01T06:04:30Z</dcterms:modified>
  <cp:revision>1</cp:revision>
  <dc:title>RailTwin_Presentation.pptx</dc:title>
</cp:coreProperties>
</file>